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6858000" cx="9144000"/>
  <p:notesSz cx="6858000" cy="9144000"/>
  <p:embeddedFontLst>
    <p:embeddedFont>
      <p:font typeface="Arial Black"/>
      <p:regular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9" roundtripDataSignature="AMtx7miM/yH493x5yXXfvjWYytL+QzW0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customschemas.google.com/relationships/presentationmetadata" Target="metadata"/><Relationship Id="rId14" Type="http://schemas.openxmlformats.org/officeDocument/2006/relationships/slide" Target="slides/slide9.xml"/><Relationship Id="rId58" Type="http://schemas.openxmlformats.org/officeDocument/2006/relationships/font" Target="fonts/ArialBlack-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06" name="Google Shape;106;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Information Technology (IT): </a:t>
            </a:r>
            <a:r>
              <a:rPr b="0" lang="en-US"/>
              <a:t>any computer-based tool that people use to work with information and to support the information and information-processing needs of an organization.</a:t>
            </a:r>
            <a:endParaRPr b="0"/>
          </a:p>
          <a:p>
            <a:pPr indent="0" lvl="0" marL="0" rtl="0" algn="l">
              <a:spcBef>
                <a:spcPts val="0"/>
              </a:spcBef>
              <a:spcAft>
                <a:spcPts val="0"/>
              </a:spcAft>
              <a:buNone/>
            </a:pPr>
            <a:r>
              <a:rPr b="1" lang="en-US"/>
              <a:t>Information System (IS): </a:t>
            </a:r>
            <a:r>
              <a:rPr b="0" lang="en-US"/>
              <a:t>collects, processes, stores, analyzes, and disseminates information for a specific purpose.</a:t>
            </a:r>
            <a:endParaRPr b="0"/>
          </a:p>
          <a:p>
            <a:pPr indent="0" lvl="0" marL="0" rtl="0" algn="l">
              <a:spcBef>
                <a:spcPts val="0"/>
              </a:spcBef>
              <a:spcAft>
                <a:spcPts val="0"/>
              </a:spcAft>
              <a:buNone/>
            </a:pPr>
            <a:r>
              <a:rPr b="1" lang="en-US"/>
              <a:t>Informed User: </a:t>
            </a:r>
            <a:r>
              <a:rPr lang="en-US"/>
              <a:t>A person knowledgeable about information systems and information technology</a:t>
            </a:r>
            <a:endParaRPr/>
          </a:p>
        </p:txBody>
      </p:sp>
      <p:sp>
        <p:nvSpPr>
          <p:cNvPr id="132" name="Google Shape;132;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CIO: The executive who is in charge of the IS function</a:t>
            </a:r>
            <a:endParaRPr/>
          </a:p>
        </p:txBody>
      </p:sp>
      <p:sp>
        <p:nvSpPr>
          <p:cNvPr id="166" name="Google Shape;166;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u="sng"/>
              <a:t>Evolution of the IS Function….</a:t>
            </a:r>
            <a:endParaRPr b="1" u="sng"/>
          </a:p>
          <a:p>
            <a:pPr indent="0" lvl="0" marL="0" rtl="0" algn="l">
              <a:spcBef>
                <a:spcPts val="0"/>
              </a:spcBef>
              <a:spcAft>
                <a:spcPts val="0"/>
              </a:spcAft>
              <a:buNone/>
            </a:pPr>
            <a:r>
              <a:rPr b="1" lang="en-US"/>
              <a:t>Traditional Functions of the MIS Department:</a:t>
            </a:r>
            <a:endParaRPr b="1"/>
          </a:p>
          <a:p>
            <a:pPr indent="0" lvl="0" marL="0" rtl="0" algn="l">
              <a:spcBef>
                <a:spcPts val="0"/>
              </a:spcBef>
              <a:spcAft>
                <a:spcPts val="0"/>
              </a:spcAft>
              <a:buNone/>
            </a:pPr>
            <a:r>
              <a:rPr lang="en-US"/>
              <a:t>• Managing systems development and systems project management</a:t>
            </a:r>
            <a:endParaRPr/>
          </a:p>
          <a:p>
            <a:pPr indent="0" lvl="0" marL="0" rtl="0" algn="l">
              <a:spcBef>
                <a:spcPts val="0"/>
              </a:spcBef>
              <a:spcAft>
                <a:spcPts val="0"/>
              </a:spcAft>
              <a:buNone/>
            </a:pPr>
            <a:r>
              <a:rPr lang="en-US"/>
              <a:t>• Managing computer operations, including the computer center</a:t>
            </a:r>
            <a:endParaRPr/>
          </a:p>
          <a:p>
            <a:pPr indent="0" lvl="0" marL="0" rtl="0" algn="l">
              <a:spcBef>
                <a:spcPts val="0"/>
              </a:spcBef>
              <a:spcAft>
                <a:spcPts val="0"/>
              </a:spcAft>
              <a:buNone/>
            </a:pPr>
            <a:r>
              <a:rPr lang="en-US"/>
              <a:t>• Staffing, training, and developing IS skills</a:t>
            </a:r>
            <a:endParaRPr/>
          </a:p>
          <a:p>
            <a:pPr indent="0" lvl="0" marL="0" rtl="0" algn="l">
              <a:spcBef>
                <a:spcPts val="0"/>
              </a:spcBef>
              <a:spcAft>
                <a:spcPts val="0"/>
              </a:spcAft>
              <a:buNone/>
            </a:pPr>
            <a:r>
              <a:rPr lang="en-US"/>
              <a:t>• Providing technical services</a:t>
            </a:r>
            <a:endParaRPr/>
          </a:p>
          <a:p>
            <a:pPr indent="0" lvl="0" marL="0" rtl="0" algn="l">
              <a:spcBef>
                <a:spcPts val="0"/>
              </a:spcBef>
              <a:spcAft>
                <a:spcPts val="0"/>
              </a:spcAft>
              <a:buNone/>
            </a:pPr>
            <a:r>
              <a:rPr lang="en-US"/>
              <a:t>• Infrastructure planning, development, and control</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New (Consultative) Functions of the MIS Department</a:t>
            </a:r>
            <a:endParaRPr b="1"/>
          </a:p>
          <a:p>
            <a:pPr indent="0" lvl="0" marL="0" rtl="0" algn="l">
              <a:spcBef>
                <a:spcPts val="0"/>
              </a:spcBef>
              <a:spcAft>
                <a:spcPts val="0"/>
              </a:spcAft>
              <a:buNone/>
            </a:pPr>
            <a:r>
              <a:rPr lang="en-US"/>
              <a:t>• Initiating and designing specific strategic information systems</a:t>
            </a:r>
            <a:endParaRPr/>
          </a:p>
          <a:p>
            <a:pPr indent="0" lvl="0" marL="0" rtl="0" algn="l">
              <a:spcBef>
                <a:spcPts val="0"/>
              </a:spcBef>
              <a:spcAft>
                <a:spcPts val="0"/>
              </a:spcAft>
              <a:buNone/>
            </a:pPr>
            <a:r>
              <a:rPr lang="en-US"/>
              <a:t>• Incorporating the Internet and electronic commerce into the business</a:t>
            </a:r>
            <a:endParaRPr/>
          </a:p>
          <a:p>
            <a:pPr indent="0" lvl="0" marL="0" rtl="0" algn="l">
              <a:spcBef>
                <a:spcPts val="0"/>
              </a:spcBef>
              <a:spcAft>
                <a:spcPts val="0"/>
              </a:spcAft>
              <a:buNone/>
            </a:pPr>
            <a:r>
              <a:rPr lang="en-US"/>
              <a:t>• Managing system integration including the Internet, intranets, and extranets</a:t>
            </a:r>
            <a:endParaRPr/>
          </a:p>
          <a:p>
            <a:pPr indent="0" lvl="0" marL="0" rtl="0" algn="l">
              <a:spcBef>
                <a:spcPts val="0"/>
              </a:spcBef>
              <a:spcAft>
                <a:spcPts val="0"/>
              </a:spcAft>
              <a:buNone/>
            </a:pPr>
            <a:r>
              <a:rPr lang="en-US"/>
              <a:t>• Educating the non-MIS managers about IT</a:t>
            </a:r>
            <a:endParaRPr/>
          </a:p>
          <a:p>
            <a:pPr indent="0" lvl="0" marL="0" rtl="0" algn="l">
              <a:spcBef>
                <a:spcPts val="0"/>
              </a:spcBef>
              <a:spcAft>
                <a:spcPts val="0"/>
              </a:spcAft>
              <a:buNone/>
            </a:pPr>
            <a:r>
              <a:rPr lang="en-US"/>
              <a:t>• Educating the MIS staff about the business</a:t>
            </a:r>
            <a:endParaRPr/>
          </a:p>
          <a:p>
            <a:pPr indent="0" lvl="0" marL="0" rtl="0" algn="l">
              <a:spcBef>
                <a:spcPts val="0"/>
              </a:spcBef>
              <a:spcAft>
                <a:spcPts val="0"/>
              </a:spcAft>
              <a:buNone/>
            </a:pPr>
            <a:r>
              <a:rPr lang="en-US"/>
              <a:t>• Partnering with business-unit executives</a:t>
            </a:r>
            <a:endParaRPr/>
          </a:p>
          <a:p>
            <a:pPr indent="0" lvl="0" marL="0" rtl="0" algn="l">
              <a:spcBef>
                <a:spcPts val="0"/>
              </a:spcBef>
              <a:spcAft>
                <a:spcPts val="0"/>
              </a:spcAft>
              <a:buNone/>
            </a:pPr>
            <a:r>
              <a:rPr lang="en-US"/>
              <a:t>• Managing outsourcing</a:t>
            </a:r>
            <a:endParaRPr/>
          </a:p>
          <a:p>
            <a:pPr indent="0" lvl="0" marL="0" rtl="0" algn="l">
              <a:spcBef>
                <a:spcPts val="0"/>
              </a:spcBef>
              <a:spcAft>
                <a:spcPts val="0"/>
              </a:spcAft>
              <a:buNone/>
            </a:pPr>
            <a:r>
              <a:rPr lang="en-US"/>
              <a:t>• Proactively using business and technical knowledge to seed innovative ideas about IT</a:t>
            </a:r>
            <a:endParaRPr/>
          </a:p>
          <a:p>
            <a:pPr indent="0" lvl="0" marL="0" rtl="0" algn="l">
              <a:spcBef>
                <a:spcPts val="0"/>
              </a:spcBef>
              <a:spcAft>
                <a:spcPts val="0"/>
              </a:spcAft>
              <a:buNone/>
            </a:pPr>
            <a:r>
              <a:rPr lang="en-US"/>
              <a:t>• Creating business alliances with business partners</a:t>
            </a:r>
            <a:endParaRPr/>
          </a:p>
        </p:txBody>
      </p:sp>
      <p:sp>
        <p:nvSpPr>
          <p:cNvPr id="184" name="Google Shape;184;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Computer-Based Information Systems (CBIS): </a:t>
            </a:r>
            <a:r>
              <a:rPr lang="en-US"/>
              <a:t>an information system that uses computer technology to perform some or all of the its intended tasks.</a:t>
            </a:r>
            <a:endParaRPr/>
          </a:p>
        </p:txBody>
      </p:sp>
      <p:sp>
        <p:nvSpPr>
          <p:cNvPr id="227" name="Google Shape;227;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Data Items: </a:t>
            </a:r>
            <a:r>
              <a:rPr b="0" lang="en-US"/>
              <a:t>an elementary description of things, events, activities, and transactions that are recorded, classified, and stored but are not organized to convey any specific meaning.</a:t>
            </a:r>
            <a:endParaRPr b="0"/>
          </a:p>
          <a:p>
            <a:pPr indent="0" lvl="0" marL="0" marR="0" rtl="0" algn="l">
              <a:lnSpc>
                <a:spcPct val="100000"/>
              </a:lnSpc>
              <a:spcBef>
                <a:spcPts val="0"/>
              </a:spcBef>
              <a:spcAft>
                <a:spcPts val="0"/>
              </a:spcAft>
              <a:buClr>
                <a:schemeClr val="dk1"/>
              </a:buClr>
              <a:buSzPts val="1200"/>
              <a:buFont typeface="Calibri"/>
              <a:buNone/>
            </a:pPr>
            <a:r>
              <a:rPr b="1" lang="en-US"/>
              <a:t>Information: </a:t>
            </a:r>
            <a:r>
              <a:rPr b="0" lang="en-US"/>
              <a:t>refers to data that have been organized so that they have meaning and value to the recipient.</a:t>
            </a:r>
            <a:endParaRPr b="0"/>
          </a:p>
          <a:p>
            <a:pPr indent="0" lvl="0" marL="0" marR="0" rtl="0" algn="l">
              <a:lnSpc>
                <a:spcPct val="100000"/>
              </a:lnSpc>
              <a:spcBef>
                <a:spcPts val="0"/>
              </a:spcBef>
              <a:spcAft>
                <a:spcPts val="0"/>
              </a:spcAft>
              <a:buClr>
                <a:schemeClr val="dk1"/>
              </a:buClr>
              <a:buSzPts val="1200"/>
              <a:buFont typeface="Calibri"/>
              <a:buNone/>
            </a:pPr>
            <a:r>
              <a:rPr b="1" lang="en-US"/>
              <a:t>Knowledge: </a:t>
            </a:r>
            <a:r>
              <a:rPr b="0" lang="en-US"/>
              <a:t>consists of data and/or information that have been organized and processed to convey understanding, experience, accumulated learning, and expertise as they apply to a current business problem.</a:t>
            </a:r>
            <a:endParaRPr b="0"/>
          </a:p>
          <a:p>
            <a:pPr indent="0" lvl="0" marL="0" rtl="0" algn="l">
              <a:spcBef>
                <a:spcPts val="0"/>
              </a:spcBef>
              <a:spcAft>
                <a:spcPts val="0"/>
              </a:spcAft>
              <a:buNone/>
            </a:pPr>
            <a:r>
              <a:t/>
            </a:r>
            <a:endParaRPr/>
          </a:p>
        </p:txBody>
      </p:sp>
      <p:sp>
        <p:nvSpPr>
          <p:cNvPr id="276" name="Google Shape;276;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Hardware: </a:t>
            </a:r>
            <a:r>
              <a:rPr lang="en-US"/>
              <a:t>consists of devices such as the processor, monitor, keyboard, and printer.</a:t>
            </a:r>
            <a:endParaRPr/>
          </a:p>
          <a:p>
            <a:pPr indent="0" lvl="0" marL="0" rtl="0" algn="l">
              <a:spcBef>
                <a:spcPts val="0"/>
              </a:spcBef>
              <a:spcAft>
                <a:spcPts val="0"/>
              </a:spcAft>
              <a:buNone/>
            </a:pPr>
            <a:r>
              <a:rPr b="1" lang="en-US"/>
              <a:t>Software: </a:t>
            </a:r>
            <a:r>
              <a:rPr lang="en-US"/>
              <a:t>a program or collection of programs that enable the hardware to process data.</a:t>
            </a:r>
            <a:endParaRPr/>
          </a:p>
          <a:p>
            <a:pPr indent="0" lvl="0" marL="0" rtl="0" algn="l">
              <a:spcBef>
                <a:spcPts val="0"/>
              </a:spcBef>
              <a:spcAft>
                <a:spcPts val="0"/>
              </a:spcAft>
              <a:buNone/>
            </a:pPr>
            <a:r>
              <a:rPr b="1" lang="en-US"/>
              <a:t>Database: </a:t>
            </a:r>
            <a:r>
              <a:rPr lang="en-US"/>
              <a:t>a collection of related fi les or tables containing data.</a:t>
            </a:r>
            <a:endParaRPr/>
          </a:p>
          <a:p>
            <a:pPr indent="0" lvl="0" marL="0" rtl="0" algn="l">
              <a:spcBef>
                <a:spcPts val="0"/>
              </a:spcBef>
              <a:spcAft>
                <a:spcPts val="0"/>
              </a:spcAft>
              <a:buNone/>
            </a:pPr>
            <a:r>
              <a:rPr b="1" lang="en-US"/>
              <a:t>Network: </a:t>
            </a:r>
            <a:r>
              <a:rPr lang="en-US"/>
              <a:t>a connecting system (wireline or wireless) that permits different computers to share resources.</a:t>
            </a:r>
            <a:endParaRPr/>
          </a:p>
          <a:p>
            <a:pPr indent="0" lvl="0" marL="0" rtl="0" algn="l">
              <a:spcBef>
                <a:spcPts val="0"/>
              </a:spcBef>
              <a:spcAft>
                <a:spcPts val="0"/>
              </a:spcAft>
              <a:buNone/>
            </a:pPr>
            <a:r>
              <a:rPr b="1" lang="en-US"/>
              <a:t>Procedures: </a:t>
            </a:r>
            <a:r>
              <a:rPr lang="en-US"/>
              <a:t>are the instructions for combining the above components to process information and generate the desired output.</a:t>
            </a:r>
            <a:endParaRPr/>
          </a:p>
          <a:p>
            <a:pPr indent="0" lvl="0" marL="0" rtl="0" algn="l">
              <a:spcBef>
                <a:spcPts val="0"/>
              </a:spcBef>
              <a:spcAft>
                <a:spcPts val="0"/>
              </a:spcAft>
              <a:buNone/>
            </a:pPr>
            <a:r>
              <a:rPr b="1" lang="en-US"/>
              <a:t>People: </a:t>
            </a:r>
            <a:r>
              <a:rPr lang="en-US"/>
              <a:t>individuals who use the hardware and software, interface with it, or utilize its output.</a:t>
            </a:r>
            <a:endParaRPr/>
          </a:p>
        </p:txBody>
      </p:sp>
      <p:sp>
        <p:nvSpPr>
          <p:cNvPr id="285" name="Google Shape;285;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lang="en-US"/>
              <a:t>IT Components: </a:t>
            </a:r>
            <a:r>
              <a:rPr b="0" lang="en-US"/>
              <a:t>Hardware, Software, a database, a network, procedures, and people.</a:t>
            </a:r>
            <a:endParaRPr b="0"/>
          </a:p>
          <a:p>
            <a:pPr indent="0" lvl="0" marL="0" marR="0" rtl="0" algn="l">
              <a:lnSpc>
                <a:spcPct val="100000"/>
              </a:lnSpc>
              <a:spcBef>
                <a:spcPts val="0"/>
              </a:spcBef>
              <a:spcAft>
                <a:spcPts val="0"/>
              </a:spcAft>
              <a:buClr>
                <a:schemeClr val="dk1"/>
              </a:buClr>
              <a:buSzPts val="1200"/>
              <a:buFont typeface="Calibri"/>
              <a:buNone/>
            </a:pPr>
            <a:r>
              <a:rPr b="1" lang="en-US"/>
              <a:t>IT Services: </a:t>
            </a:r>
            <a:r>
              <a:rPr b="0" lang="en-US"/>
              <a:t>IT Personnel use IT Components to develop IS’s, oversee security &amp; risk, and manage data.</a:t>
            </a:r>
            <a:endParaRPr b="0"/>
          </a:p>
          <a:p>
            <a:pPr indent="0" lvl="0" marL="0" marR="0" rtl="0" algn="l">
              <a:lnSpc>
                <a:spcPct val="100000"/>
              </a:lnSpc>
              <a:spcBef>
                <a:spcPts val="0"/>
              </a:spcBef>
              <a:spcAft>
                <a:spcPts val="0"/>
              </a:spcAft>
              <a:buClr>
                <a:schemeClr val="dk1"/>
              </a:buClr>
              <a:buSzPts val="1200"/>
              <a:buFont typeface="Calibri"/>
              <a:buNone/>
            </a:pPr>
            <a:r>
              <a:rPr b="1" lang="en-US"/>
              <a:t>IT Infrastructure: </a:t>
            </a:r>
            <a:r>
              <a:rPr b="0" lang="en-US"/>
              <a:t>The IT components and IT services.</a:t>
            </a:r>
            <a:endParaRPr b="0"/>
          </a:p>
          <a:p>
            <a:pPr indent="0" lvl="0" marL="0" marR="0" rtl="0" algn="l">
              <a:lnSpc>
                <a:spcPct val="100000"/>
              </a:lnSpc>
              <a:spcBef>
                <a:spcPts val="0"/>
              </a:spcBef>
              <a:spcAft>
                <a:spcPts val="0"/>
              </a:spcAft>
              <a:buClr>
                <a:schemeClr val="dk1"/>
              </a:buClr>
              <a:buSzPts val="1200"/>
              <a:buFont typeface="Calibri"/>
              <a:buNone/>
            </a:pPr>
            <a:r>
              <a:rPr b="1" lang="en-US"/>
              <a:t>Application: </a:t>
            </a:r>
            <a:r>
              <a:rPr b="0" lang="en-US"/>
              <a:t>A program designed to support a specific task or business process.</a:t>
            </a:r>
            <a:endParaRPr b="0"/>
          </a:p>
          <a:p>
            <a:pPr indent="0" lvl="0" marL="0" marR="0" rtl="0" algn="l">
              <a:lnSpc>
                <a:spcPct val="100000"/>
              </a:lnSpc>
              <a:spcBef>
                <a:spcPts val="0"/>
              </a:spcBef>
              <a:spcAft>
                <a:spcPts val="0"/>
              </a:spcAft>
              <a:buClr>
                <a:schemeClr val="dk1"/>
              </a:buClr>
              <a:buSzPts val="1200"/>
              <a:buFont typeface="Calibri"/>
              <a:buNone/>
            </a:pPr>
            <a:r>
              <a:rPr b="1" lang="en-US"/>
              <a:t>Functional Area Information Systems (FAIS) : </a:t>
            </a:r>
            <a:r>
              <a:rPr b="0" lang="en-US"/>
              <a:t>a collection of application programs in a single department or functional area.</a:t>
            </a:r>
            <a:endParaRPr b="0"/>
          </a:p>
          <a:p>
            <a:pPr indent="0" lvl="0" marL="0" rtl="0" algn="l">
              <a:spcBef>
                <a:spcPts val="0"/>
              </a:spcBef>
              <a:spcAft>
                <a:spcPts val="0"/>
              </a:spcAft>
              <a:buNone/>
            </a:pPr>
            <a:r>
              <a:t/>
            </a:r>
            <a:endParaRPr/>
          </a:p>
        </p:txBody>
      </p:sp>
      <p:sp>
        <p:nvSpPr>
          <p:cNvPr id="302" name="Google Shape;302;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Functional Area Information Systems (FAIS) : </a:t>
            </a:r>
            <a:r>
              <a:rPr lang="en-US"/>
              <a:t>a collection of application programs in a single department or functional area.</a:t>
            </a:r>
            <a:endParaRPr/>
          </a:p>
          <a:p>
            <a:pPr indent="0" lvl="0" marL="0" rtl="0" algn="l">
              <a:spcBef>
                <a:spcPts val="0"/>
              </a:spcBef>
              <a:spcAft>
                <a:spcPts val="0"/>
              </a:spcAft>
              <a:buNone/>
            </a:pPr>
            <a:r>
              <a:rPr b="1" lang="en-US"/>
              <a:t>Enterprise Resource Planning (ERP): </a:t>
            </a:r>
            <a:r>
              <a:rPr lang="en-US"/>
              <a:t>systems are designed to correct a lack of communication among the functional area IS.</a:t>
            </a:r>
            <a:endParaRPr/>
          </a:p>
          <a:p>
            <a:pPr indent="0" lvl="0" marL="0" rtl="0" algn="l">
              <a:spcBef>
                <a:spcPts val="0"/>
              </a:spcBef>
              <a:spcAft>
                <a:spcPts val="0"/>
              </a:spcAft>
              <a:buNone/>
            </a:pPr>
            <a:r>
              <a:rPr b="1" lang="en-US"/>
              <a:t>Transaction Processing System (TPS): </a:t>
            </a:r>
            <a:r>
              <a:rPr lang="en-US"/>
              <a:t>systems that support the monitoring, collection, storage, and processing of data from the organization’s basic business transactions, each of which generates data.</a:t>
            </a:r>
            <a:endParaRPr/>
          </a:p>
          <a:p>
            <a:pPr indent="0" lvl="0" marL="0" rtl="0" algn="l">
              <a:spcBef>
                <a:spcPts val="0"/>
              </a:spcBef>
              <a:spcAft>
                <a:spcPts val="0"/>
              </a:spcAft>
              <a:buNone/>
            </a:pPr>
            <a:r>
              <a:rPr b="1" lang="en-US"/>
              <a:t>Interorganizational Information systems (IOSs): </a:t>
            </a:r>
            <a:r>
              <a:rPr lang="en-US"/>
              <a:t>Information systems that connect two or more organizations.</a:t>
            </a:r>
            <a:endParaRPr/>
          </a:p>
          <a:p>
            <a:pPr indent="0" lvl="0" marL="0" rtl="0" algn="l">
              <a:spcBef>
                <a:spcPts val="0"/>
              </a:spcBef>
              <a:spcAft>
                <a:spcPts val="0"/>
              </a:spcAft>
              <a:buNone/>
            </a:pPr>
            <a:r>
              <a:rPr b="1" lang="en-US"/>
              <a:t>Electronic Commerce (e-commerce) Systems: </a:t>
            </a:r>
            <a:r>
              <a:rPr lang="en-US"/>
              <a:t>an interorganizational information system that enable organizations to conduct transactions, called business-to-business (B2B) electronic commerce, and customers to conduct transactions with businesses, called business-to-consumer (B2C) electronic commerce.</a:t>
            </a:r>
            <a:endParaRPr/>
          </a:p>
        </p:txBody>
      </p:sp>
      <p:sp>
        <p:nvSpPr>
          <p:cNvPr id="335" name="Google Shape;335;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
        <p:nvSpPr>
          <p:cNvPr id="357" name="Google Shape;357;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65" name="Google Shape;365;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73" name="Google Shape;373;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
        <p:nvSpPr>
          <p:cNvPr id="380" name="Google Shape;380;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88" name="Google Shape;388;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
        <p:nvSpPr>
          <p:cNvPr id="396" name="Google Shape;396;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Knowledge Workers: </a:t>
            </a:r>
            <a:r>
              <a:rPr lang="en-US"/>
              <a:t>professional employees that are experts in a particular subject area (e.g., financial and marketing analysts, engineers, lawyers, and accountants.).</a:t>
            </a:r>
            <a:endParaRPr/>
          </a:p>
          <a:p>
            <a:pPr indent="0" lvl="0" marL="0" rtl="0" algn="l">
              <a:spcBef>
                <a:spcPts val="0"/>
              </a:spcBef>
              <a:spcAft>
                <a:spcPts val="0"/>
              </a:spcAft>
              <a:buNone/>
            </a:pPr>
            <a:r>
              <a:rPr b="1" lang="en-US"/>
              <a:t>Office Automation Systems (OASs): </a:t>
            </a:r>
            <a:r>
              <a:rPr lang="en-US"/>
              <a:t>typically support the clerical staff, lower and middle managers, and knowledge workers (e.g., word processing and desktop publishing software).</a:t>
            </a:r>
            <a:endParaRPr/>
          </a:p>
          <a:p>
            <a:pPr indent="0" lvl="0" marL="0" rtl="0" algn="l">
              <a:spcBef>
                <a:spcPts val="0"/>
              </a:spcBef>
              <a:spcAft>
                <a:spcPts val="0"/>
              </a:spcAft>
              <a:buNone/>
            </a:pPr>
            <a:r>
              <a:rPr b="1" lang="en-US"/>
              <a:t>Business Intelligence (BI) Systems: </a:t>
            </a:r>
            <a:r>
              <a:rPr lang="en-US"/>
              <a:t>systems that provide computer-based support for complex, nonroutine decisions, primarily for middle managers and knowledge workers.</a:t>
            </a:r>
            <a:endParaRPr/>
          </a:p>
          <a:p>
            <a:pPr indent="0" lvl="0" marL="0" rtl="0" algn="l">
              <a:spcBef>
                <a:spcPts val="0"/>
              </a:spcBef>
              <a:spcAft>
                <a:spcPts val="0"/>
              </a:spcAft>
              <a:buNone/>
            </a:pPr>
            <a:r>
              <a:rPr b="1" lang="en-US"/>
              <a:t>Expert Systems (ES): </a:t>
            </a:r>
            <a:r>
              <a:rPr lang="en-US"/>
              <a:t>systems that attempt to duplicate the work of human experts by applying reasoning capabilities, knowledge, and expertise within a specific domain.</a:t>
            </a:r>
            <a:endParaRPr/>
          </a:p>
          <a:p>
            <a:pPr indent="0" lvl="0" marL="0" rtl="0" algn="l">
              <a:spcBef>
                <a:spcPts val="0"/>
              </a:spcBef>
              <a:spcAft>
                <a:spcPts val="0"/>
              </a:spcAft>
              <a:buNone/>
            </a:pPr>
            <a:r>
              <a:rPr b="1" lang="en-US"/>
              <a:t>Dashboards: </a:t>
            </a:r>
            <a:r>
              <a:rPr lang="en-US"/>
              <a:t>a special form of IS that support all managers of the organization by providing rapid access to timely information and direct access to structured information in the form of reports.</a:t>
            </a:r>
            <a:endParaRPr/>
          </a:p>
        </p:txBody>
      </p:sp>
      <p:sp>
        <p:nvSpPr>
          <p:cNvPr id="413" name="Google Shape;413;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421" name="Google Shape;421;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
        <p:nvSpPr>
          <p:cNvPr id="428" name="Google Shape;428;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
        <p:nvSpPr>
          <p:cNvPr id="436" name="Google Shape;436;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6" name="Shape 16"/>
        <p:cNvGrpSpPr/>
        <p:nvPr/>
      </p:nvGrpSpPr>
      <p:grpSpPr>
        <a:xfrm>
          <a:off x="0" y="0"/>
          <a:ext cx="0" cy="0"/>
          <a:chOff x="0" y="0"/>
          <a:chExt cx="0" cy="0"/>
        </a:xfrm>
      </p:grpSpPr>
      <p:sp>
        <p:nvSpPr>
          <p:cNvPr id="17" name="Google Shape;17;p54"/>
          <p:cNvSpPr txBox="1"/>
          <p:nvPr>
            <p:ph type="title"/>
          </p:nvPr>
        </p:nvSpPr>
        <p:spPr>
          <a:xfrm>
            <a:off x="457200" y="190500"/>
            <a:ext cx="8229600" cy="5826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5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5"/>
          <p:cNvSpPr txBox="1"/>
          <p:nvPr>
            <p:ph type="title"/>
          </p:nvPr>
        </p:nvSpPr>
        <p:spPr>
          <a:xfrm>
            <a:off x="457200" y="190500"/>
            <a:ext cx="8229600" cy="5826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55"/>
          <p:cNvSpPr txBox="1"/>
          <p:nvPr>
            <p:ph idx="1" type="body"/>
          </p:nvPr>
        </p:nvSpPr>
        <p:spPr>
          <a:xfrm>
            <a:off x="457200" y="1174750"/>
            <a:ext cx="8229600" cy="49530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5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7" name="Google Shape;27;p55"/>
          <p:cNvSpPr/>
          <p:nvPr/>
        </p:nvSpPr>
        <p:spPr>
          <a:xfrm>
            <a:off x="6781800" y="6362700"/>
            <a:ext cx="2362200" cy="342900"/>
          </a:xfrm>
          <a:prstGeom prst="rect">
            <a:avLst/>
          </a:prstGeom>
          <a:solidFill>
            <a:srgbClr val="00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8" name="Google Shape;28;p55"/>
          <p:cNvCxnSpPr/>
          <p:nvPr/>
        </p:nvCxnSpPr>
        <p:spPr>
          <a:xfrm>
            <a:off x="609600" y="6324600"/>
            <a:ext cx="8534400" cy="0"/>
          </a:xfrm>
          <a:prstGeom prst="straightConnector1">
            <a:avLst/>
          </a:prstGeom>
          <a:noFill/>
          <a:ln cap="flat" cmpd="sng" w="25400">
            <a:solidFill>
              <a:schemeClr val="accent3"/>
            </a:solidFill>
            <a:prstDash val="solid"/>
            <a:miter lim="800000"/>
            <a:headEnd len="sm" w="sm" type="none"/>
            <a:tailEnd len="sm" w="sm" type="none"/>
          </a:ln>
        </p:spPr>
      </p:cxnSp>
      <p:cxnSp>
        <p:nvCxnSpPr>
          <p:cNvPr id="29" name="Google Shape;29;p55"/>
          <p:cNvCxnSpPr/>
          <p:nvPr/>
        </p:nvCxnSpPr>
        <p:spPr>
          <a:xfrm>
            <a:off x="0" y="304800"/>
            <a:ext cx="8534400" cy="0"/>
          </a:xfrm>
          <a:prstGeom prst="straightConnector1">
            <a:avLst/>
          </a:prstGeom>
          <a:noFill/>
          <a:ln cap="flat" cmpd="sng" w="25400">
            <a:solidFill>
              <a:schemeClr val="accent3"/>
            </a:solidFill>
            <a:prstDash val="solid"/>
            <a:miter lim="800000"/>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30" name="Shape 30"/>
        <p:cNvGrpSpPr/>
        <p:nvPr/>
      </p:nvGrpSpPr>
      <p:grpSpPr>
        <a:xfrm>
          <a:off x="0" y="0"/>
          <a:ext cx="0" cy="0"/>
          <a:chOff x="0" y="0"/>
          <a:chExt cx="0" cy="0"/>
        </a:xfrm>
      </p:grpSpPr>
      <p:pic>
        <p:nvPicPr>
          <p:cNvPr id="31" name="Google Shape;31;p56"/>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32" name="Google Shape;32;p56"/>
          <p:cNvSpPr txBox="1"/>
          <p:nvPr>
            <p:ph type="ctrTitle"/>
          </p:nvPr>
        </p:nvSpPr>
        <p:spPr>
          <a:xfrm>
            <a:off x="468313" y="3717925"/>
            <a:ext cx="8207375" cy="108267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6"/>
          <p:cNvSpPr txBox="1"/>
          <p:nvPr>
            <p:ph idx="1" type="subTitle"/>
          </p:nvPr>
        </p:nvSpPr>
        <p:spPr>
          <a:xfrm>
            <a:off x="469900" y="4940300"/>
            <a:ext cx="8212138" cy="981075"/>
          </a:xfrm>
          <a:prstGeom prst="rect">
            <a:avLst/>
          </a:prstGeom>
          <a:noFill/>
          <a:ln>
            <a:noFill/>
          </a:ln>
        </p:spPr>
        <p:txBody>
          <a:bodyPr anchorCtr="0" anchor="t" bIns="45700" lIns="91425" spcFirstLastPara="1" rIns="91425" wrap="square" tIns="45700">
            <a:noAutofit/>
          </a:bodyPr>
          <a:lstStyle>
            <a:lvl1pPr lvl="0" algn="r">
              <a:spcBef>
                <a:spcPts val="640"/>
              </a:spcBef>
              <a:spcAft>
                <a:spcPts val="0"/>
              </a:spcAft>
              <a:buClr>
                <a:schemeClr val="dk1"/>
              </a:buClr>
              <a:buSzPts val="3200"/>
              <a:buFont typeface="Arial"/>
              <a:buNone/>
              <a:defRPr/>
            </a:lvl1pPr>
            <a:lvl2pPr lvl="1" algn="l">
              <a:spcBef>
                <a:spcPts val="360"/>
              </a:spcBef>
              <a:spcAft>
                <a:spcPts val="0"/>
              </a:spcAft>
              <a:buClr>
                <a:schemeClr val="dk1"/>
              </a:buClr>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34" name="Google Shape;34;p5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57"/>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7"/>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sz="2400"/>
            </a:lvl1pPr>
            <a:lvl2pPr indent="-228600" lvl="1" marL="914400" algn="l">
              <a:spcBef>
                <a:spcPts val="400"/>
              </a:spcBef>
              <a:spcAft>
                <a:spcPts val="0"/>
              </a:spcAft>
              <a:buClr>
                <a:schemeClr val="dk1"/>
              </a:buClr>
              <a:buSzPts val="2000"/>
              <a:buFont typeface="Arial"/>
              <a:buNone/>
              <a:defRPr sz="2000"/>
            </a:lvl2pPr>
            <a:lvl3pPr indent="-228600" lvl="2" marL="1371600" algn="l">
              <a:spcBef>
                <a:spcPts val="360"/>
              </a:spcBef>
              <a:spcAft>
                <a:spcPts val="0"/>
              </a:spcAft>
              <a:buClr>
                <a:schemeClr val="dk1"/>
              </a:buClr>
              <a:buSzPts val="1800"/>
              <a:buFont typeface="Arial"/>
              <a:buNone/>
              <a:defRPr sz="1800"/>
            </a:lvl3pPr>
            <a:lvl4pPr indent="-228600" lvl="3" marL="1828800" algn="l">
              <a:spcBef>
                <a:spcPts val="320"/>
              </a:spcBef>
              <a:spcAft>
                <a:spcPts val="0"/>
              </a:spcAft>
              <a:buClr>
                <a:schemeClr val="dk1"/>
              </a:buClr>
              <a:buSzPts val="1600"/>
              <a:buFont typeface="Arial"/>
              <a:buNone/>
              <a:defRPr sz="1600"/>
            </a:lvl4pPr>
            <a:lvl5pPr indent="-228600" lvl="4" marL="2286000" algn="l">
              <a:spcBef>
                <a:spcPts val="320"/>
              </a:spcBef>
              <a:spcAft>
                <a:spcPts val="0"/>
              </a:spcAft>
              <a:buClr>
                <a:schemeClr val="dk1"/>
              </a:buClr>
              <a:buSzPts val="1600"/>
              <a:buFont typeface="Arial"/>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40" name="Google Shape;40;p5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58"/>
          <p:cNvSpPr txBox="1"/>
          <p:nvPr>
            <p:ph type="title"/>
          </p:nvPr>
        </p:nvSpPr>
        <p:spPr>
          <a:xfrm>
            <a:off x="457200" y="190500"/>
            <a:ext cx="8229600" cy="5826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8"/>
          <p:cNvSpPr txBox="1"/>
          <p:nvPr>
            <p:ph idx="1" type="body"/>
          </p:nvPr>
        </p:nvSpPr>
        <p:spPr>
          <a:xfrm>
            <a:off x="457200" y="1174750"/>
            <a:ext cx="4038600" cy="49530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8"/>
          <p:cNvSpPr txBox="1"/>
          <p:nvPr>
            <p:ph idx="2" type="body"/>
          </p:nvPr>
        </p:nvSpPr>
        <p:spPr>
          <a:xfrm>
            <a:off x="4648200" y="1174750"/>
            <a:ext cx="4038600" cy="49530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5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59"/>
          <p:cNvSpPr txBox="1"/>
          <p:nvPr>
            <p:ph type="title"/>
          </p:nvPr>
        </p:nvSpPr>
        <p:spPr>
          <a:xfrm>
            <a:off x="630238" y="365125"/>
            <a:ext cx="7886700" cy="132556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9"/>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59"/>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59"/>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59"/>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5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5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60"/>
          <p:cNvSpPr txBox="1"/>
          <p:nvPr>
            <p:ph type="title"/>
          </p:nvPr>
        </p:nvSpPr>
        <p:spPr>
          <a:xfrm>
            <a:off x="457200" y="190500"/>
            <a:ext cx="8229600" cy="5826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6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6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6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6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62"/>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2"/>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1" name="Google Shape;71;p62"/>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Clr>
                <a:schemeClr val="dk1"/>
              </a:buClr>
              <a:buSzPts val="1600"/>
              <a:buFont typeface="Arial"/>
              <a:buNone/>
              <a:defRPr sz="1600"/>
            </a:lvl1pPr>
            <a:lvl2pPr indent="-228600" lvl="1" marL="914400" algn="l">
              <a:spcBef>
                <a:spcPts val="280"/>
              </a:spcBef>
              <a:spcAft>
                <a:spcPts val="0"/>
              </a:spcAft>
              <a:buClr>
                <a:schemeClr val="dk1"/>
              </a:buClr>
              <a:buSzPts val="1400"/>
              <a:buFont typeface="Arial"/>
              <a:buNone/>
              <a:defRPr sz="1400"/>
            </a:lvl2pPr>
            <a:lvl3pPr indent="-228600" lvl="2" marL="1371600" algn="l">
              <a:spcBef>
                <a:spcPts val="240"/>
              </a:spcBef>
              <a:spcAft>
                <a:spcPts val="0"/>
              </a:spcAft>
              <a:buClr>
                <a:schemeClr val="dk1"/>
              </a:buClr>
              <a:buSzPts val="1200"/>
              <a:buFont typeface="Arial"/>
              <a:buNone/>
              <a:defRPr sz="1200"/>
            </a:lvl3pPr>
            <a:lvl4pPr indent="-228600" lvl="3" marL="1828800" algn="l">
              <a:spcBef>
                <a:spcPts val="200"/>
              </a:spcBef>
              <a:spcAft>
                <a:spcPts val="0"/>
              </a:spcAft>
              <a:buClr>
                <a:schemeClr val="dk1"/>
              </a:buClr>
              <a:buSzPts val="1000"/>
              <a:buFont typeface="Arial"/>
              <a:buNone/>
              <a:defRPr sz="1000"/>
            </a:lvl4pPr>
            <a:lvl5pPr indent="-228600" lvl="4" marL="2286000" algn="l">
              <a:spcBef>
                <a:spcPts val="200"/>
              </a:spcBef>
              <a:spcAft>
                <a:spcPts val="0"/>
              </a:spcAft>
              <a:buClr>
                <a:schemeClr val="dk1"/>
              </a:buClr>
              <a:buSzPts val="1000"/>
              <a:buFont typeface="Arial"/>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6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6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5" name="Shape 75"/>
        <p:cNvGrpSpPr/>
        <p:nvPr/>
      </p:nvGrpSpPr>
      <p:grpSpPr>
        <a:xfrm>
          <a:off x="0" y="0"/>
          <a:ext cx="0" cy="0"/>
          <a:chOff x="0" y="0"/>
          <a:chExt cx="0" cy="0"/>
        </a:xfrm>
      </p:grpSpPr>
      <p:sp>
        <p:nvSpPr>
          <p:cNvPr id="76" name="Google Shape;76;p63"/>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3"/>
          <p:cNvSpPr/>
          <p:nvPr>
            <p:ph idx="2" type="pic"/>
          </p:nvPr>
        </p:nvSpPr>
        <p:spPr>
          <a:xfrm>
            <a:off x="3887788" y="987425"/>
            <a:ext cx="4629150" cy="4873625"/>
          </a:xfrm>
          <a:prstGeom prst="rect">
            <a:avLst/>
          </a:prstGeom>
          <a:noFill/>
          <a:ln>
            <a:noFill/>
          </a:ln>
        </p:spPr>
      </p:sp>
      <p:sp>
        <p:nvSpPr>
          <p:cNvPr id="78" name="Google Shape;78;p63"/>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Clr>
                <a:schemeClr val="dk1"/>
              </a:buClr>
              <a:buSzPts val="1600"/>
              <a:buFont typeface="Arial"/>
              <a:buNone/>
              <a:defRPr sz="1600"/>
            </a:lvl1pPr>
            <a:lvl2pPr indent="-228600" lvl="1" marL="914400" algn="l">
              <a:spcBef>
                <a:spcPts val="280"/>
              </a:spcBef>
              <a:spcAft>
                <a:spcPts val="0"/>
              </a:spcAft>
              <a:buClr>
                <a:schemeClr val="dk1"/>
              </a:buClr>
              <a:buSzPts val="1400"/>
              <a:buFont typeface="Arial"/>
              <a:buNone/>
              <a:defRPr sz="1400"/>
            </a:lvl2pPr>
            <a:lvl3pPr indent="-228600" lvl="2" marL="1371600" algn="l">
              <a:spcBef>
                <a:spcPts val="240"/>
              </a:spcBef>
              <a:spcAft>
                <a:spcPts val="0"/>
              </a:spcAft>
              <a:buClr>
                <a:schemeClr val="dk1"/>
              </a:buClr>
              <a:buSzPts val="1200"/>
              <a:buFont typeface="Arial"/>
              <a:buNone/>
              <a:defRPr sz="1200"/>
            </a:lvl3pPr>
            <a:lvl4pPr indent="-228600" lvl="3" marL="1828800" algn="l">
              <a:spcBef>
                <a:spcPts val="200"/>
              </a:spcBef>
              <a:spcAft>
                <a:spcPts val="0"/>
              </a:spcAft>
              <a:buClr>
                <a:schemeClr val="dk1"/>
              </a:buClr>
              <a:buSzPts val="1000"/>
              <a:buFont typeface="Arial"/>
              <a:buNone/>
              <a:defRPr sz="1000"/>
            </a:lvl4pPr>
            <a:lvl5pPr indent="-228600" lvl="4" marL="2286000" algn="l">
              <a:spcBef>
                <a:spcPts val="200"/>
              </a:spcBef>
              <a:spcAft>
                <a:spcPts val="0"/>
              </a:spcAft>
              <a:buClr>
                <a:schemeClr val="dk1"/>
              </a:buClr>
              <a:buSzPts val="1000"/>
              <a:buFont typeface="Arial"/>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6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6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6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64"/>
          <p:cNvSpPr txBox="1"/>
          <p:nvPr>
            <p:ph type="title"/>
          </p:nvPr>
        </p:nvSpPr>
        <p:spPr>
          <a:xfrm>
            <a:off x="457200" y="190500"/>
            <a:ext cx="8229600" cy="5826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64"/>
          <p:cNvSpPr txBox="1"/>
          <p:nvPr>
            <p:ph idx="1" type="body"/>
          </p:nvPr>
        </p:nvSpPr>
        <p:spPr>
          <a:xfrm rot="5400000">
            <a:off x="2095500" y="-463550"/>
            <a:ext cx="4953000"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6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6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6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 name="Shape 88"/>
        <p:cNvGrpSpPr/>
        <p:nvPr/>
      </p:nvGrpSpPr>
      <p:grpSpPr>
        <a:xfrm>
          <a:off x="0" y="0"/>
          <a:ext cx="0" cy="0"/>
          <a:chOff x="0" y="0"/>
          <a:chExt cx="0" cy="0"/>
        </a:xfrm>
      </p:grpSpPr>
      <p:sp>
        <p:nvSpPr>
          <p:cNvPr id="89" name="Google Shape;89;p65"/>
          <p:cNvSpPr txBox="1"/>
          <p:nvPr>
            <p:ph type="title"/>
          </p:nvPr>
        </p:nvSpPr>
        <p:spPr>
          <a:xfrm rot="5400000">
            <a:off x="4689475" y="2130425"/>
            <a:ext cx="5937250" cy="2057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65"/>
          <p:cNvSpPr txBox="1"/>
          <p:nvPr>
            <p:ph idx="1" type="body"/>
          </p:nvPr>
        </p:nvSpPr>
        <p:spPr>
          <a:xfrm rot="5400000">
            <a:off x="498475" y="149225"/>
            <a:ext cx="5937250"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6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6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6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53"/>
          <p:cNvPicPr preferRelativeResize="0"/>
          <p:nvPr/>
        </p:nvPicPr>
        <p:blipFill rotWithShape="1">
          <a:blip r:embed="rId1">
            <a:alphaModFix/>
          </a:blip>
          <a:srcRect b="0" l="0" r="0" t="0"/>
          <a:stretch/>
        </p:blipFill>
        <p:spPr>
          <a:xfrm>
            <a:off x="0" y="0"/>
            <a:ext cx="9144000" cy="6858000"/>
          </a:xfrm>
          <a:prstGeom prst="rect">
            <a:avLst/>
          </a:prstGeom>
          <a:noFill/>
          <a:ln>
            <a:noFill/>
          </a:ln>
        </p:spPr>
      </p:pic>
      <p:sp>
        <p:nvSpPr>
          <p:cNvPr id="11" name="Google Shape;11;p53"/>
          <p:cNvSpPr txBox="1"/>
          <p:nvPr>
            <p:ph type="title"/>
          </p:nvPr>
        </p:nvSpPr>
        <p:spPr>
          <a:xfrm>
            <a:off x="457200" y="190500"/>
            <a:ext cx="8229600" cy="58261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36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36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36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36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36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36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36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36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3600" u="none" cap="none" strike="noStrike">
                <a:solidFill>
                  <a:schemeClr val="dk1"/>
                </a:solidFill>
                <a:latin typeface="Arial"/>
                <a:ea typeface="Arial"/>
                <a:cs typeface="Arial"/>
                <a:sym typeface="Arial"/>
              </a:defRPr>
            </a:lvl9pPr>
          </a:lstStyle>
          <a:p/>
        </p:txBody>
      </p:sp>
      <p:sp>
        <p:nvSpPr>
          <p:cNvPr id="12" name="Google Shape;12;p53"/>
          <p:cNvSpPr txBox="1"/>
          <p:nvPr>
            <p:ph idx="1" type="body"/>
          </p:nvPr>
        </p:nvSpPr>
        <p:spPr>
          <a:xfrm>
            <a:off x="457200" y="1174750"/>
            <a:ext cx="8229600" cy="49530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3" name="Google Shape;13;p5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5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5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400" u="none" cap="none" strike="noStrike">
                <a:solidFill>
                  <a:schemeClr val="dk1"/>
                </a:solidFill>
                <a:latin typeface="Arial"/>
                <a:ea typeface="Arial"/>
                <a:cs typeface="Arial"/>
                <a:sym typeface="Arial"/>
              </a:defRPr>
            </a:lvl1pPr>
            <a:lvl2pPr indent="0" lvl="1" marL="0" marR="0" rtl="0" algn="r">
              <a:spcBef>
                <a:spcPts val="0"/>
              </a:spcBef>
              <a:buNone/>
              <a:defRPr b="0" i="0" sz="1400" u="none" cap="none" strike="noStrike">
                <a:solidFill>
                  <a:schemeClr val="dk1"/>
                </a:solidFill>
                <a:latin typeface="Arial"/>
                <a:ea typeface="Arial"/>
                <a:cs typeface="Arial"/>
                <a:sym typeface="Arial"/>
              </a:defRPr>
            </a:lvl2pPr>
            <a:lvl3pPr indent="0" lvl="2" marL="0" marR="0" rtl="0" algn="r">
              <a:spcBef>
                <a:spcPts val="0"/>
              </a:spcBef>
              <a:buNone/>
              <a:defRPr b="0" i="0" sz="1400" u="none" cap="none" strike="noStrike">
                <a:solidFill>
                  <a:schemeClr val="dk1"/>
                </a:solidFill>
                <a:latin typeface="Arial"/>
                <a:ea typeface="Arial"/>
                <a:cs typeface="Arial"/>
                <a:sym typeface="Arial"/>
              </a:defRPr>
            </a:lvl3pPr>
            <a:lvl4pPr indent="0" lvl="3" marL="0" marR="0" rtl="0" algn="r">
              <a:spcBef>
                <a:spcPts val="0"/>
              </a:spcBef>
              <a:buNone/>
              <a:defRPr b="0" i="0" sz="1400" u="none" cap="none" strike="noStrike">
                <a:solidFill>
                  <a:schemeClr val="dk1"/>
                </a:solidFill>
                <a:latin typeface="Arial"/>
                <a:ea typeface="Arial"/>
                <a:cs typeface="Arial"/>
                <a:sym typeface="Arial"/>
              </a:defRPr>
            </a:lvl4pPr>
            <a:lvl5pPr indent="0" lvl="4" marL="0" marR="0" rtl="0" algn="r">
              <a:spcBef>
                <a:spcPts val="0"/>
              </a:spcBef>
              <a:buNone/>
              <a:defRPr b="0" i="0" sz="1400" u="none" cap="none" strike="noStrike">
                <a:solidFill>
                  <a:schemeClr val="dk1"/>
                </a:solidFill>
                <a:latin typeface="Arial"/>
                <a:ea typeface="Arial"/>
                <a:cs typeface="Arial"/>
                <a:sym typeface="Arial"/>
              </a:defRPr>
            </a:lvl5pPr>
            <a:lvl6pPr indent="0" lvl="5" marL="0" marR="0" rtl="0" algn="r">
              <a:spcBef>
                <a:spcPts val="0"/>
              </a:spcBef>
              <a:buNone/>
              <a:defRPr b="0" i="0" sz="1400" u="none" cap="none" strike="noStrike">
                <a:solidFill>
                  <a:schemeClr val="dk1"/>
                </a:solidFill>
                <a:latin typeface="Arial"/>
                <a:ea typeface="Arial"/>
                <a:cs typeface="Arial"/>
                <a:sym typeface="Arial"/>
              </a:defRPr>
            </a:lvl6pPr>
            <a:lvl7pPr indent="0" lvl="6" marL="0" marR="0" rtl="0" algn="r">
              <a:spcBef>
                <a:spcPts val="0"/>
              </a:spcBef>
              <a:buNone/>
              <a:defRPr b="0" i="0" sz="1400" u="none" cap="none" strike="noStrike">
                <a:solidFill>
                  <a:schemeClr val="dk1"/>
                </a:solidFill>
                <a:latin typeface="Arial"/>
                <a:ea typeface="Arial"/>
                <a:cs typeface="Arial"/>
                <a:sym typeface="Arial"/>
              </a:defRPr>
            </a:lvl7pPr>
            <a:lvl8pPr indent="0" lvl="7" marL="0" marR="0" rtl="0" algn="r">
              <a:spcBef>
                <a:spcPts val="0"/>
              </a:spcBef>
              <a:buNone/>
              <a:defRPr b="0" i="0" sz="1400" u="none" cap="none" strike="noStrike">
                <a:solidFill>
                  <a:schemeClr val="dk1"/>
                </a:solidFill>
                <a:latin typeface="Arial"/>
                <a:ea typeface="Arial"/>
                <a:cs typeface="Arial"/>
                <a:sym typeface="Arial"/>
              </a:defRPr>
            </a:lvl8pPr>
            <a:lvl9pPr indent="0" lvl="8" marL="0" marR="0" rtl="0" algn="r">
              <a:spcBef>
                <a:spcPts val="0"/>
              </a:spcBef>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
          <p:cNvSpPr txBox="1"/>
          <p:nvPr>
            <p:ph idx="4294967295" type="subTitle"/>
          </p:nvPr>
        </p:nvSpPr>
        <p:spPr>
          <a:xfrm>
            <a:off x="345440" y="457200"/>
            <a:ext cx="8728075" cy="1342390"/>
          </a:xfrm>
          <a:prstGeom prst="rect">
            <a:avLst/>
          </a:prstGeom>
          <a:noFill/>
          <a:ln>
            <a:noFill/>
          </a:ln>
        </p:spPr>
        <p:txBody>
          <a:bodyPr anchorCtr="0" anchor="t" bIns="45700" lIns="91425" spcFirstLastPara="1" rIns="91425" wrap="square" tIns="45700">
            <a:normAutofit fontScale="25000"/>
          </a:bodyPr>
          <a:lstStyle/>
          <a:p>
            <a:pPr indent="0" lvl="0" marL="0" marR="0" rtl="0" algn="l">
              <a:spcBef>
                <a:spcPts val="0"/>
              </a:spcBef>
              <a:spcAft>
                <a:spcPts val="0"/>
              </a:spcAft>
              <a:buClr>
                <a:schemeClr val="dk1"/>
              </a:buClr>
              <a:buSzPct val="100000"/>
              <a:buFont typeface="Times New Roman"/>
              <a:buNone/>
            </a:pPr>
            <a:r>
              <a:rPr b="1" i="0" lang="en-US" sz="14400" u="none" cap="none" strike="noStrike">
                <a:solidFill>
                  <a:schemeClr val="dk1"/>
                </a:solidFill>
                <a:latin typeface="Times New Roman"/>
                <a:ea typeface="Times New Roman"/>
                <a:cs typeface="Times New Roman"/>
                <a:sym typeface="Times New Roman"/>
              </a:rPr>
              <a:t>MANAGEMENT INFORMATION SYSTEM</a:t>
            </a:r>
            <a:endParaRPr b="0" i="0" sz="14400" u="none" cap="none" strike="noStrike">
              <a:solidFill>
                <a:schemeClr val="dk1"/>
              </a:solidFill>
              <a:latin typeface="Times New Roman"/>
              <a:ea typeface="Times New Roman"/>
              <a:cs typeface="Times New Roman"/>
              <a:sym typeface="Times New Roman"/>
            </a:endParaRPr>
          </a:p>
          <a:p>
            <a:pPr indent="0" lvl="0" marL="0" marR="0" rtl="0" algn="l">
              <a:spcBef>
                <a:spcPts val="560"/>
              </a:spcBef>
              <a:spcAft>
                <a:spcPts val="0"/>
              </a:spcAft>
              <a:buClr>
                <a:schemeClr val="dk1"/>
              </a:buClr>
              <a:buSzPct val="100000"/>
              <a:buFont typeface="Arial"/>
              <a:buNone/>
            </a:pPr>
            <a:r>
              <a:t/>
            </a:r>
            <a:endParaRPr b="1" i="0" sz="11200" u="none" cap="none" strike="noStrike">
              <a:solidFill>
                <a:schemeClr val="dk1"/>
              </a:solidFill>
              <a:latin typeface="Times New Roman"/>
              <a:ea typeface="Times New Roman"/>
              <a:cs typeface="Times New Roman"/>
              <a:sym typeface="Times New Roman"/>
            </a:endParaRPr>
          </a:p>
          <a:p>
            <a:pPr indent="0" lvl="0" marL="0" marR="0" rtl="0" algn="l">
              <a:spcBef>
                <a:spcPts val="560"/>
              </a:spcBef>
              <a:spcAft>
                <a:spcPts val="0"/>
              </a:spcAft>
              <a:buClr>
                <a:schemeClr val="dk1"/>
              </a:buClr>
              <a:buSzPct val="100000"/>
              <a:buFont typeface="Times New Roman"/>
              <a:buNone/>
            </a:pPr>
            <a:r>
              <a:rPr b="1" i="0" lang="en-US" sz="11200" u="none" cap="none" strike="noStrike">
                <a:solidFill>
                  <a:schemeClr val="dk1"/>
                </a:solidFill>
                <a:latin typeface="Times New Roman"/>
                <a:ea typeface="Times New Roman"/>
                <a:cs typeface="Times New Roman"/>
                <a:sym typeface="Times New Roman"/>
              </a:rPr>
              <a:t>MIS ( SEM 7 ) Institute Level Elective - 2022-23 </a:t>
            </a:r>
            <a:endParaRPr b="1" i="0" sz="11200" u="none" cap="none" strike="noStrike">
              <a:solidFill>
                <a:schemeClr val="dk1"/>
              </a:solidFill>
              <a:latin typeface="Times New Roman"/>
              <a:ea typeface="Times New Roman"/>
              <a:cs typeface="Times New Roman"/>
              <a:sym typeface="Times New Roman"/>
            </a:endParaRPr>
          </a:p>
          <a:p>
            <a:pPr indent="0" lvl="0" marL="0" marR="0" rtl="0" algn="l">
              <a:spcBef>
                <a:spcPts val="560"/>
              </a:spcBef>
              <a:spcAft>
                <a:spcPts val="0"/>
              </a:spcAft>
              <a:buClr>
                <a:schemeClr val="dk1"/>
              </a:buClr>
              <a:buSzPct val="100000"/>
              <a:buFont typeface="Arial"/>
              <a:buNone/>
            </a:pPr>
            <a:r>
              <a:rPr b="0" i="0" lang="en-US" sz="11200" u="none" cap="none" strike="noStrike">
                <a:solidFill>
                  <a:schemeClr val="dk1"/>
                </a:solidFill>
                <a:latin typeface="Arial"/>
                <a:ea typeface="Arial"/>
                <a:cs typeface="Arial"/>
                <a:sym typeface="Arial"/>
              </a:rPr>
              <a:t>D16A &amp; D19 B class </a:t>
            </a:r>
            <a:endParaRPr b="0" i="0" sz="11200" u="none" cap="none" strike="noStrike">
              <a:solidFill>
                <a:schemeClr val="dk1"/>
              </a:solidFill>
              <a:latin typeface="Arial"/>
              <a:ea typeface="Arial"/>
              <a:cs typeface="Arial"/>
              <a:sym typeface="Arial"/>
            </a:endParaRPr>
          </a:p>
          <a:p>
            <a:pPr indent="0" lvl="0" marL="0" marR="0" rtl="0" algn="l">
              <a:spcBef>
                <a:spcPts val="560"/>
              </a:spcBef>
              <a:spcAft>
                <a:spcPts val="0"/>
              </a:spcAft>
              <a:buClr>
                <a:schemeClr val="dk1"/>
              </a:buClr>
              <a:buSzPct val="100000"/>
              <a:buFont typeface="Arial"/>
              <a:buNone/>
            </a:pPr>
            <a:r>
              <a:t/>
            </a:r>
            <a:endParaRPr b="0" i="0" sz="11200" u="none" cap="none" strike="noStrike">
              <a:solidFill>
                <a:schemeClr val="dk1"/>
              </a:solidFill>
              <a:latin typeface="Arial"/>
              <a:ea typeface="Arial"/>
              <a:cs typeface="Arial"/>
              <a:sym typeface="Arial"/>
            </a:endParaRPr>
          </a:p>
          <a:p>
            <a:pPr indent="0" lvl="0" marL="0" marR="0" rtl="0" algn="l">
              <a:spcBef>
                <a:spcPts val="560"/>
              </a:spcBef>
              <a:spcAft>
                <a:spcPts val="0"/>
              </a:spcAft>
              <a:buClr>
                <a:schemeClr val="dk1"/>
              </a:buClr>
              <a:buSzPct val="100000"/>
              <a:buFont typeface="Arial Black"/>
              <a:buNone/>
            </a:pPr>
            <a:r>
              <a:rPr b="1" i="0" lang="en-US" sz="11200" u="none" cap="none" strike="noStrike">
                <a:solidFill>
                  <a:schemeClr val="dk1"/>
                </a:solidFill>
                <a:latin typeface="Arial Black"/>
                <a:ea typeface="Arial Black"/>
                <a:cs typeface="Arial Black"/>
                <a:sym typeface="Arial Black"/>
              </a:rPr>
              <a:t>Subject Teacher - Dr. Asawari Dudwadkar </a:t>
            </a:r>
            <a:endParaRPr b="1" i="0" sz="11200" u="none" cap="none" strike="noStrike">
              <a:solidFill>
                <a:schemeClr val="dk1"/>
              </a:solidFill>
              <a:latin typeface="Arial Black"/>
              <a:ea typeface="Arial Black"/>
              <a:cs typeface="Arial Black"/>
              <a:sym typeface="Arial Black"/>
            </a:endParaRPr>
          </a:p>
          <a:p>
            <a:pPr indent="0" lvl="0" marL="0" marR="0" rtl="0" algn="l">
              <a:spcBef>
                <a:spcPts val="560"/>
              </a:spcBef>
              <a:spcAft>
                <a:spcPts val="0"/>
              </a:spcAft>
              <a:buClr>
                <a:schemeClr val="dk1"/>
              </a:buClr>
              <a:buSzPct val="100000"/>
              <a:buFont typeface="Arial"/>
              <a:buNone/>
            </a:pPr>
            <a:r>
              <a:t/>
            </a:r>
            <a:endParaRPr b="0" i="0" sz="11200" u="none" cap="none" strike="noStrike">
              <a:solidFill>
                <a:schemeClr val="dk1"/>
              </a:solidFill>
              <a:latin typeface="Arial"/>
              <a:ea typeface="Arial"/>
              <a:cs typeface="Arial"/>
              <a:sym typeface="Arial"/>
            </a:endParaRPr>
          </a:p>
          <a:p>
            <a:pPr indent="0" lvl="0" marL="0" marR="0" rtl="0" algn="l">
              <a:spcBef>
                <a:spcPts val="560"/>
              </a:spcBef>
              <a:spcAft>
                <a:spcPts val="0"/>
              </a:spcAft>
              <a:buClr>
                <a:schemeClr val="dk1"/>
              </a:buClr>
              <a:buSzPct val="100000"/>
              <a:buFont typeface="Arial"/>
              <a:buNone/>
            </a:pPr>
            <a:r>
              <a:t/>
            </a:r>
            <a:endParaRPr b="0" i="0" sz="11200" u="none" cap="none" strike="noStrike">
              <a:solidFill>
                <a:schemeClr val="dk1"/>
              </a:solidFill>
              <a:latin typeface="Arial"/>
              <a:ea typeface="Arial"/>
              <a:cs typeface="Arial"/>
              <a:sym typeface="Arial"/>
            </a:endParaRPr>
          </a:p>
        </p:txBody>
      </p:sp>
      <p:sp>
        <p:nvSpPr>
          <p:cNvPr id="100" name="Google Shape;100;p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1" name="Google Shape;101;p1"/>
          <p:cNvSpPr/>
          <p:nvPr/>
        </p:nvSpPr>
        <p:spPr>
          <a:xfrm>
            <a:off x="290008" y="4724261"/>
            <a:ext cx="883920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Arial"/>
                <a:ea typeface="Arial"/>
                <a:cs typeface="Arial"/>
                <a:sym typeface="Arial"/>
              </a:rPr>
              <a:t>REFERENCES: </a:t>
            </a:r>
            <a:endParaRPr b="1" sz="1800">
              <a:solidFill>
                <a:schemeClr val="dk1"/>
              </a:solidFill>
              <a:latin typeface="Arial"/>
              <a:ea typeface="Arial"/>
              <a:cs typeface="Arial"/>
              <a:sym typeface="Arial"/>
            </a:endParaRPr>
          </a:p>
          <a:p>
            <a:pPr indent="-342900" lvl="0" marL="342900" marR="0" rtl="0" algn="l">
              <a:spcBef>
                <a:spcPts val="0"/>
              </a:spcBef>
              <a:spcAft>
                <a:spcPts val="0"/>
              </a:spcAft>
              <a:buClr>
                <a:schemeClr val="dk1"/>
              </a:buClr>
              <a:buSzPts val="1800"/>
              <a:buFont typeface="Arial"/>
              <a:buAutoNum type="arabicPeriod"/>
            </a:pPr>
            <a:r>
              <a:rPr lang="en-US" sz="1800">
                <a:solidFill>
                  <a:schemeClr val="dk1"/>
                </a:solidFill>
                <a:latin typeface="Arial"/>
                <a:ea typeface="Arial"/>
                <a:cs typeface="Arial"/>
                <a:sym typeface="Arial"/>
              </a:rPr>
              <a:t>Kelly Rainer, Brad Prince, Management Information Systems, Wiley </a:t>
            </a:r>
            <a:endParaRPr sz="1800">
              <a:solidFill>
                <a:schemeClr val="dk1"/>
              </a:solidFill>
              <a:latin typeface="Arial"/>
              <a:ea typeface="Arial"/>
              <a:cs typeface="Arial"/>
              <a:sym typeface="Arial"/>
            </a:endParaRPr>
          </a:p>
          <a:p>
            <a:pPr indent="-342900" lvl="0" marL="342900" marR="0" rtl="0" algn="l">
              <a:spcBef>
                <a:spcPts val="0"/>
              </a:spcBef>
              <a:spcAft>
                <a:spcPts val="0"/>
              </a:spcAft>
              <a:buClr>
                <a:schemeClr val="dk1"/>
              </a:buClr>
              <a:buSzPts val="1800"/>
              <a:buFont typeface="Arial"/>
              <a:buAutoNum type="arabicPeriod"/>
            </a:pPr>
            <a:r>
              <a:rPr lang="en-US" sz="1800">
                <a:solidFill>
                  <a:schemeClr val="dk1"/>
                </a:solidFill>
                <a:latin typeface="Arial"/>
                <a:ea typeface="Arial"/>
                <a:cs typeface="Arial"/>
                <a:sym typeface="Arial"/>
              </a:rPr>
              <a:t>K.C. Laudon and J.P. Laudon, Management Information Systems: Managing the Digital Firm, 10th Ed., Prentice Hall, 2007.</a:t>
            </a:r>
            <a:endParaRPr sz="1800">
              <a:solidFill>
                <a:schemeClr val="dk1"/>
              </a:solidFill>
              <a:latin typeface="Arial"/>
              <a:ea typeface="Arial"/>
              <a:cs typeface="Arial"/>
              <a:sym typeface="Arial"/>
            </a:endParaRPr>
          </a:p>
          <a:p>
            <a:pPr indent="-342900" lvl="0" marL="342900" marR="0" rtl="0" algn="l">
              <a:spcBef>
                <a:spcPts val="0"/>
              </a:spcBef>
              <a:spcAft>
                <a:spcPts val="0"/>
              </a:spcAft>
              <a:buClr>
                <a:schemeClr val="dk1"/>
              </a:buClr>
              <a:buSzPts val="1800"/>
              <a:buFont typeface="Arial"/>
              <a:buAutoNum type="arabicPeriod"/>
            </a:pPr>
            <a:r>
              <a:rPr lang="en-US" sz="1800">
                <a:solidFill>
                  <a:schemeClr val="dk1"/>
                </a:solidFill>
                <a:latin typeface="Arial"/>
                <a:ea typeface="Arial"/>
                <a:cs typeface="Arial"/>
                <a:sym typeface="Arial"/>
              </a:rPr>
              <a:t>D. Boddy, A. Boonstra, Managing Information Systems: Strategy and Organization, Prentice Hall, 2008 </a:t>
            </a:r>
            <a:endParaRPr sz="1800">
              <a:solidFill>
                <a:schemeClr val="dk1"/>
              </a:solidFill>
              <a:latin typeface="Arial"/>
              <a:ea typeface="Arial"/>
              <a:cs typeface="Arial"/>
              <a:sym typeface="Arial"/>
            </a:endParaRPr>
          </a:p>
        </p:txBody>
      </p:sp>
      <p:sp>
        <p:nvSpPr>
          <p:cNvPr id="102" name="Google Shape;102;p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
          <p:cNvSpPr txBox="1"/>
          <p:nvPr>
            <p:ph type="title"/>
          </p:nvPr>
        </p:nvSpPr>
        <p:spPr>
          <a:xfrm>
            <a:off x="457200" y="533400"/>
            <a:ext cx="8229600" cy="5826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Times New Roman"/>
                <a:ea typeface="Times New Roman"/>
                <a:cs typeface="Times New Roman"/>
                <a:sym typeface="Times New Roman"/>
              </a:rPr>
              <a:t>Module 1</a:t>
            </a:r>
            <a:endParaRPr>
              <a:latin typeface="Times New Roman"/>
              <a:ea typeface="Times New Roman"/>
              <a:cs typeface="Times New Roman"/>
              <a:sym typeface="Times New Roman"/>
            </a:endParaRPr>
          </a:p>
        </p:txBody>
      </p:sp>
      <p:sp>
        <p:nvSpPr>
          <p:cNvPr id="109" name="Google Shape;109;p2"/>
          <p:cNvSpPr txBox="1"/>
          <p:nvPr>
            <p:ph idx="1" type="body"/>
          </p:nvPr>
        </p:nvSpPr>
        <p:spPr>
          <a:xfrm>
            <a:off x="76200" y="1531517"/>
            <a:ext cx="9067800" cy="47545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Font typeface="Times New Roman"/>
              <a:buChar char="•"/>
            </a:pPr>
            <a:r>
              <a:rPr lang="en-US">
                <a:latin typeface="Times New Roman"/>
                <a:ea typeface="Times New Roman"/>
                <a:cs typeface="Times New Roman"/>
                <a:sym typeface="Times New Roman"/>
              </a:rPr>
              <a:t>Introduction To Information Systems (IS)</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Font typeface="Times New Roman"/>
              <a:buChar char="•"/>
            </a:pPr>
            <a:r>
              <a:rPr lang="en-US">
                <a:latin typeface="Times New Roman"/>
                <a:ea typeface="Times New Roman"/>
                <a:cs typeface="Times New Roman"/>
                <a:sym typeface="Times New Roman"/>
              </a:rPr>
              <a:t> Computer Based Information Systems (Chapter 1)</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Font typeface="Times New Roman"/>
              <a:buChar char="•"/>
            </a:pPr>
            <a:r>
              <a:rPr lang="en-US">
                <a:latin typeface="Times New Roman"/>
                <a:ea typeface="Times New Roman"/>
                <a:cs typeface="Times New Roman"/>
                <a:sym typeface="Times New Roman"/>
              </a:rPr>
              <a:t> Impact of IT on organizations (Chapter 1)</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Font typeface="Times New Roman"/>
              <a:buChar char="•"/>
            </a:pPr>
            <a:r>
              <a:rPr lang="en-US">
                <a:latin typeface="Times New Roman"/>
                <a:ea typeface="Times New Roman"/>
                <a:cs typeface="Times New Roman"/>
                <a:sym typeface="Times New Roman"/>
              </a:rPr>
              <a:t> Importance of IS to Society (Chapter 1)</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Font typeface="Times New Roman"/>
              <a:buChar char="•"/>
            </a:pP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110" name="Google Shape;110;p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1" name="Google Shape;111;p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
          <p:cNvSpPr txBox="1"/>
          <p:nvPr>
            <p:ph type="title"/>
          </p:nvPr>
        </p:nvSpPr>
        <p:spPr>
          <a:xfrm>
            <a:off x="457200" y="190500"/>
            <a:ext cx="8229600" cy="5826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Times New Roman"/>
                <a:ea typeface="Times New Roman"/>
                <a:cs typeface="Times New Roman"/>
                <a:sym typeface="Times New Roman"/>
              </a:rPr>
              <a:t>Information technology (IT)</a:t>
            </a:r>
            <a:endParaRPr>
              <a:latin typeface="Times New Roman"/>
              <a:ea typeface="Times New Roman"/>
              <a:cs typeface="Times New Roman"/>
              <a:sym typeface="Times New Roman"/>
            </a:endParaRPr>
          </a:p>
        </p:txBody>
      </p:sp>
      <p:sp>
        <p:nvSpPr>
          <p:cNvPr id="118" name="Google Shape;118;p3"/>
          <p:cNvSpPr txBox="1"/>
          <p:nvPr>
            <p:ph idx="1" type="body"/>
          </p:nvPr>
        </p:nvSpPr>
        <p:spPr>
          <a:xfrm>
            <a:off x="457200" y="957580"/>
            <a:ext cx="8458200" cy="5213985"/>
          </a:xfrm>
          <a:prstGeom prst="rect">
            <a:avLst/>
          </a:prstGeom>
          <a:noFill/>
          <a:ln>
            <a:noFill/>
          </a:ln>
        </p:spPr>
        <p:txBody>
          <a:bodyPr anchorCtr="0" anchor="t" bIns="45700" lIns="91425" spcFirstLastPara="1" rIns="91425" wrap="square" tIns="45700">
            <a:normAutofit lnSpcReduction="20000"/>
          </a:bodyPr>
          <a:lstStyle/>
          <a:p>
            <a:pPr indent="-342900" lvl="0" marL="342900" rtl="0" algn="l">
              <a:spcBef>
                <a:spcPts val="0"/>
              </a:spcBef>
              <a:spcAft>
                <a:spcPts val="0"/>
              </a:spcAft>
              <a:buClr>
                <a:schemeClr val="dk1"/>
              </a:buClr>
              <a:buSzPts val="2595"/>
              <a:buFont typeface="Times New Roman"/>
              <a:buChar char="•"/>
            </a:pPr>
            <a:r>
              <a:rPr lang="en-US" sz="2595">
                <a:latin typeface="Times New Roman"/>
                <a:ea typeface="Times New Roman"/>
                <a:cs typeface="Times New Roman"/>
                <a:sym typeface="Times New Roman"/>
              </a:rPr>
              <a:t>IT has far reaching effect on individuals, organizations and our planet.</a:t>
            </a:r>
            <a:endParaRPr sz="2595">
              <a:latin typeface="Times New Roman"/>
              <a:ea typeface="Times New Roman"/>
              <a:cs typeface="Times New Roman"/>
              <a:sym typeface="Times New Roman"/>
            </a:endParaRPr>
          </a:p>
          <a:p>
            <a:pPr indent="-178117" lvl="0" marL="342900" rtl="0" algn="l">
              <a:spcBef>
                <a:spcPts val="519"/>
              </a:spcBef>
              <a:spcAft>
                <a:spcPts val="0"/>
              </a:spcAft>
              <a:buClr>
                <a:schemeClr val="dk1"/>
              </a:buClr>
              <a:buSzPts val="2595"/>
              <a:buFont typeface="Arial"/>
              <a:buNone/>
            </a:pPr>
            <a:r>
              <a:t/>
            </a:r>
            <a:endParaRPr sz="2595">
              <a:latin typeface="Times New Roman"/>
              <a:ea typeface="Times New Roman"/>
              <a:cs typeface="Times New Roman"/>
              <a:sym typeface="Times New Roman"/>
            </a:endParaRPr>
          </a:p>
          <a:p>
            <a:pPr indent="-342900" lvl="0" marL="342900" rtl="0" algn="l">
              <a:spcBef>
                <a:spcPts val="519"/>
              </a:spcBef>
              <a:spcAft>
                <a:spcPts val="0"/>
              </a:spcAft>
              <a:buClr>
                <a:schemeClr val="dk1"/>
              </a:buClr>
              <a:buSzPts val="2595"/>
              <a:buFont typeface="Times New Roman"/>
              <a:buChar char="•"/>
            </a:pPr>
            <a:r>
              <a:rPr lang="en-US" sz="2595">
                <a:latin typeface="Times New Roman"/>
                <a:ea typeface="Times New Roman"/>
                <a:cs typeface="Times New Roman"/>
                <a:sym typeface="Times New Roman"/>
              </a:rPr>
              <a:t>IT has created a significant impact on individuals, societies, global economy and physical environment.</a:t>
            </a:r>
            <a:endParaRPr sz="2595">
              <a:latin typeface="Times New Roman"/>
              <a:ea typeface="Times New Roman"/>
              <a:cs typeface="Times New Roman"/>
              <a:sym typeface="Times New Roman"/>
            </a:endParaRPr>
          </a:p>
          <a:p>
            <a:pPr indent="-178117" lvl="0" marL="342900" rtl="0" algn="l">
              <a:spcBef>
                <a:spcPts val="519"/>
              </a:spcBef>
              <a:spcAft>
                <a:spcPts val="0"/>
              </a:spcAft>
              <a:buClr>
                <a:schemeClr val="dk1"/>
              </a:buClr>
              <a:buSzPts val="2595"/>
              <a:buFont typeface="Arial"/>
              <a:buNone/>
            </a:pPr>
            <a:r>
              <a:t/>
            </a:r>
            <a:endParaRPr sz="2595">
              <a:latin typeface="Times New Roman"/>
              <a:ea typeface="Times New Roman"/>
              <a:cs typeface="Times New Roman"/>
              <a:sym typeface="Times New Roman"/>
            </a:endParaRPr>
          </a:p>
          <a:p>
            <a:pPr indent="-342900" lvl="0" marL="342900" rtl="0" algn="l">
              <a:spcBef>
                <a:spcPts val="519"/>
              </a:spcBef>
              <a:spcAft>
                <a:spcPts val="0"/>
              </a:spcAft>
              <a:buClr>
                <a:schemeClr val="dk1"/>
              </a:buClr>
              <a:buSzPts val="2595"/>
              <a:buFont typeface="Times New Roman"/>
              <a:buChar char="•"/>
            </a:pPr>
            <a:r>
              <a:rPr lang="en-US" sz="2595">
                <a:latin typeface="Times New Roman"/>
                <a:ea typeface="Times New Roman"/>
                <a:cs typeface="Times New Roman"/>
                <a:sym typeface="Times New Roman"/>
              </a:rPr>
              <a:t>IT is making world smaller and enabling people to communicate, collaborate and compete </a:t>
            </a:r>
            <a:endParaRPr sz="2595">
              <a:latin typeface="Times New Roman"/>
              <a:ea typeface="Times New Roman"/>
              <a:cs typeface="Times New Roman"/>
              <a:sym typeface="Times New Roman"/>
            </a:endParaRPr>
          </a:p>
          <a:p>
            <a:pPr indent="-178117" lvl="0" marL="342900" rtl="0" algn="l">
              <a:spcBef>
                <a:spcPts val="519"/>
              </a:spcBef>
              <a:spcAft>
                <a:spcPts val="0"/>
              </a:spcAft>
              <a:buClr>
                <a:schemeClr val="dk1"/>
              </a:buClr>
              <a:buSzPts val="2595"/>
              <a:buFont typeface="Arial"/>
              <a:buNone/>
            </a:pPr>
            <a:r>
              <a:t/>
            </a:r>
            <a:endParaRPr sz="2595">
              <a:latin typeface="Times New Roman"/>
              <a:ea typeface="Times New Roman"/>
              <a:cs typeface="Times New Roman"/>
              <a:sym typeface="Times New Roman"/>
            </a:endParaRPr>
          </a:p>
          <a:p>
            <a:pPr indent="-342900" lvl="0" marL="342900" rtl="0" algn="l">
              <a:spcBef>
                <a:spcPts val="519"/>
              </a:spcBef>
              <a:spcAft>
                <a:spcPts val="0"/>
              </a:spcAft>
              <a:buClr>
                <a:schemeClr val="dk1"/>
              </a:buClr>
              <a:buSzPts val="2595"/>
              <a:buFont typeface="Times New Roman"/>
              <a:buChar char="•"/>
            </a:pPr>
            <a:r>
              <a:rPr lang="en-US" sz="2595">
                <a:latin typeface="Times New Roman"/>
                <a:ea typeface="Times New Roman"/>
                <a:cs typeface="Times New Roman"/>
                <a:sym typeface="Times New Roman"/>
              </a:rPr>
              <a:t>Environment is global, massively interconnected, intensely competitive,24/7/365, real time , rapidly changing and information intensive….so oraganization must use IT effectively</a:t>
            </a:r>
            <a:endParaRPr sz="2595">
              <a:latin typeface="Times New Roman"/>
              <a:ea typeface="Times New Roman"/>
              <a:cs typeface="Times New Roman"/>
              <a:sym typeface="Times New Roman"/>
            </a:endParaRPr>
          </a:p>
        </p:txBody>
      </p:sp>
      <p:sp>
        <p:nvSpPr>
          <p:cNvPr id="119" name="Google Shape;119;p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0" name="Google Shape;120;p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4"/>
          <p:cNvSpPr txBox="1"/>
          <p:nvPr>
            <p:ph type="title"/>
          </p:nvPr>
        </p:nvSpPr>
        <p:spPr>
          <a:xfrm>
            <a:off x="228600" y="533400"/>
            <a:ext cx="9749118"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latin typeface="Times New Roman"/>
                <a:ea typeface="Times New Roman"/>
                <a:cs typeface="Times New Roman"/>
                <a:sym typeface="Times New Roman"/>
              </a:rPr>
              <a:t>1 - Introduction To Information Systems (IS)</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sp>
        <p:nvSpPr>
          <p:cNvPr id="126" name="Google Shape;126;p4"/>
          <p:cNvSpPr txBox="1"/>
          <p:nvPr>
            <p:ph idx="1" type="body"/>
          </p:nvPr>
        </p:nvSpPr>
        <p:spPr>
          <a:xfrm>
            <a:off x="457200" y="1447800"/>
            <a:ext cx="8382000" cy="48006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50000"/>
              </a:lnSpc>
              <a:spcBef>
                <a:spcPts val="0"/>
              </a:spcBef>
              <a:spcAft>
                <a:spcPts val="0"/>
              </a:spcAft>
              <a:buClr>
                <a:schemeClr val="dk1"/>
              </a:buClr>
              <a:buSzPts val="2800"/>
              <a:buFont typeface="Times New Roman"/>
              <a:buChar char="•"/>
            </a:pPr>
            <a:r>
              <a:rPr lang="en-US" sz="2800">
                <a:latin typeface="Times New Roman"/>
                <a:ea typeface="Times New Roman"/>
                <a:cs typeface="Times New Roman"/>
                <a:sym typeface="Times New Roman"/>
              </a:rPr>
              <a:t>Information technology (IT) refers to any computer-based tool that people use to work with information and to support the information and information processing needs of an organization.</a:t>
            </a:r>
            <a:endParaRPr sz="2800">
              <a:latin typeface="Times New Roman"/>
              <a:ea typeface="Times New Roman"/>
              <a:cs typeface="Times New Roman"/>
              <a:sym typeface="Times New Roman"/>
            </a:endParaRPr>
          </a:p>
          <a:p>
            <a:pPr indent="-342900" lvl="0" marL="342900" rtl="0" algn="just">
              <a:lnSpc>
                <a:spcPct val="150000"/>
              </a:lnSpc>
              <a:spcBef>
                <a:spcPts val="560"/>
              </a:spcBef>
              <a:spcAft>
                <a:spcPts val="0"/>
              </a:spcAft>
              <a:buClr>
                <a:schemeClr val="dk1"/>
              </a:buClr>
              <a:buSzPts val="2800"/>
              <a:buFont typeface="Times New Roman"/>
              <a:buChar char="•"/>
            </a:pPr>
            <a:r>
              <a:rPr lang="en-US" sz="2800">
                <a:latin typeface="Times New Roman"/>
                <a:ea typeface="Times New Roman"/>
                <a:cs typeface="Times New Roman"/>
                <a:sym typeface="Times New Roman"/>
              </a:rPr>
              <a:t>Information System(IS) collects, process, stores, analyzes and disseminates information for the specific purposes</a:t>
            </a:r>
            <a:endParaRPr sz="2800">
              <a:latin typeface="Times New Roman"/>
              <a:ea typeface="Times New Roman"/>
              <a:cs typeface="Times New Roman"/>
              <a:sym typeface="Times New Roman"/>
            </a:endParaRPr>
          </a:p>
        </p:txBody>
      </p:sp>
      <p:sp>
        <p:nvSpPr>
          <p:cNvPr id="127" name="Google Shape;127;p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8" name="Google Shape;128;p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5"/>
          <p:cNvSpPr txBox="1"/>
          <p:nvPr>
            <p:ph idx="4294967295" type="subTitle"/>
          </p:nvPr>
        </p:nvSpPr>
        <p:spPr>
          <a:xfrm>
            <a:off x="457200" y="304800"/>
            <a:ext cx="8686800" cy="1676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Why Should I Study Information Systems ?</a:t>
            </a:r>
            <a:endParaRPr sz="3200">
              <a:solidFill>
                <a:schemeClr val="dk1"/>
              </a:solidFill>
              <a:latin typeface="Times New Roman"/>
              <a:ea typeface="Times New Roman"/>
              <a:cs typeface="Times New Roman"/>
              <a:sym typeface="Times New Roman"/>
            </a:endParaRPr>
          </a:p>
        </p:txBody>
      </p:sp>
      <p:sp>
        <p:nvSpPr>
          <p:cNvPr id="135" name="Google Shape;135;p5"/>
          <p:cNvSpPr txBox="1"/>
          <p:nvPr>
            <p:ph idx="4294967295" type="body"/>
          </p:nvPr>
        </p:nvSpPr>
        <p:spPr>
          <a:xfrm>
            <a:off x="381000" y="1295400"/>
            <a:ext cx="7543800" cy="38100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The Informed </a:t>
            </a:r>
            <a:br>
              <a:rPr lang="en-US" sz="3200">
                <a:solidFill>
                  <a:schemeClr val="dk1"/>
                </a:solidFill>
                <a:latin typeface="Times New Roman"/>
                <a:ea typeface="Times New Roman"/>
                <a:cs typeface="Times New Roman"/>
                <a:sym typeface="Times New Roman"/>
              </a:rPr>
            </a:br>
            <a:r>
              <a:rPr lang="en-US" sz="3200">
                <a:solidFill>
                  <a:schemeClr val="dk1"/>
                </a:solidFill>
                <a:latin typeface="Times New Roman"/>
                <a:ea typeface="Times New Roman"/>
                <a:cs typeface="Times New Roman"/>
                <a:sym typeface="Times New Roman"/>
              </a:rPr>
              <a:t>User – You!</a:t>
            </a:r>
            <a:endParaRPr sz="3200">
              <a:solidFill>
                <a:schemeClr val="dk1"/>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1"/>
              </a:buClr>
              <a:buSzPts val="3200"/>
              <a:buFont typeface="Arial"/>
              <a:buNone/>
            </a:pPr>
            <a:r>
              <a:t/>
            </a:r>
            <a:endParaRPr sz="3200">
              <a:solidFill>
                <a:schemeClr val="dk1"/>
              </a:solidFill>
              <a:latin typeface="Times New Roman"/>
              <a:ea typeface="Times New Roman"/>
              <a:cs typeface="Times New Roman"/>
              <a:sym typeface="Times New Roman"/>
            </a:endParaRPr>
          </a:p>
          <a:p>
            <a:pPr indent="-342900" lvl="0" marL="342900" marR="0" rtl="0" algn="l">
              <a:spcBef>
                <a:spcPts val="64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IT Offers Career </a:t>
            </a:r>
            <a:br>
              <a:rPr lang="en-US" sz="3200">
                <a:solidFill>
                  <a:schemeClr val="dk1"/>
                </a:solidFill>
                <a:latin typeface="Times New Roman"/>
                <a:ea typeface="Times New Roman"/>
                <a:cs typeface="Times New Roman"/>
                <a:sym typeface="Times New Roman"/>
              </a:rPr>
            </a:br>
            <a:r>
              <a:rPr lang="en-US" sz="3200">
                <a:solidFill>
                  <a:schemeClr val="dk1"/>
                </a:solidFill>
                <a:latin typeface="Times New Roman"/>
                <a:ea typeface="Times New Roman"/>
                <a:cs typeface="Times New Roman"/>
                <a:sym typeface="Times New Roman"/>
              </a:rPr>
              <a:t>Opportunities</a:t>
            </a:r>
            <a:endParaRPr sz="3200">
              <a:solidFill>
                <a:schemeClr val="dk1"/>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1"/>
              </a:buClr>
              <a:buSzPts val="3200"/>
              <a:buFont typeface="Arial"/>
              <a:buNone/>
            </a:pPr>
            <a:r>
              <a:t/>
            </a:r>
            <a:endParaRPr sz="3200">
              <a:solidFill>
                <a:schemeClr val="dk1"/>
              </a:solidFill>
              <a:latin typeface="Times New Roman"/>
              <a:ea typeface="Times New Roman"/>
              <a:cs typeface="Times New Roman"/>
              <a:sym typeface="Times New Roman"/>
            </a:endParaRPr>
          </a:p>
          <a:p>
            <a:pPr indent="-342900" lvl="0" marL="342900" marR="0" rtl="0" algn="l">
              <a:spcBef>
                <a:spcPts val="64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Managing </a:t>
            </a:r>
            <a:br>
              <a:rPr lang="en-US" sz="3200">
                <a:solidFill>
                  <a:schemeClr val="dk1"/>
                </a:solidFill>
                <a:latin typeface="Times New Roman"/>
                <a:ea typeface="Times New Roman"/>
                <a:cs typeface="Times New Roman"/>
                <a:sym typeface="Times New Roman"/>
              </a:rPr>
            </a:br>
            <a:r>
              <a:rPr lang="en-US" sz="3200">
                <a:solidFill>
                  <a:schemeClr val="dk1"/>
                </a:solidFill>
                <a:latin typeface="Times New Roman"/>
                <a:ea typeface="Times New Roman"/>
                <a:cs typeface="Times New Roman"/>
                <a:sym typeface="Times New Roman"/>
              </a:rPr>
              <a:t>Information Resources</a:t>
            </a:r>
            <a:endParaRPr sz="3200">
              <a:solidFill>
                <a:schemeClr val="dk1"/>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1"/>
              </a:buClr>
              <a:buSzPts val="3200"/>
              <a:buFont typeface="Arial"/>
              <a:buNone/>
            </a:pPr>
            <a:r>
              <a:t/>
            </a:r>
            <a:endParaRPr sz="3200">
              <a:solidFill>
                <a:schemeClr val="dk1"/>
              </a:solidFill>
              <a:latin typeface="Times New Roman"/>
              <a:ea typeface="Times New Roman"/>
              <a:cs typeface="Times New Roman"/>
              <a:sym typeface="Times New Roman"/>
            </a:endParaRPr>
          </a:p>
        </p:txBody>
      </p:sp>
      <p:pic>
        <p:nvPicPr>
          <p:cNvPr id="136" name="Google Shape;136;p5"/>
          <p:cNvPicPr preferRelativeResize="0"/>
          <p:nvPr/>
        </p:nvPicPr>
        <p:blipFill rotWithShape="1">
          <a:blip r:embed="rId3">
            <a:alphaModFix/>
          </a:blip>
          <a:srcRect b="0" l="0" r="0" t="0"/>
          <a:stretch/>
        </p:blipFill>
        <p:spPr>
          <a:xfrm>
            <a:off x="5257800" y="2057400"/>
            <a:ext cx="3239600" cy="2819400"/>
          </a:xfrm>
          <a:prstGeom prst="rect">
            <a:avLst/>
          </a:prstGeom>
          <a:noFill/>
          <a:ln>
            <a:noFill/>
          </a:ln>
        </p:spPr>
      </p:pic>
      <p:sp>
        <p:nvSpPr>
          <p:cNvPr id="137" name="Google Shape;137;p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38" name="Google Shape;138;p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6"/>
          <p:cNvSpPr txBox="1"/>
          <p:nvPr>
            <p:ph idx="4294967295" type="subTitle"/>
          </p:nvPr>
        </p:nvSpPr>
        <p:spPr>
          <a:xfrm>
            <a:off x="609600" y="533400"/>
            <a:ext cx="8229600" cy="49530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Reasons Why You Should Be An Informed User…</a:t>
            </a:r>
            <a:endParaRPr sz="3200">
              <a:solidFill>
                <a:schemeClr val="dk1"/>
              </a:solidFill>
              <a:latin typeface="Times New Roman"/>
              <a:ea typeface="Times New Roman"/>
              <a:cs typeface="Times New Roman"/>
              <a:sym typeface="Times New Roman"/>
            </a:endParaRPr>
          </a:p>
        </p:txBody>
      </p:sp>
      <p:sp>
        <p:nvSpPr>
          <p:cNvPr id="144" name="Google Shape;144;p6"/>
          <p:cNvSpPr txBox="1"/>
          <p:nvPr>
            <p:ph idx="4294967295" type="body"/>
          </p:nvPr>
        </p:nvSpPr>
        <p:spPr>
          <a:xfrm>
            <a:off x="609600" y="1676400"/>
            <a:ext cx="8229600" cy="4953000"/>
          </a:xfrm>
          <a:prstGeom prst="rect">
            <a:avLst/>
          </a:prstGeom>
          <a:noFill/>
          <a:ln>
            <a:noFill/>
          </a:ln>
        </p:spPr>
        <p:txBody>
          <a:bodyPr anchorCtr="0" anchor="t" bIns="45700" lIns="91425" spcFirstLastPara="1" rIns="91425" wrap="square" tIns="45700">
            <a:normAutofit fontScale="92500" lnSpcReduction="10000"/>
          </a:bodyPr>
          <a:lstStyle/>
          <a:p>
            <a:pPr indent="-514350" lvl="0" marL="514350" marR="0" rtl="0" algn="l">
              <a:spcBef>
                <a:spcPts val="0"/>
              </a:spcBef>
              <a:spcAft>
                <a:spcPts val="0"/>
              </a:spcAft>
              <a:buClr>
                <a:schemeClr val="dk1"/>
              </a:buClr>
              <a:buSzPct val="100000"/>
              <a:buFont typeface="Arial"/>
              <a:buAutoNum type="arabicPeriod"/>
            </a:pPr>
            <a:r>
              <a:rPr lang="en-US" sz="3200">
                <a:solidFill>
                  <a:schemeClr val="dk1"/>
                </a:solidFill>
                <a:latin typeface="Times New Roman"/>
                <a:ea typeface="Times New Roman"/>
                <a:cs typeface="Times New Roman"/>
                <a:sym typeface="Times New Roman"/>
              </a:rPr>
              <a:t>You will benefit more from your organization’s IT applications because you will understand what is “behind” those applications.</a:t>
            </a:r>
            <a:endParaRPr sz="3200">
              <a:solidFill>
                <a:schemeClr val="dk1"/>
              </a:solidFill>
              <a:latin typeface="Times New Roman"/>
              <a:ea typeface="Times New Roman"/>
              <a:cs typeface="Times New Roman"/>
              <a:sym typeface="Times New Roman"/>
            </a:endParaRPr>
          </a:p>
          <a:p>
            <a:pPr indent="-326390" lvl="0" marL="514350" marR="0" rtl="0" algn="l">
              <a:spcBef>
                <a:spcPts val="592"/>
              </a:spcBef>
              <a:spcAft>
                <a:spcPts val="0"/>
              </a:spcAft>
              <a:buClr>
                <a:schemeClr val="dk1"/>
              </a:buClr>
              <a:buSzPct val="100000"/>
              <a:buFont typeface="Arial"/>
              <a:buNone/>
            </a:pPr>
            <a:r>
              <a:t/>
            </a:r>
            <a:endParaRPr sz="3200">
              <a:solidFill>
                <a:schemeClr val="dk1"/>
              </a:solidFill>
              <a:latin typeface="Times New Roman"/>
              <a:ea typeface="Times New Roman"/>
              <a:cs typeface="Times New Roman"/>
              <a:sym typeface="Times New Roman"/>
            </a:endParaRPr>
          </a:p>
          <a:p>
            <a:pPr indent="-514350" lvl="0" marL="514350" marR="0" rtl="0" algn="l">
              <a:spcBef>
                <a:spcPts val="592"/>
              </a:spcBef>
              <a:spcAft>
                <a:spcPts val="0"/>
              </a:spcAft>
              <a:buClr>
                <a:schemeClr val="dk1"/>
              </a:buClr>
              <a:buSzPct val="100000"/>
              <a:buFont typeface="Arial"/>
              <a:buAutoNum type="arabicPeriod"/>
            </a:pPr>
            <a:r>
              <a:rPr lang="en-US" sz="3200">
                <a:solidFill>
                  <a:schemeClr val="dk1"/>
                </a:solidFill>
                <a:latin typeface="Times New Roman"/>
                <a:ea typeface="Times New Roman"/>
                <a:cs typeface="Times New Roman"/>
                <a:sym typeface="Times New Roman"/>
              </a:rPr>
              <a:t>Your input can enhance your organization’s IT applications.</a:t>
            </a:r>
            <a:endParaRPr sz="3200">
              <a:solidFill>
                <a:schemeClr val="dk1"/>
              </a:solidFill>
              <a:latin typeface="Times New Roman"/>
              <a:ea typeface="Times New Roman"/>
              <a:cs typeface="Times New Roman"/>
              <a:sym typeface="Times New Roman"/>
            </a:endParaRPr>
          </a:p>
          <a:p>
            <a:pPr indent="-326390" lvl="0" marL="514350" marR="0" rtl="0" algn="l">
              <a:spcBef>
                <a:spcPts val="592"/>
              </a:spcBef>
              <a:spcAft>
                <a:spcPts val="0"/>
              </a:spcAft>
              <a:buClr>
                <a:schemeClr val="dk1"/>
              </a:buClr>
              <a:buSzPct val="100000"/>
              <a:buFont typeface="Arial"/>
              <a:buNone/>
            </a:pPr>
            <a:r>
              <a:t/>
            </a:r>
            <a:endParaRPr sz="3200">
              <a:solidFill>
                <a:schemeClr val="dk1"/>
              </a:solidFill>
              <a:latin typeface="Times New Roman"/>
              <a:ea typeface="Times New Roman"/>
              <a:cs typeface="Times New Roman"/>
              <a:sym typeface="Times New Roman"/>
            </a:endParaRPr>
          </a:p>
          <a:p>
            <a:pPr indent="-514350" lvl="0" marL="514350" marR="0" rtl="0" algn="l">
              <a:spcBef>
                <a:spcPts val="592"/>
              </a:spcBef>
              <a:spcAft>
                <a:spcPts val="0"/>
              </a:spcAft>
              <a:buClr>
                <a:schemeClr val="dk1"/>
              </a:buClr>
              <a:buSzPct val="100000"/>
              <a:buFont typeface="Arial"/>
              <a:buAutoNum type="arabicPeriod"/>
            </a:pPr>
            <a:r>
              <a:rPr lang="en-US" sz="3200">
                <a:solidFill>
                  <a:schemeClr val="dk1"/>
                </a:solidFill>
                <a:latin typeface="Times New Roman"/>
                <a:ea typeface="Times New Roman"/>
                <a:cs typeface="Times New Roman"/>
                <a:sym typeface="Times New Roman"/>
              </a:rPr>
              <a:t>As you enter the workforce you can assist in selecting the IT applications your organization will use.</a:t>
            </a:r>
            <a:endParaRPr sz="3200">
              <a:solidFill>
                <a:schemeClr val="dk1"/>
              </a:solidFill>
              <a:latin typeface="Times New Roman"/>
              <a:ea typeface="Times New Roman"/>
              <a:cs typeface="Times New Roman"/>
              <a:sym typeface="Times New Roman"/>
            </a:endParaRPr>
          </a:p>
        </p:txBody>
      </p:sp>
      <p:sp>
        <p:nvSpPr>
          <p:cNvPr id="145" name="Google Shape;145;p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46" name="Google Shape;146;p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7"/>
          <p:cNvSpPr txBox="1"/>
          <p:nvPr>
            <p:ph idx="4294967295" type="subTitle"/>
          </p:nvPr>
        </p:nvSpPr>
        <p:spPr>
          <a:xfrm>
            <a:off x="533400" y="685800"/>
            <a:ext cx="8229600" cy="4953000"/>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Reasons Why You Should Be An Informed User (con’t)…</a:t>
            </a:r>
            <a:endParaRPr sz="3200">
              <a:solidFill>
                <a:schemeClr val="dk1"/>
              </a:solidFill>
              <a:latin typeface="Times New Roman"/>
              <a:ea typeface="Times New Roman"/>
              <a:cs typeface="Times New Roman"/>
              <a:sym typeface="Times New Roman"/>
            </a:endParaRPr>
          </a:p>
        </p:txBody>
      </p:sp>
      <p:sp>
        <p:nvSpPr>
          <p:cNvPr id="152" name="Google Shape;152;p7"/>
          <p:cNvSpPr txBox="1"/>
          <p:nvPr>
            <p:ph idx="4294967295" type="body"/>
          </p:nvPr>
        </p:nvSpPr>
        <p:spPr>
          <a:xfrm>
            <a:off x="304799" y="2100169"/>
            <a:ext cx="8305800" cy="3962400"/>
          </a:xfrm>
          <a:prstGeom prst="rect">
            <a:avLst/>
          </a:prstGeom>
          <a:noFill/>
          <a:ln>
            <a:noFill/>
          </a:ln>
        </p:spPr>
        <p:txBody>
          <a:bodyPr anchorCtr="0" anchor="t" bIns="45700" lIns="91425" spcFirstLastPara="1" rIns="91425" wrap="square" tIns="45700">
            <a:normAutofit fontScale="90000" lnSpcReduction="20000"/>
          </a:bodyPr>
          <a:lstStyle/>
          <a:p>
            <a:pPr indent="-514350" lvl="0" marL="514350" marR="0" rtl="0" algn="l">
              <a:spcBef>
                <a:spcPts val="0"/>
              </a:spcBef>
              <a:spcAft>
                <a:spcPts val="0"/>
              </a:spcAft>
              <a:buClr>
                <a:schemeClr val="dk1"/>
              </a:buClr>
              <a:buSzPct val="100000"/>
              <a:buFont typeface="Arial"/>
              <a:buAutoNum type="arabicPeriod" startAt="4"/>
            </a:pPr>
            <a:r>
              <a:rPr lang="en-US" sz="3200">
                <a:solidFill>
                  <a:schemeClr val="dk1"/>
                </a:solidFill>
                <a:latin typeface="Times New Roman"/>
                <a:ea typeface="Times New Roman"/>
                <a:cs typeface="Times New Roman"/>
                <a:sym typeface="Times New Roman"/>
              </a:rPr>
              <a:t>You will aware of both new information technologies and rapid developments in existing technologies.</a:t>
            </a:r>
            <a:endParaRPr sz="3200">
              <a:solidFill>
                <a:schemeClr val="dk1"/>
              </a:solidFill>
              <a:latin typeface="Times New Roman"/>
              <a:ea typeface="Times New Roman"/>
              <a:cs typeface="Times New Roman"/>
              <a:sym typeface="Times New Roman"/>
            </a:endParaRPr>
          </a:p>
          <a:p>
            <a:pPr indent="-331470" lvl="0" marL="514350" marR="0" rtl="0" algn="l">
              <a:spcBef>
                <a:spcPts val="576"/>
              </a:spcBef>
              <a:spcAft>
                <a:spcPts val="0"/>
              </a:spcAft>
              <a:buClr>
                <a:schemeClr val="dk1"/>
              </a:buClr>
              <a:buSzPct val="100000"/>
              <a:buFont typeface="Arial"/>
              <a:buNone/>
            </a:pPr>
            <a:r>
              <a:t/>
            </a:r>
            <a:endParaRPr sz="3200">
              <a:solidFill>
                <a:schemeClr val="dk1"/>
              </a:solidFill>
              <a:latin typeface="Times New Roman"/>
              <a:ea typeface="Times New Roman"/>
              <a:cs typeface="Times New Roman"/>
              <a:sym typeface="Times New Roman"/>
            </a:endParaRPr>
          </a:p>
          <a:p>
            <a:pPr indent="-514350" lvl="0" marL="514350" marR="0" rtl="0" algn="l">
              <a:spcBef>
                <a:spcPts val="576"/>
              </a:spcBef>
              <a:spcAft>
                <a:spcPts val="0"/>
              </a:spcAft>
              <a:buClr>
                <a:schemeClr val="dk1"/>
              </a:buClr>
              <a:buSzPct val="100000"/>
              <a:buFont typeface="Arial"/>
              <a:buAutoNum type="arabicPeriod" startAt="4"/>
            </a:pPr>
            <a:r>
              <a:rPr lang="en-US" sz="3200">
                <a:solidFill>
                  <a:schemeClr val="dk1"/>
                </a:solidFill>
                <a:latin typeface="Times New Roman"/>
                <a:ea typeface="Times New Roman"/>
                <a:cs typeface="Times New Roman"/>
                <a:sym typeface="Times New Roman"/>
              </a:rPr>
              <a:t>You will understand how using IT can improve your organization’s performance.</a:t>
            </a:r>
            <a:endParaRPr sz="3200">
              <a:solidFill>
                <a:schemeClr val="dk1"/>
              </a:solidFill>
              <a:latin typeface="Times New Roman"/>
              <a:ea typeface="Times New Roman"/>
              <a:cs typeface="Times New Roman"/>
              <a:sym typeface="Times New Roman"/>
            </a:endParaRPr>
          </a:p>
          <a:p>
            <a:pPr indent="-331470" lvl="0" marL="514350" marR="0" rtl="0" algn="l">
              <a:spcBef>
                <a:spcPts val="576"/>
              </a:spcBef>
              <a:spcAft>
                <a:spcPts val="0"/>
              </a:spcAft>
              <a:buClr>
                <a:schemeClr val="dk1"/>
              </a:buClr>
              <a:buSzPct val="100000"/>
              <a:buFont typeface="Arial"/>
              <a:buNone/>
            </a:pPr>
            <a:r>
              <a:t/>
            </a:r>
            <a:endParaRPr sz="3200">
              <a:solidFill>
                <a:schemeClr val="dk1"/>
              </a:solidFill>
              <a:latin typeface="Times New Roman"/>
              <a:ea typeface="Times New Roman"/>
              <a:cs typeface="Times New Roman"/>
              <a:sym typeface="Times New Roman"/>
            </a:endParaRPr>
          </a:p>
          <a:p>
            <a:pPr indent="-514350" lvl="0" marL="514350" marR="0" rtl="0" algn="l">
              <a:spcBef>
                <a:spcPts val="576"/>
              </a:spcBef>
              <a:spcAft>
                <a:spcPts val="0"/>
              </a:spcAft>
              <a:buClr>
                <a:schemeClr val="dk1"/>
              </a:buClr>
              <a:buSzPct val="100000"/>
              <a:buFont typeface="Arial"/>
              <a:buAutoNum type="arabicPeriod" startAt="4"/>
            </a:pPr>
            <a:r>
              <a:rPr lang="en-US" sz="3200">
                <a:solidFill>
                  <a:schemeClr val="dk1"/>
                </a:solidFill>
                <a:latin typeface="Times New Roman"/>
                <a:ea typeface="Times New Roman"/>
                <a:cs typeface="Times New Roman"/>
                <a:sym typeface="Times New Roman"/>
              </a:rPr>
              <a:t>If you are entrepreneurial minded, you can use IT to start your own business.</a:t>
            </a:r>
            <a:endParaRPr sz="3200">
              <a:solidFill>
                <a:schemeClr val="dk1"/>
              </a:solidFill>
              <a:latin typeface="Times New Roman"/>
              <a:ea typeface="Times New Roman"/>
              <a:cs typeface="Times New Roman"/>
              <a:sym typeface="Times New Roman"/>
            </a:endParaRPr>
          </a:p>
        </p:txBody>
      </p:sp>
      <p:sp>
        <p:nvSpPr>
          <p:cNvPr id="153" name="Google Shape;153;p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54" name="Google Shape;154;p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8"/>
          <p:cNvSpPr txBox="1"/>
          <p:nvPr>
            <p:ph type="title"/>
          </p:nvPr>
        </p:nvSpPr>
        <p:spPr>
          <a:xfrm>
            <a:off x="609600" y="457200"/>
            <a:ext cx="8534400" cy="5334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br>
              <a:rPr lang="en-US">
                <a:solidFill>
                  <a:srgbClr val="6600CC"/>
                </a:solidFill>
              </a:rPr>
            </a:br>
            <a:br>
              <a:rPr lang="en-US">
                <a:solidFill>
                  <a:srgbClr val="6600CC"/>
                </a:solidFill>
              </a:rPr>
            </a:br>
            <a:r>
              <a:rPr lang="en-US">
                <a:solidFill>
                  <a:srgbClr val="6600CC"/>
                </a:solidFill>
              </a:rPr>
              <a:t>Why should I study IS?</a:t>
            </a:r>
            <a:br>
              <a:rPr lang="en-US">
                <a:solidFill>
                  <a:srgbClr val="6600CC"/>
                </a:solidFill>
              </a:rPr>
            </a:br>
            <a:br>
              <a:rPr lang="en-US">
                <a:solidFill>
                  <a:srgbClr val="6600CC"/>
                </a:solidFill>
              </a:rPr>
            </a:br>
            <a:r>
              <a:rPr lang="en-US" sz="2200">
                <a:solidFill>
                  <a:srgbClr val="6600CC"/>
                </a:solidFill>
              </a:rPr>
              <a:t>IT skills open many doors because IT is so widely used. </a:t>
            </a:r>
            <a:endParaRPr>
              <a:solidFill>
                <a:srgbClr val="6600CC"/>
              </a:solidFill>
            </a:endParaRPr>
          </a:p>
        </p:txBody>
      </p:sp>
      <p:pic>
        <p:nvPicPr>
          <p:cNvPr id="160" name="Google Shape;160;p8"/>
          <p:cNvPicPr preferRelativeResize="0"/>
          <p:nvPr>
            <p:ph idx="1" type="body"/>
          </p:nvPr>
        </p:nvPicPr>
        <p:blipFill rotWithShape="1">
          <a:blip r:embed="rId3">
            <a:alphaModFix/>
          </a:blip>
          <a:srcRect b="0" l="0" r="0" t="0"/>
          <a:stretch/>
        </p:blipFill>
        <p:spPr>
          <a:xfrm>
            <a:off x="1804035" y="2019300"/>
            <a:ext cx="6165215" cy="4107180"/>
          </a:xfrm>
          <a:prstGeom prst="rect">
            <a:avLst/>
          </a:prstGeom>
          <a:noFill/>
          <a:ln>
            <a:noFill/>
          </a:ln>
        </p:spPr>
      </p:pic>
      <p:sp>
        <p:nvSpPr>
          <p:cNvPr id="161" name="Google Shape;161;p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2" name="Google Shape;162;p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9"/>
          <p:cNvSpPr txBox="1"/>
          <p:nvPr>
            <p:ph idx="4294967295" type="subTitle"/>
          </p:nvPr>
        </p:nvSpPr>
        <p:spPr>
          <a:xfrm>
            <a:off x="304800" y="152604"/>
            <a:ext cx="8153399" cy="1676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IT Offers Career Opportunities</a:t>
            </a:r>
            <a:endParaRPr sz="3200">
              <a:solidFill>
                <a:schemeClr val="dk1"/>
              </a:solidFill>
              <a:latin typeface="Times New Roman"/>
              <a:ea typeface="Times New Roman"/>
              <a:cs typeface="Times New Roman"/>
              <a:sym typeface="Times New Roman"/>
            </a:endParaRPr>
          </a:p>
        </p:txBody>
      </p:sp>
      <p:sp>
        <p:nvSpPr>
          <p:cNvPr id="169" name="Google Shape;169;p9"/>
          <p:cNvSpPr txBox="1"/>
          <p:nvPr>
            <p:ph idx="4294967295"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Chief Information Officer (CIO)</a:t>
            </a:r>
            <a:endParaRPr sz="3200">
              <a:solidFill>
                <a:schemeClr val="dk1"/>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1"/>
              </a:buClr>
              <a:buSzPts val="3200"/>
              <a:buFont typeface="Arial"/>
              <a:buNone/>
            </a:pPr>
            <a:r>
              <a:t/>
            </a:r>
            <a:endParaRPr sz="3200">
              <a:solidFill>
                <a:schemeClr val="dk1"/>
              </a:solidFill>
              <a:latin typeface="Times New Roman"/>
              <a:ea typeface="Times New Roman"/>
              <a:cs typeface="Times New Roman"/>
              <a:sym typeface="Times New Roman"/>
            </a:endParaRPr>
          </a:p>
          <a:p>
            <a:pPr indent="-342900" lvl="0" marL="342900" marR="0" rtl="0" algn="l">
              <a:spcBef>
                <a:spcPts val="64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Substantial Demand for IT Staff</a:t>
            </a:r>
            <a:endParaRPr sz="3200">
              <a:solidFill>
                <a:schemeClr val="dk1"/>
              </a:solidFill>
              <a:latin typeface="Times New Roman"/>
              <a:ea typeface="Times New Roman"/>
              <a:cs typeface="Times New Roman"/>
              <a:sym typeface="Times New Roman"/>
            </a:endParaRPr>
          </a:p>
          <a:p>
            <a:pPr indent="-285750" lvl="1" marL="742950" marR="0" rtl="0" algn="l">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Programmers</a:t>
            </a:r>
            <a:endParaRPr b="0" i="0" sz="2800" u="none" cap="none" strike="noStrike">
              <a:solidFill>
                <a:schemeClr val="dk1"/>
              </a:solidFill>
              <a:latin typeface="Times New Roman"/>
              <a:ea typeface="Times New Roman"/>
              <a:cs typeface="Times New Roman"/>
              <a:sym typeface="Times New Roman"/>
            </a:endParaRPr>
          </a:p>
          <a:p>
            <a:pPr indent="-285750" lvl="1" marL="742950" marR="0" rtl="0" algn="l">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Business Analysts</a:t>
            </a:r>
            <a:endParaRPr b="0" i="0" sz="2800" u="none" cap="none" strike="noStrike">
              <a:solidFill>
                <a:schemeClr val="dk1"/>
              </a:solidFill>
              <a:latin typeface="Times New Roman"/>
              <a:ea typeface="Times New Roman"/>
              <a:cs typeface="Times New Roman"/>
              <a:sym typeface="Times New Roman"/>
            </a:endParaRPr>
          </a:p>
          <a:p>
            <a:pPr indent="-285750" lvl="1" marL="742950" marR="0" rtl="0" algn="l">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System Analysts</a:t>
            </a:r>
            <a:endParaRPr b="0" i="0" sz="2800" u="none" cap="none" strike="noStrike">
              <a:solidFill>
                <a:schemeClr val="dk1"/>
              </a:solidFill>
              <a:latin typeface="Times New Roman"/>
              <a:ea typeface="Times New Roman"/>
              <a:cs typeface="Times New Roman"/>
              <a:sym typeface="Times New Roman"/>
            </a:endParaRPr>
          </a:p>
          <a:p>
            <a:pPr indent="-285750" lvl="1" marL="742950" marR="0" rtl="0" algn="l">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Designers</a:t>
            </a:r>
            <a:endParaRPr b="0" i="0" sz="2800" u="none" cap="none" strike="noStrike">
              <a:solidFill>
                <a:schemeClr val="dk1"/>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1"/>
              </a:buClr>
              <a:buSzPts val="3200"/>
              <a:buFont typeface="Arial"/>
              <a:buNone/>
            </a:pPr>
            <a:r>
              <a:t/>
            </a:r>
            <a:endParaRPr sz="3200">
              <a:solidFill>
                <a:schemeClr val="dk1"/>
              </a:solidFill>
              <a:latin typeface="Times New Roman"/>
              <a:ea typeface="Times New Roman"/>
              <a:cs typeface="Times New Roman"/>
              <a:sym typeface="Times New Roman"/>
            </a:endParaRPr>
          </a:p>
        </p:txBody>
      </p:sp>
      <p:pic>
        <p:nvPicPr>
          <p:cNvPr id="170" name="Google Shape;170;p9"/>
          <p:cNvPicPr preferRelativeResize="0"/>
          <p:nvPr/>
        </p:nvPicPr>
        <p:blipFill rotWithShape="1">
          <a:blip r:embed="rId3">
            <a:alphaModFix/>
          </a:blip>
          <a:srcRect b="0" l="0" r="0" t="0"/>
          <a:stretch/>
        </p:blipFill>
        <p:spPr>
          <a:xfrm>
            <a:off x="6629660" y="381000"/>
            <a:ext cx="1714500" cy="1199445"/>
          </a:xfrm>
          <a:prstGeom prst="rect">
            <a:avLst/>
          </a:prstGeom>
          <a:noFill/>
          <a:ln>
            <a:noFill/>
          </a:ln>
        </p:spPr>
      </p:pic>
      <p:sp>
        <p:nvSpPr>
          <p:cNvPr id="171" name="Google Shape;171;p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72" name="Google Shape;172;p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0"/>
          <p:cNvSpPr txBox="1"/>
          <p:nvPr>
            <p:ph type="title"/>
          </p:nvPr>
        </p:nvSpPr>
        <p:spPr>
          <a:xfrm>
            <a:off x="457200" y="81897"/>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200">
                <a:solidFill>
                  <a:srgbClr val="6600CC"/>
                </a:solidFill>
              </a:rPr>
              <a:t>IT Offers Career Opportunities</a:t>
            </a:r>
            <a:endParaRPr sz="3200">
              <a:solidFill>
                <a:srgbClr val="6600CC"/>
              </a:solidFill>
            </a:endParaRPr>
          </a:p>
        </p:txBody>
      </p:sp>
      <p:pic>
        <p:nvPicPr>
          <p:cNvPr id="178" name="Google Shape;178;p10"/>
          <p:cNvPicPr preferRelativeResize="0"/>
          <p:nvPr>
            <p:ph idx="1" type="body"/>
          </p:nvPr>
        </p:nvPicPr>
        <p:blipFill rotWithShape="1">
          <a:blip r:embed="rId3">
            <a:alphaModFix/>
          </a:blip>
          <a:srcRect b="0" l="0" r="0" t="0"/>
          <a:stretch/>
        </p:blipFill>
        <p:spPr>
          <a:xfrm>
            <a:off x="152400" y="838200"/>
            <a:ext cx="8980805" cy="5883275"/>
          </a:xfrm>
          <a:prstGeom prst="rect">
            <a:avLst/>
          </a:prstGeom>
          <a:noFill/>
          <a:ln>
            <a:noFill/>
          </a:ln>
        </p:spPr>
      </p:pic>
      <p:sp>
        <p:nvSpPr>
          <p:cNvPr id="179" name="Google Shape;179;p1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0" name="Google Shape;180;p1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1"/>
          <p:cNvSpPr txBox="1"/>
          <p:nvPr>
            <p:ph idx="4294967295" type="subTitle"/>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Managing Information Resources</a:t>
            </a:r>
            <a:endParaRPr sz="3200">
              <a:solidFill>
                <a:schemeClr val="dk1"/>
              </a:solidFill>
              <a:latin typeface="Times New Roman"/>
              <a:ea typeface="Times New Roman"/>
              <a:cs typeface="Times New Roman"/>
              <a:sym typeface="Times New Roman"/>
            </a:endParaRPr>
          </a:p>
        </p:txBody>
      </p:sp>
      <p:sp>
        <p:nvSpPr>
          <p:cNvPr id="187" name="Google Shape;187;p11"/>
          <p:cNvSpPr txBox="1"/>
          <p:nvPr>
            <p:ph idx="4294967295" type="body"/>
          </p:nvPr>
        </p:nvSpPr>
        <p:spPr>
          <a:xfrm>
            <a:off x="609600" y="2286000"/>
            <a:ext cx="8229600" cy="3962400"/>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Managing information systems (IS) is difficult and complex</a:t>
            </a:r>
            <a:endParaRPr sz="3200">
              <a:solidFill>
                <a:schemeClr val="dk1"/>
              </a:solidFill>
              <a:latin typeface="Times New Roman"/>
              <a:ea typeface="Times New Roman"/>
              <a:cs typeface="Times New Roman"/>
              <a:sym typeface="Times New Roman"/>
            </a:endParaRPr>
          </a:p>
          <a:p>
            <a:pPr indent="-342900" lvl="0" marL="342900" marR="0" rtl="0" algn="l">
              <a:spcBef>
                <a:spcPts val="64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Contributing Factors:</a:t>
            </a:r>
            <a:endParaRPr sz="3200">
              <a:solidFill>
                <a:schemeClr val="dk1"/>
              </a:solidFill>
              <a:latin typeface="Times New Roman"/>
              <a:ea typeface="Times New Roman"/>
              <a:cs typeface="Times New Roman"/>
              <a:sym typeface="Times New Roman"/>
            </a:endParaRPr>
          </a:p>
          <a:p>
            <a:pPr indent="-285750" lvl="1" marL="742950" marR="0" rtl="0" algn="l">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 Strategic value of IS’s</a:t>
            </a:r>
            <a:endParaRPr b="0" i="0" sz="2800" u="none" cap="none" strike="noStrike">
              <a:solidFill>
                <a:schemeClr val="dk1"/>
              </a:solidFill>
              <a:latin typeface="Times New Roman"/>
              <a:ea typeface="Times New Roman"/>
              <a:cs typeface="Times New Roman"/>
              <a:sym typeface="Times New Roman"/>
            </a:endParaRPr>
          </a:p>
          <a:p>
            <a:pPr indent="-285750" lvl="1" marL="742950" marR="0" rtl="0" algn="l">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Acquiring, operating, and maintaining IS’s is very expensive</a:t>
            </a:r>
            <a:endParaRPr b="0" i="0" sz="2800" u="none" cap="none" strike="noStrike">
              <a:solidFill>
                <a:schemeClr val="dk1"/>
              </a:solidFill>
              <a:latin typeface="Times New Roman"/>
              <a:ea typeface="Times New Roman"/>
              <a:cs typeface="Times New Roman"/>
              <a:sym typeface="Times New Roman"/>
            </a:endParaRPr>
          </a:p>
          <a:p>
            <a:pPr indent="-285750" lvl="1" marL="742950" marR="0" rtl="0" algn="l">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Evolution of the IS Function</a:t>
            </a:r>
            <a:endParaRPr b="0" i="0" sz="2800" u="none" cap="none" strike="noStrike">
              <a:solidFill>
                <a:schemeClr val="dk1"/>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1"/>
              </a:buClr>
              <a:buSzPts val="3200"/>
              <a:buFont typeface="Arial"/>
              <a:buNone/>
            </a:pPr>
            <a:r>
              <a:t/>
            </a:r>
            <a:endParaRPr sz="3200">
              <a:solidFill>
                <a:schemeClr val="dk1"/>
              </a:solidFill>
              <a:latin typeface="Times New Roman"/>
              <a:ea typeface="Times New Roman"/>
              <a:cs typeface="Times New Roman"/>
              <a:sym typeface="Times New Roman"/>
            </a:endParaRPr>
          </a:p>
        </p:txBody>
      </p:sp>
      <p:sp>
        <p:nvSpPr>
          <p:cNvPr id="188" name="Google Shape;188;p1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89" name="Google Shape;189;p1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2"/>
          <p:cNvSpPr txBox="1"/>
          <p:nvPr>
            <p:ph type="title"/>
          </p:nvPr>
        </p:nvSpPr>
        <p:spPr>
          <a:xfrm>
            <a:off x="457200" y="457200"/>
            <a:ext cx="8229600" cy="5826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6600CC"/>
                </a:solidFill>
                <a:latin typeface="Times New Roman"/>
                <a:ea typeface="Times New Roman"/>
                <a:cs typeface="Times New Roman"/>
                <a:sym typeface="Times New Roman"/>
              </a:rPr>
              <a:t>Managing Information Resources</a:t>
            </a:r>
            <a:endParaRPr>
              <a:solidFill>
                <a:srgbClr val="6600CC"/>
              </a:solidFill>
              <a:latin typeface="Times New Roman"/>
              <a:ea typeface="Times New Roman"/>
              <a:cs typeface="Times New Roman"/>
              <a:sym typeface="Times New Roman"/>
            </a:endParaRPr>
          </a:p>
        </p:txBody>
      </p:sp>
      <p:sp>
        <p:nvSpPr>
          <p:cNvPr id="196" name="Google Shape;196;p12"/>
          <p:cNvSpPr txBox="1"/>
          <p:nvPr>
            <p:ph idx="1" type="body"/>
          </p:nvPr>
        </p:nvSpPr>
        <p:spPr>
          <a:xfrm>
            <a:off x="381000" y="1371600"/>
            <a:ext cx="8382000" cy="5334000"/>
          </a:xfrm>
          <a:prstGeom prst="rect">
            <a:avLst/>
          </a:prstGeom>
          <a:noFill/>
          <a:ln>
            <a:noFill/>
          </a:ln>
        </p:spPr>
        <p:txBody>
          <a:bodyPr anchorCtr="0" anchor="t" bIns="45700" lIns="91425" spcFirstLastPara="1" rIns="91425" wrap="square" tIns="45700">
            <a:noAutofit/>
          </a:bodyPr>
          <a:lstStyle/>
          <a:p>
            <a:pPr indent="-285750" lvl="1" marL="742950" rtl="0" algn="just">
              <a:spcBef>
                <a:spcPts val="0"/>
              </a:spcBef>
              <a:spcAft>
                <a:spcPts val="0"/>
              </a:spcAft>
              <a:buClr>
                <a:schemeClr val="dk1"/>
              </a:buClr>
              <a:buSzPts val="2800"/>
              <a:buFont typeface="Arial"/>
              <a:buChar char="–"/>
            </a:pPr>
            <a:r>
              <a:rPr b="1" lang="en-US"/>
              <a:t>Strategic value of IS’s</a:t>
            </a:r>
            <a:endParaRPr b="1"/>
          </a:p>
          <a:p>
            <a:pPr indent="-342900" lvl="0" marL="342900" rtl="0" algn="just">
              <a:spcBef>
                <a:spcPts val="56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 First, information systems have enormous strategic value to organizations. Firms rely on them so heavily that, in some cases, when these systems are not working (even for a short time), the firm cannot function. (This situation is called “being</a:t>
            </a:r>
            <a:endParaRPr sz="2800">
              <a:latin typeface="Times New Roman"/>
              <a:ea typeface="Times New Roman"/>
              <a:cs typeface="Times New Roman"/>
              <a:sym typeface="Times New Roman"/>
            </a:endParaRPr>
          </a:p>
          <a:p>
            <a:pPr indent="-342900" lvl="0" marL="342900" rtl="0" algn="just">
              <a:spcBef>
                <a:spcPts val="560"/>
              </a:spcBef>
              <a:spcAft>
                <a:spcPts val="0"/>
              </a:spcAft>
              <a:buClr>
                <a:schemeClr val="dk1"/>
              </a:buClr>
              <a:buSzPts val="2800"/>
              <a:buFont typeface="Times New Roman"/>
              <a:buNone/>
            </a:pPr>
            <a:r>
              <a:rPr lang="en-US" sz="2800">
                <a:latin typeface="Times New Roman"/>
                <a:ea typeface="Times New Roman"/>
                <a:cs typeface="Times New Roman"/>
                <a:sym typeface="Times New Roman"/>
              </a:rPr>
              <a:t>       hostage to information systems.”) </a:t>
            </a:r>
            <a:endParaRPr sz="2800">
              <a:latin typeface="Times New Roman"/>
              <a:ea typeface="Times New Roman"/>
              <a:cs typeface="Times New Roman"/>
              <a:sym typeface="Times New Roman"/>
            </a:endParaRPr>
          </a:p>
        </p:txBody>
      </p:sp>
      <p:sp>
        <p:nvSpPr>
          <p:cNvPr id="197" name="Google Shape;197;p1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8" name="Google Shape;198;p1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3"/>
          <p:cNvSpPr txBox="1"/>
          <p:nvPr>
            <p:ph type="title"/>
          </p:nvPr>
        </p:nvSpPr>
        <p:spPr>
          <a:xfrm>
            <a:off x="457200" y="190500"/>
            <a:ext cx="8229600" cy="5826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6600CC"/>
                </a:solidFill>
                <a:latin typeface="Times New Roman"/>
                <a:ea typeface="Times New Roman"/>
                <a:cs typeface="Times New Roman"/>
                <a:sym typeface="Times New Roman"/>
              </a:rPr>
              <a:t>Managing Information Resources</a:t>
            </a:r>
            <a:endParaRPr>
              <a:solidFill>
                <a:srgbClr val="6600CC"/>
              </a:solidFill>
              <a:latin typeface="Times New Roman"/>
              <a:ea typeface="Times New Roman"/>
              <a:cs typeface="Times New Roman"/>
              <a:sym typeface="Times New Roman"/>
            </a:endParaRPr>
          </a:p>
        </p:txBody>
      </p:sp>
      <p:sp>
        <p:nvSpPr>
          <p:cNvPr id="205" name="Google Shape;205;p13"/>
          <p:cNvSpPr txBox="1"/>
          <p:nvPr>
            <p:ph idx="1" type="body"/>
          </p:nvPr>
        </p:nvSpPr>
        <p:spPr>
          <a:xfrm>
            <a:off x="381000" y="1371600"/>
            <a:ext cx="8382000" cy="53340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2400"/>
              <a:buFont typeface="Times New Roman"/>
              <a:buNone/>
            </a:pPr>
            <a:r>
              <a:rPr b="1" lang="en-US" sz="2400">
                <a:latin typeface="Times New Roman"/>
                <a:ea typeface="Times New Roman"/>
                <a:cs typeface="Times New Roman"/>
                <a:sym typeface="Times New Roman"/>
              </a:rPr>
              <a:t>Second, Acquiring, operating, and maintaining IS’s is very expensive </a:t>
            </a:r>
            <a:endParaRPr b="1" sz="2400">
              <a:latin typeface="Times New Roman"/>
              <a:ea typeface="Times New Roman"/>
              <a:cs typeface="Times New Roman"/>
              <a:sym typeface="Times New Roman"/>
            </a:endParaRPr>
          </a:p>
          <a:p>
            <a:pPr indent="0" lvl="0" marL="0" rtl="0" algn="just">
              <a:spcBef>
                <a:spcPts val="480"/>
              </a:spcBef>
              <a:spcAft>
                <a:spcPts val="0"/>
              </a:spcAft>
              <a:buClr>
                <a:schemeClr val="dk1"/>
              </a:buClr>
              <a:buSzPts val="2400"/>
              <a:buFont typeface="Times New Roman"/>
              <a:buNone/>
            </a:pPr>
            <a:r>
              <a:rPr lang="en-US" sz="2400">
                <a:latin typeface="Times New Roman"/>
                <a:ea typeface="Times New Roman"/>
                <a:cs typeface="Times New Roman"/>
                <a:sym typeface="Times New Roman"/>
              </a:rPr>
              <a:t>Third  factor contributing to the difficulty in managing information systems is the </a:t>
            </a:r>
            <a:r>
              <a:rPr b="1" lang="en-US" sz="2400">
                <a:latin typeface="Times New Roman"/>
                <a:ea typeface="Times New Roman"/>
                <a:cs typeface="Times New Roman"/>
                <a:sym typeface="Times New Roman"/>
              </a:rPr>
              <a:t>evolution of the management information systems (MIS) function within the organization. </a:t>
            </a:r>
            <a:endParaRPr b="1" sz="2400">
              <a:latin typeface="Times New Roman"/>
              <a:ea typeface="Times New Roman"/>
              <a:cs typeface="Times New Roman"/>
              <a:sym typeface="Times New Roman"/>
            </a:endParaRPr>
          </a:p>
          <a:p>
            <a:pPr indent="-171450" lvl="0" marL="285750" rtl="0" algn="l">
              <a:spcBef>
                <a:spcPts val="360"/>
              </a:spcBef>
              <a:spcAft>
                <a:spcPts val="0"/>
              </a:spcAft>
              <a:buClr>
                <a:schemeClr val="dk1"/>
              </a:buClr>
              <a:buSzPts val="1800"/>
              <a:buFont typeface="Arial"/>
              <a:buNone/>
            </a:pPr>
            <a:r>
              <a:t/>
            </a:r>
            <a:endParaRPr sz="1800">
              <a:latin typeface="Times New Roman"/>
              <a:ea typeface="Times New Roman"/>
              <a:cs typeface="Times New Roman"/>
              <a:sym typeface="Times New Roman"/>
            </a:endParaRPr>
          </a:p>
          <a:p>
            <a:pPr indent="-342900" lvl="0" marL="342900" rtl="0" algn="l">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When businesses first began to use computers in the early 1950s, the MIS department “owned” the only computing resource in the organization, the mainframe. At that time, end users did not interact directly with the mainframe.</a:t>
            </a:r>
            <a:endParaRPr sz="2000">
              <a:latin typeface="Times New Roman"/>
              <a:ea typeface="Times New Roman"/>
              <a:cs typeface="Times New Roman"/>
              <a:sym typeface="Times New Roman"/>
            </a:endParaRPr>
          </a:p>
          <a:p>
            <a:pPr indent="-342900" lvl="0" marL="342900" rtl="0" algn="l">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In modern organization  MIS department now act as a consultants to end users, viewing them as customers</a:t>
            </a:r>
            <a:endParaRPr sz="2000">
              <a:latin typeface="Times New Roman"/>
              <a:ea typeface="Times New Roman"/>
              <a:cs typeface="Times New Roman"/>
              <a:sym typeface="Times New Roman"/>
            </a:endParaRPr>
          </a:p>
          <a:p>
            <a:pPr indent="-342900" lvl="0" marL="342900" rtl="0" algn="l">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MIS department is to use IT to solve end-user problems</a:t>
            </a:r>
            <a:endParaRPr sz="2000">
              <a:latin typeface="Times New Roman"/>
              <a:ea typeface="Times New Roman"/>
              <a:cs typeface="Times New Roman"/>
              <a:sym typeface="Times New Roman"/>
            </a:endParaRPr>
          </a:p>
        </p:txBody>
      </p:sp>
      <p:sp>
        <p:nvSpPr>
          <p:cNvPr id="206" name="Google Shape;206;p1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7" name="Google Shape;207;p1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4"/>
          <p:cNvSpPr txBox="1"/>
          <p:nvPr>
            <p:ph type="title"/>
          </p:nvPr>
        </p:nvSpPr>
        <p:spPr>
          <a:xfrm>
            <a:off x="457200" y="4572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6600CC"/>
                </a:solidFill>
                <a:latin typeface="Times New Roman"/>
                <a:ea typeface="Times New Roman"/>
                <a:cs typeface="Times New Roman"/>
                <a:sym typeface="Times New Roman"/>
              </a:rPr>
              <a:t>Evolution of the IS Function….</a:t>
            </a:r>
            <a:br>
              <a:rPr lang="en-US">
                <a:solidFill>
                  <a:srgbClr val="6600CC"/>
                </a:solidFill>
                <a:latin typeface="Times New Roman"/>
                <a:ea typeface="Times New Roman"/>
                <a:cs typeface="Times New Roman"/>
                <a:sym typeface="Times New Roman"/>
              </a:rPr>
            </a:br>
            <a:endParaRPr>
              <a:solidFill>
                <a:srgbClr val="6600CC"/>
              </a:solidFill>
              <a:latin typeface="Times New Roman"/>
              <a:ea typeface="Times New Roman"/>
              <a:cs typeface="Times New Roman"/>
              <a:sym typeface="Times New Roman"/>
            </a:endParaRPr>
          </a:p>
        </p:txBody>
      </p:sp>
      <p:sp>
        <p:nvSpPr>
          <p:cNvPr id="213" name="Google Shape;213;p14"/>
          <p:cNvSpPr txBox="1"/>
          <p:nvPr>
            <p:ph idx="1" type="body"/>
          </p:nvPr>
        </p:nvSpPr>
        <p:spPr>
          <a:xfrm>
            <a:off x="457200" y="1219200"/>
            <a:ext cx="8458200" cy="4754563"/>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3200"/>
              <a:buFont typeface="Times New Roman"/>
              <a:buNone/>
            </a:pPr>
            <a:r>
              <a:rPr b="1" lang="en-US">
                <a:latin typeface="Times New Roman"/>
                <a:ea typeface="Times New Roman"/>
                <a:cs typeface="Times New Roman"/>
                <a:sym typeface="Times New Roman"/>
              </a:rPr>
              <a:t>Traditional Functions of the MIS Department:</a:t>
            </a:r>
            <a:endParaRPr b="1">
              <a:latin typeface="Times New Roman"/>
              <a:ea typeface="Times New Roman"/>
              <a:cs typeface="Times New Roman"/>
              <a:sym typeface="Times New Roman"/>
            </a:endParaRPr>
          </a:p>
          <a:p>
            <a:pPr indent="0" lvl="0" marL="0" rtl="0" algn="l">
              <a:spcBef>
                <a:spcPts val="640"/>
              </a:spcBef>
              <a:spcAft>
                <a:spcPts val="0"/>
              </a:spcAft>
              <a:buClr>
                <a:schemeClr val="dk1"/>
              </a:buClr>
              <a:buSzPts val="3200"/>
              <a:buFont typeface="Times New Roman"/>
              <a:buNone/>
            </a:pPr>
            <a:r>
              <a:rPr lang="en-US">
                <a:latin typeface="Times New Roman"/>
                <a:ea typeface="Times New Roman"/>
                <a:cs typeface="Times New Roman"/>
                <a:sym typeface="Times New Roman"/>
              </a:rPr>
              <a:t>• Managing systems development and systems project management</a:t>
            </a:r>
            <a:endParaRPr>
              <a:latin typeface="Times New Roman"/>
              <a:ea typeface="Times New Roman"/>
              <a:cs typeface="Times New Roman"/>
              <a:sym typeface="Times New Roman"/>
            </a:endParaRPr>
          </a:p>
          <a:p>
            <a:pPr indent="0" lvl="0" marL="0" rtl="0" algn="l">
              <a:spcBef>
                <a:spcPts val="640"/>
              </a:spcBef>
              <a:spcAft>
                <a:spcPts val="0"/>
              </a:spcAft>
              <a:buClr>
                <a:schemeClr val="dk1"/>
              </a:buClr>
              <a:buSzPts val="3200"/>
              <a:buFont typeface="Times New Roman"/>
              <a:buNone/>
            </a:pPr>
            <a:r>
              <a:rPr lang="en-US">
                <a:latin typeface="Times New Roman"/>
                <a:ea typeface="Times New Roman"/>
                <a:cs typeface="Times New Roman"/>
                <a:sym typeface="Times New Roman"/>
              </a:rPr>
              <a:t>• Managing computer operations, including the computer center</a:t>
            </a:r>
            <a:endParaRPr>
              <a:latin typeface="Times New Roman"/>
              <a:ea typeface="Times New Roman"/>
              <a:cs typeface="Times New Roman"/>
              <a:sym typeface="Times New Roman"/>
            </a:endParaRPr>
          </a:p>
          <a:p>
            <a:pPr indent="0" lvl="0" marL="0" rtl="0" algn="l">
              <a:spcBef>
                <a:spcPts val="640"/>
              </a:spcBef>
              <a:spcAft>
                <a:spcPts val="0"/>
              </a:spcAft>
              <a:buClr>
                <a:schemeClr val="dk1"/>
              </a:buClr>
              <a:buSzPts val="3200"/>
              <a:buFont typeface="Times New Roman"/>
              <a:buNone/>
            </a:pPr>
            <a:r>
              <a:rPr lang="en-US">
                <a:latin typeface="Times New Roman"/>
                <a:ea typeface="Times New Roman"/>
                <a:cs typeface="Times New Roman"/>
                <a:sym typeface="Times New Roman"/>
              </a:rPr>
              <a:t>• Staffing, training, and developing IS skills</a:t>
            </a:r>
            <a:endParaRPr>
              <a:latin typeface="Times New Roman"/>
              <a:ea typeface="Times New Roman"/>
              <a:cs typeface="Times New Roman"/>
              <a:sym typeface="Times New Roman"/>
            </a:endParaRPr>
          </a:p>
          <a:p>
            <a:pPr indent="0" lvl="0" marL="0" rtl="0" algn="l">
              <a:spcBef>
                <a:spcPts val="640"/>
              </a:spcBef>
              <a:spcAft>
                <a:spcPts val="0"/>
              </a:spcAft>
              <a:buClr>
                <a:schemeClr val="dk1"/>
              </a:buClr>
              <a:buSzPts val="3200"/>
              <a:buFont typeface="Times New Roman"/>
              <a:buNone/>
            </a:pPr>
            <a:r>
              <a:rPr lang="en-US">
                <a:latin typeface="Times New Roman"/>
                <a:ea typeface="Times New Roman"/>
                <a:cs typeface="Times New Roman"/>
                <a:sym typeface="Times New Roman"/>
              </a:rPr>
              <a:t>• Providing technical services</a:t>
            </a:r>
            <a:endParaRPr>
              <a:latin typeface="Times New Roman"/>
              <a:ea typeface="Times New Roman"/>
              <a:cs typeface="Times New Roman"/>
              <a:sym typeface="Times New Roman"/>
            </a:endParaRPr>
          </a:p>
          <a:p>
            <a:pPr indent="0" lvl="0" marL="0" rtl="0" algn="l">
              <a:spcBef>
                <a:spcPts val="640"/>
              </a:spcBef>
              <a:spcAft>
                <a:spcPts val="0"/>
              </a:spcAft>
              <a:buClr>
                <a:schemeClr val="dk1"/>
              </a:buClr>
              <a:buSzPts val="3200"/>
              <a:buFont typeface="Times New Roman"/>
              <a:buNone/>
            </a:pPr>
            <a:r>
              <a:rPr lang="en-US">
                <a:latin typeface="Times New Roman"/>
                <a:ea typeface="Times New Roman"/>
                <a:cs typeface="Times New Roman"/>
                <a:sym typeface="Times New Roman"/>
              </a:rPr>
              <a:t>• Infrastructure planning, development, and control</a:t>
            </a:r>
            <a:endParaRPr>
              <a:latin typeface="Times New Roman"/>
              <a:ea typeface="Times New Roman"/>
              <a:cs typeface="Times New Roman"/>
              <a:sym typeface="Times New Roman"/>
            </a:endParaRPr>
          </a:p>
          <a:p>
            <a:pPr indent="0" lvl="0" marL="0" rtl="0" algn="l">
              <a:spcBef>
                <a:spcPts val="640"/>
              </a:spcBef>
              <a:spcAft>
                <a:spcPts val="0"/>
              </a:spcAft>
              <a:buClr>
                <a:schemeClr val="dk1"/>
              </a:buClr>
              <a:buSzPts val="3200"/>
              <a:buFont typeface="Arial"/>
              <a:buNone/>
            </a:pPr>
            <a:r>
              <a:t/>
            </a:r>
            <a:endParaRPr>
              <a:latin typeface="Times New Roman"/>
              <a:ea typeface="Times New Roman"/>
              <a:cs typeface="Times New Roman"/>
              <a:sym typeface="Times New Roman"/>
            </a:endParaRPr>
          </a:p>
        </p:txBody>
      </p:sp>
      <p:sp>
        <p:nvSpPr>
          <p:cNvPr id="214" name="Google Shape;214;p1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15" name="Google Shape;215;p1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5"/>
          <p:cNvSpPr txBox="1"/>
          <p:nvPr>
            <p:ph type="title"/>
          </p:nvPr>
        </p:nvSpPr>
        <p:spPr>
          <a:xfrm>
            <a:off x="457200" y="4572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6600CC"/>
                </a:solidFill>
                <a:latin typeface="Times New Roman"/>
                <a:ea typeface="Times New Roman"/>
                <a:cs typeface="Times New Roman"/>
                <a:sym typeface="Times New Roman"/>
              </a:rPr>
              <a:t>Evolution of the IS Function….</a:t>
            </a:r>
            <a:br>
              <a:rPr lang="en-US">
                <a:solidFill>
                  <a:srgbClr val="6600CC"/>
                </a:solidFill>
                <a:latin typeface="Times New Roman"/>
                <a:ea typeface="Times New Roman"/>
                <a:cs typeface="Times New Roman"/>
                <a:sym typeface="Times New Roman"/>
              </a:rPr>
            </a:br>
            <a:endParaRPr>
              <a:solidFill>
                <a:srgbClr val="6600CC"/>
              </a:solidFill>
              <a:latin typeface="Times New Roman"/>
              <a:ea typeface="Times New Roman"/>
              <a:cs typeface="Times New Roman"/>
              <a:sym typeface="Times New Roman"/>
            </a:endParaRPr>
          </a:p>
        </p:txBody>
      </p:sp>
      <p:sp>
        <p:nvSpPr>
          <p:cNvPr id="221" name="Google Shape;221;p15"/>
          <p:cNvSpPr txBox="1"/>
          <p:nvPr>
            <p:ph idx="1" type="body"/>
          </p:nvPr>
        </p:nvSpPr>
        <p:spPr>
          <a:xfrm>
            <a:off x="457200" y="1219200"/>
            <a:ext cx="8382000" cy="5502275"/>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New (Consultative) Functions of the MIS Department.</a:t>
            </a:r>
            <a:endParaRPr b="1">
              <a:latin typeface="Times New Roman"/>
              <a:ea typeface="Times New Roman"/>
              <a:cs typeface="Times New Roman"/>
              <a:sym typeface="Times New Roman"/>
            </a:endParaRPr>
          </a:p>
          <a:p>
            <a:pPr indent="0" lvl="0" marL="0" rtl="0" algn="l">
              <a:spcBef>
                <a:spcPts val="448"/>
              </a:spcBef>
              <a:spcAft>
                <a:spcPts val="0"/>
              </a:spcAft>
              <a:buClr>
                <a:schemeClr val="dk1"/>
              </a:buClr>
              <a:buSzPct val="100000"/>
              <a:buFont typeface="Arial"/>
              <a:buNone/>
            </a:pPr>
            <a:r>
              <a:t/>
            </a:r>
            <a:endParaRPr b="1">
              <a:latin typeface="Times New Roman"/>
              <a:ea typeface="Times New Roman"/>
              <a:cs typeface="Times New Roman"/>
              <a:sym typeface="Times New Roman"/>
            </a:endParaRPr>
          </a:p>
          <a:p>
            <a:pPr indent="0" lvl="0" marL="0" rtl="0" algn="l">
              <a:spcBef>
                <a:spcPts val="476"/>
              </a:spcBef>
              <a:spcAft>
                <a:spcPts val="0"/>
              </a:spcAft>
              <a:buClr>
                <a:schemeClr val="dk1"/>
              </a:buClr>
              <a:buSzPct val="100000"/>
              <a:buFont typeface="Times New Roman"/>
              <a:buNone/>
            </a:pPr>
            <a:r>
              <a:rPr lang="en-US" sz="3400">
                <a:latin typeface="Times New Roman"/>
                <a:ea typeface="Times New Roman"/>
                <a:cs typeface="Times New Roman"/>
                <a:sym typeface="Times New Roman"/>
              </a:rPr>
              <a:t>• Initiating and designing specific strategic information systems</a:t>
            </a:r>
            <a:endParaRPr sz="3400">
              <a:latin typeface="Times New Roman"/>
              <a:ea typeface="Times New Roman"/>
              <a:cs typeface="Times New Roman"/>
              <a:sym typeface="Times New Roman"/>
            </a:endParaRPr>
          </a:p>
          <a:p>
            <a:pPr indent="0" lvl="0" marL="0" rtl="0" algn="l">
              <a:spcBef>
                <a:spcPts val="476"/>
              </a:spcBef>
              <a:spcAft>
                <a:spcPts val="0"/>
              </a:spcAft>
              <a:buClr>
                <a:schemeClr val="dk1"/>
              </a:buClr>
              <a:buSzPct val="100000"/>
              <a:buFont typeface="Times New Roman"/>
              <a:buNone/>
            </a:pPr>
            <a:r>
              <a:rPr lang="en-US" sz="3400">
                <a:latin typeface="Times New Roman"/>
                <a:ea typeface="Times New Roman"/>
                <a:cs typeface="Times New Roman"/>
                <a:sym typeface="Times New Roman"/>
              </a:rPr>
              <a:t>• Incorporating the Internet and electronic commerce into the business</a:t>
            </a:r>
            <a:endParaRPr sz="3400">
              <a:latin typeface="Times New Roman"/>
              <a:ea typeface="Times New Roman"/>
              <a:cs typeface="Times New Roman"/>
              <a:sym typeface="Times New Roman"/>
            </a:endParaRPr>
          </a:p>
          <a:p>
            <a:pPr indent="0" lvl="0" marL="0" rtl="0" algn="l">
              <a:spcBef>
                <a:spcPts val="476"/>
              </a:spcBef>
              <a:spcAft>
                <a:spcPts val="0"/>
              </a:spcAft>
              <a:buClr>
                <a:schemeClr val="dk1"/>
              </a:buClr>
              <a:buSzPct val="100000"/>
              <a:buFont typeface="Times New Roman"/>
              <a:buNone/>
            </a:pPr>
            <a:r>
              <a:rPr lang="en-US" sz="3400">
                <a:latin typeface="Times New Roman"/>
                <a:ea typeface="Times New Roman"/>
                <a:cs typeface="Times New Roman"/>
                <a:sym typeface="Times New Roman"/>
              </a:rPr>
              <a:t>• Managing system integration including the Internet, intranets, and extranets</a:t>
            </a:r>
            <a:endParaRPr sz="3400">
              <a:latin typeface="Times New Roman"/>
              <a:ea typeface="Times New Roman"/>
              <a:cs typeface="Times New Roman"/>
              <a:sym typeface="Times New Roman"/>
            </a:endParaRPr>
          </a:p>
          <a:p>
            <a:pPr indent="0" lvl="0" marL="0" rtl="0" algn="l">
              <a:spcBef>
                <a:spcPts val="476"/>
              </a:spcBef>
              <a:spcAft>
                <a:spcPts val="0"/>
              </a:spcAft>
              <a:buClr>
                <a:schemeClr val="dk1"/>
              </a:buClr>
              <a:buSzPct val="100000"/>
              <a:buFont typeface="Times New Roman"/>
              <a:buNone/>
            </a:pPr>
            <a:r>
              <a:rPr lang="en-US" sz="3400">
                <a:latin typeface="Times New Roman"/>
                <a:ea typeface="Times New Roman"/>
                <a:cs typeface="Times New Roman"/>
                <a:sym typeface="Times New Roman"/>
              </a:rPr>
              <a:t>• Educating the non-MIS managers about IT</a:t>
            </a:r>
            <a:endParaRPr sz="3400">
              <a:latin typeface="Times New Roman"/>
              <a:ea typeface="Times New Roman"/>
              <a:cs typeface="Times New Roman"/>
              <a:sym typeface="Times New Roman"/>
            </a:endParaRPr>
          </a:p>
          <a:p>
            <a:pPr indent="0" lvl="0" marL="0" rtl="0" algn="l">
              <a:spcBef>
                <a:spcPts val="476"/>
              </a:spcBef>
              <a:spcAft>
                <a:spcPts val="0"/>
              </a:spcAft>
              <a:buClr>
                <a:schemeClr val="dk1"/>
              </a:buClr>
              <a:buSzPct val="100000"/>
              <a:buFont typeface="Times New Roman"/>
              <a:buNone/>
            </a:pPr>
            <a:r>
              <a:rPr lang="en-US" sz="3400">
                <a:latin typeface="Times New Roman"/>
                <a:ea typeface="Times New Roman"/>
                <a:cs typeface="Times New Roman"/>
                <a:sym typeface="Times New Roman"/>
              </a:rPr>
              <a:t>• Educating the MIS staff about the business</a:t>
            </a:r>
            <a:endParaRPr sz="3400">
              <a:latin typeface="Times New Roman"/>
              <a:ea typeface="Times New Roman"/>
              <a:cs typeface="Times New Roman"/>
              <a:sym typeface="Times New Roman"/>
            </a:endParaRPr>
          </a:p>
          <a:p>
            <a:pPr indent="0" lvl="0" marL="0" rtl="0" algn="l">
              <a:spcBef>
                <a:spcPts val="476"/>
              </a:spcBef>
              <a:spcAft>
                <a:spcPts val="0"/>
              </a:spcAft>
              <a:buClr>
                <a:schemeClr val="dk1"/>
              </a:buClr>
              <a:buSzPct val="100000"/>
              <a:buFont typeface="Times New Roman"/>
              <a:buNone/>
            </a:pPr>
            <a:r>
              <a:rPr lang="en-US" sz="3400">
                <a:latin typeface="Times New Roman"/>
                <a:ea typeface="Times New Roman"/>
                <a:cs typeface="Times New Roman"/>
                <a:sym typeface="Times New Roman"/>
              </a:rPr>
              <a:t>• Partnering with business-unit executives</a:t>
            </a:r>
            <a:endParaRPr sz="3400">
              <a:latin typeface="Times New Roman"/>
              <a:ea typeface="Times New Roman"/>
              <a:cs typeface="Times New Roman"/>
              <a:sym typeface="Times New Roman"/>
            </a:endParaRPr>
          </a:p>
          <a:p>
            <a:pPr indent="0" lvl="0" marL="0" rtl="0" algn="l">
              <a:spcBef>
                <a:spcPts val="476"/>
              </a:spcBef>
              <a:spcAft>
                <a:spcPts val="0"/>
              </a:spcAft>
              <a:buClr>
                <a:schemeClr val="dk1"/>
              </a:buClr>
              <a:buSzPct val="100000"/>
              <a:buFont typeface="Times New Roman"/>
              <a:buNone/>
            </a:pPr>
            <a:r>
              <a:rPr lang="en-US" sz="3400">
                <a:latin typeface="Times New Roman"/>
                <a:ea typeface="Times New Roman"/>
                <a:cs typeface="Times New Roman"/>
                <a:sym typeface="Times New Roman"/>
              </a:rPr>
              <a:t>• Managing outsourcing</a:t>
            </a:r>
            <a:endParaRPr sz="3400">
              <a:latin typeface="Times New Roman"/>
              <a:ea typeface="Times New Roman"/>
              <a:cs typeface="Times New Roman"/>
              <a:sym typeface="Times New Roman"/>
            </a:endParaRPr>
          </a:p>
          <a:p>
            <a:pPr indent="0" lvl="0" marL="0" rtl="0" algn="l">
              <a:spcBef>
                <a:spcPts val="476"/>
              </a:spcBef>
              <a:spcAft>
                <a:spcPts val="0"/>
              </a:spcAft>
              <a:buClr>
                <a:schemeClr val="dk1"/>
              </a:buClr>
              <a:buSzPct val="100000"/>
              <a:buFont typeface="Times New Roman"/>
              <a:buNone/>
            </a:pPr>
            <a:r>
              <a:rPr lang="en-US" sz="3400">
                <a:latin typeface="Times New Roman"/>
                <a:ea typeface="Times New Roman"/>
                <a:cs typeface="Times New Roman"/>
                <a:sym typeface="Times New Roman"/>
              </a:rPr>
              <a:t>• Proactively using business and technical knowledge to seed innovative ideas about IT</a:t>
            </a:r>
            <a:endParaRPr sz="3400">
              <a:latin typeface="Times New Roman"/>
              <a:ea typeface="Times New Roman"/>
              <a:cs typeface="Times New Roman"/>
              <a:sym typeface="Times New Roman"/>
            </a:endParaRPr>
          </a:p>
          <a:p>
            <a:pPr indent="0" lvl="0" marL="0" rtl="0" algn="l">
              <a:spcBef>
                <a:spcPts val="476"/>
              </a:spcBef>
              <a:spcAft>
                <a:spcPts val="0"/>
              </a:spcAft>
              <a:buClr>
                <a:schemeClr val="dk1"/>
              </a:buClr>
              <a:buSzPct val="100000"/>
              <a:buFont typeface="Times New Roman"/>
              <a:buNone/>
            </a:pPr>
            <a:r>
              <a:rPr lang="en-US" sz="3400">
                <a:latin typeface="Times New Roman"/>
                <a:ea typeface="Times New Roman"/>
                <a:cs typeface="Times New Roman"/>
                <a:sym typeface="Times New Roman"/>
              </a:rPr>
              <a:t>• Creating business alliances with business partners</a:t>
            </a:r>
            <a:endParaRPr sz="3400">
              <a:latin typeface="Times New Roman"/>
              <a:ea typeface="Times New Roman"/>
              <a:cs typeface="Times New Roman"/>
              <a:sym typeface="Times New Roman"/>
            </a:endParaRPr>
          </a:p>
          <a:p>
            <a:pPr indent="0" lvl="0" marL="0" rtl="0" algn="l">
              <a:spcBef>
                <a:spcPts val="476"/>
              </a:spcBef>
              <a:spcAft>
                <a:spcPts val="0"/>
              </a:spcAft>
              <a:buClr>
                <a:schemeClr val="dk1"/>
              </a:buClr>
              <a:buSzPct val="100000"/>
              <a:buFont typeface="Times New Roman"/>
              <a:buNone/>
            </a:pPr>
            <a:r>
              <a:rPr lang="en-US" sz="3400">
                <a:latin typeface="Times New Roman"/>
                <a:ea typeface="Times New Roman"/>
                <a:cs typeface="Times New Roman"/>
                <a:sym typeface="Times New Roman"/>
              </a:rPr>
              <a:t>  </a:t>
            </a:r>
            <a:endParaRPr sz="3400">
              <a:latin typeface="Times New Roman"/>
              <a:ea typeface="Times New Roman"/>
              <a:cs typeface="Times New Roman"/>
              <a:sym typeface="Times New Roman"/>
            </a:endParaRPr>
          </a:p>
          <a:p>
            <a:pPr indent="0" lvl="0" marL="0" rtl="0" algn="l">
              <a:spcBef>
                <a:spcPts val="476"/>
              </a:spcBef>
              <a:spcAft>
                <a:spcPts val="0"/>
              </a:spcAft>
              <a:buClr>
                <a:schemeClr val="dk1"/>
              </a:buClr>
              <a:buSzPct val="100000"/>
              <a:buFont typeface="Arial"/>
              <a:buNone/>
            </a:pPr>
            <a:r>
              <a:t/>
            </a:r>
            <a:endParaRPr sz="3400">
              <a:latin typeface="Times New Roman"/>
              <a:ea typeface="Times New Roman"/>
              <a:cs typeface="Times New Roman"/>
              <a:sym typeface="Times New Roman"/>
            </a:endParaRPr>
          </a:p>
          <a:p>
            <a:pPr indent="0" lvl="0" marL="0" rtl="0" algn="l">
              <a:spcBef>
                <a:spcPts val="448"/>
              </a:spcBef>
              <a:spcAft>
                <a:spcPts val="0"/>
              </a:spcAft>
              <a:buClr>
                <a:schemeClr val="dk1"/>
              </a:buClr>
              <a:buSzPct val="100000"/>
              <a:buFont typeface="Arial"/>
              <a:buNone/>
            </a:pPr>
            <a:r>
              <a:t/>
            </a:r>
            <a:endParaRPr>
              <a:latin typeface="Times New Roman"/>
              <a:ea typeface="Times New Roman"/>
              <a:cs typeface="Times New Roman"/>
              <a:sym typeface="Times New Roman"/>
            </a:endParaRPr>
          </a:p>
          <a:p>
            <a:pPr indent="0" lvl="0" marL="0" rtl="0" algn="l">
              <a:spcBef>
                <a:spcPts val="448"/>
              </a:spcBef>
              <a:spcAft>
                <a:spcPts val="0"/>
              </a:spcAft>
              <a:buClr>
                <a:schemeClr val="dk1"/>
              </a:buClr>
              <a:buSzPct val="100000"/>
              <a:buFont typeface="Arial"/>
              <a:buNone/>
            </a:pPr>
            <a:r>
              <a:t/>
            </a:r>
            <a:endParaRPr>
              <a:latin typeface="Times New Roman"/>
              <a:ea typeface="Times New Roman"/>
              <a:cs typeface="Times New Roman"/>
              <a:sym typeface="Times New Roman"/>
            </a:endParaRPr>
          </a:p>
          <a:p>
            <a:pPr indent="0" lvl="0" marL="0" rtl="0" algn="l">
              <a:spcBef>
                <a:spcPts val="448"/>
              </a:spcBef>
              <a:spcAft>
                <a:spcPts val="0"/>
              </a:spcAft>
              <a:buClr>
                <a:schemeClr val="dk1"/>
              </a:buClr>
              <a:buSzPct val="100000"/>
              <a:buFont typeface="Arial"/>
              <a:buNone/>
            </a:pPr>
            <a:r>
              <a:t/>
            </a:r>
            <a:endParaRPr>
              <a:latin typeface="Times New Roman"/>
              <a:ea typeface="Times New Roman"/>
              <a:cs typeface="Times New Roman"/>
              <a:sym typeface="Times New Roman"/>
            </a:endParaRPr>
          </a:p>
          <a:p>
            <a:pPr indent="0" lvl="0" marL="0" rtl="0" algn="l">
              <a:spcBef>
                <a:spcPts val="448"/>
              </a:spcBef>
              <a:spcAft>
                <a:spcPts val="0"/>
              </a:spcAft>
              <a:buClr>
                <a:schemeClr val="dk1"/>
              </a:buClr>
              <a:buSzPct val="100000"/>
              <a:buFont typeface="Arial"/>
              <a:buNone/>
            </a:pPr>
            <a:r>
              <a:t/>
            </a:r>
            <a:endParaRPr>
              <a:latin typeface="Times New Roman"/>
              <a:ea typeface="Times New Roman"/>
              <a:cs typeface="Times New Roman"/>
              <a:sym typeface="Times New Roman"/>
            </a:endParaRPr>
          </a:p>
        </p:txBody>
      </p:sp>
      <p:sp>
        <p:nvSpPr>
          <p:cNvPr id="222" name="Google Shape;222;p1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23" name="Google Shape;223;p1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6"/>
          <p:cNvSpPr txBox="1"/>
          <p:nvPr>
            <p:ph idx="4294967295" type="subTitle"/>
          </p:nvPr>
        </p:nvSpPr>
        <p:spPr>
          <a:xfrm>
            <a:off x="533400" y="1295400"/>
            <a:ext cx="8153400" cy="93599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0C0"/>
              </a:buClr>
              <a:buSzPts val="3200"/>
              <a:buFont typeface="Times New Roman"/>
              <a:buNone/>
            </a:pPr>
            <a:r>
              <a:rPr b="1" lang="en-US" sz="3200">
                <a:solidFill>
                  <a:srgbClr val="0070C0"/>
                </a:solidFill>
                <a:latin typeface="Times New Roman"/>
                <a:ea typeface="Times New Roman"/>
                <a:cs typeface="Times New Roman"/>
                <a:sym typeface="Times New Roman"/>
              </a:rPr>
              <a:t>Overview of Computer-Based IS’s</a:t>
            </a:r>
            <a:endParaRPr b="1" sz="3200">
              <a:solidFill>
                <a:srgbClr val="0070C0"/>
              </a:solidFill>
              <a:latin typeface="Times New Roman"/>
              <a:ea typeface="Times New Roman"/>
              <a:cs typeface="Times New Roman"/>
              <a:sym typeface="Times New Roman"/>
            </a:endParaRPr>
          </a:p>
        </p:txBody>
      </p:sp>
      <p:sp>
        <p:nvSpPr>
          <p:cNvPr id="230" name="Google Shape;230;p16"/>
          <p:cNvSpPr txBox="1"/>
          <p:nvPr>
            <p:ph idx="4294967295" type="body"/>
          </p:nvPr>
        </p:nvSpPr>
        <p:spPr>
          <a:xfrm>
            <a:off x="457200" y="2263775"/>
            <a:ext cx="9006663" cy="38100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Data – Information – Knowledge</a:t>
            </a:r>
            <a:endParaRPr sz="3200">
              <a:solidFill>
                <a:schemeClr val="dk1"/>
              </a:solidFill>
              <a:latin typeface="Times New Roman"/>
              <a:ea typeface="Times New Roman"/>
              <a:cs typeface="Times New Roman"/>
              <a:sym typeface="Times New Roman"/>
            </a:endParaRPr>
          </a:p>
          <a:p>
            <a:pPr indent="-342900" lvl="0" marL="342900" marR="0" rtl="0" algn="l">
              <a:spcBef>
                <a:spcPts val="64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Computer-Based Information System (CBIS)</a:t>
            </a:r>
            <a:endParaRPr sz="3200">
              <a:solidFill>
                <a:schemeClr val="dk1"/>
              </a:solidFill>
              <a:latin typeface="Times New Roman"/>
              <a:ea typeface="Times New Roman"/>
              <a:cs typeface="Times New Roman"/>
              <a:sym typeface="Times New Roman"/>
            </a:endParaRPr>
          </a:p>
          <a:p>
            <a:pPr indent="-342900" lvl="0" marL="342900" marR="0" rtl="0" algn="l">
              <a:spcBef>
                <a:spcPts val="64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Types of Computer-Based Information Systems (CBIS)</a:t>
            </a:r>
            <a:endParaRPr sz="3200">
              <a:solidFill>
                <a:schemeClr val="dk1"/>
              </a:solidFill>
              <a:latin typeface="Times New Roman"/>
              <a:ea typeface="Times New Roman"/>
              <a:cs typeface="Times New Roman"/>
              <a:sym typeface="Times New Roman"/>
            </a:endParaRPr>
          </a:p>
        </p:txBody>
      </p:sp>
      <p:sp>
        <p:nvSpPr>
          <p:cNvPr id="231" name="Google Shape;231;p1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32" name="Google Shape;232;p1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7"/>
          <p:cNvSpPr txBox="1"/>
          <p:nvPr>
            <p:ph type="title"/>
          </p:nvPr>
        </p:nvSpPr>
        <p:spPr>
          <a:xfrm>
            <a:off x="470646" y="304800"/>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b="1" lang="en-US">
                <a:solidFill>
                  <a:srgbClr val="6600CC"/>
                </a:solidFill>
                <a:latin typeface="Times New Roman"/>
                <a:ea typeface="Times New Roman"/>
                <a:cs typeface="Times New Roman"/>
                <a:sym typeface="Times New Roman"/>
              </a:rPr>
              <a:t>Overview of Computer-Based</a:t>
            </a:r>
            <a:br>
              <a:rPr b="1" lang="en-US">
                <a:solidFill>
                  <a:srgbClr val="6600CC"/>
                </a:solidFill>
                <a:latin typeface="Times New Roman"/>
                <a:ea typeface="Times New Roman"/>
                <a:cs typeface="Times New Roman"/>
                <a:sym typeface="Times New Roman"/>
              </a:rPr>
            </a:br>
            <a:r>
              <a:rPr b="1" lang="en-US">
                <a:solidFill>
                  <a:srgbClr val="6600CC"/>
                </a:solidFill>
                <a:latin typeface="Times New Roman"/>
                <a:ea typeface="Times New Roman"/>
                <a:cs typeface="Times New Roman"/>
                <a:sym typeface="Times New Roman"/>
              </a:rPr>
              <a:t>Information Systems</a:t>
            </a:r>
            <a:endParaRPr>
              <a:solidFill>
                <a:srgbClr val="6600CC"/>
              </a:solidFill>
              <a:latin typeface="Times New Roman"/>
              <a:ea typeface="Times New Roman"/>
              <a:cs typeface="Times New Roman"/>
              <a:sym typeface="Times New Roman"/>
            </a:endParaRPr>
          </a:p>
        </p:txBody>
      </p:sp>
      <p:sp>
        <p:nvSpPr>
          <p:cNvPr id="238" name="Google Shape;238;p17"/>
          <p:cNvSpPr txBox="1"/>
          <p:nvPr>
            <p:ph idx="1" type="body"/>
          </p:nvPr>
        </p:nvSpPr>
        <p:spPr>
          <a:xfrm>
            <a:off x="470646" y="1905000"/>
            <a:ext cx="8543365" cy="47545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Information systems has been defined as getting the right information to the right people, at the right time, in the right amount, and in the right format. </a:t>
            </a:r>
            <a:endParaRPr>
              <a:latin typeface="Times New Roman"/>
              <a:ea typeface="Times New Roman"/>
              <a:cs typeface="Times New Roman"/>
              <a:sym typeface="Times New Roman"/>
            </a:endParaRPr>
          </a:p>
        </p:txBody>
      </p:sp>
      <p:sp>
        <p:nvSpPr>
          <p:cNvPr id="239" name="Google Shape;239;p1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0" name="Google Shape;240;p1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8"/>
          <p:cNvSpPr txBox="1"/>
          <p:nvPr>
            <p:ph type="title"/>
          </p:nvPr>
        </p:nvSpPr>
        <p:spPr>
          <a:xfrm>
            <a:off x="457200" y="609600"/>
            <a:ext cx="8229600" cy="5826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6600CC"/>
                </a:solidFill>
                <a:latin typeface="Times New Roman"/>
                <a:ea typeface="Times New Roman"/>
                <a:cs typeface="Times New Roman"/>
                <a:sym typeface="Times New Roman"/>
              </a:rPr>
              <a:t>Data</a:t>
            </a:r>
            <a:endParaRPr>
              <a:solidFill>
                <a:srgbClr val="6600CC"/>
              </a:solidFill>
              <a:latin typeface="Times New Roman"/>
              <a:ea typeface="Times New Roman"/>
              <a:cs typeface="Times New Roman"/>
              <a:sym typeface="Times New Roman"/>
            </a:endParaRPr>
          </a:p>
        </p:txBody>
      </p:sp>
      <p:sp>
        <p:nvSpPr>
          <p:cNvPr id="246" name="Google Shape;246;p18"/>
          <p:cNvSpPr txBox="1"/>
          <p:nvPr>
            <p:ph idx="1" type="body"/>
          </p:nvPr>
        </p:nvSpPr>
        <p:spPr>
          <a:xfrm>
            <a:off x="457200" y="1371600"/>
            <a:ext cx="8382000" cy="4754563"/>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Clr>
                <a:schemeClr val="dk1"/>
              </a:buClr>
              <a:buSzPct val="100000"/>
              <a:buFont typeface="Times New Roman"/>
              <a:buChar char="•"/>
            </a:pPr>
            <a:r>
              <a:rPr b="1" lang="en-US">
                <a:latin typeface="Times New Roman"/>
                <a:ea typeface="Times New Roman"/>
                <a:cs typeface="Times New Roman"/>
                <a:sym typeface="Times New Roman"/>
              </a:rPr>
              <a:t>Data items refer to an elementary description of things, events, activities, and transactions</a:t>
            </a:r>
            <a:endParaRPr b="1">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Font typeface="Times New Roman"/>
              <a:buChar char="•"/>
            </a:pPr>
            <a:r>
              <a:rPr lang="en-US">
                <a:latin typeface="Times New Roman"/>
                <a:ea typeface="Times New Roman"/>
                <a:cs typeface="Times New Roman"/>
                <a:sym typeface="Times New Roman"/>
              </a:rPr>
              <a:t>that are recorded, classified, and stored but are not organized to convey any specific meaning.</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Font typeface="Times New Roman"/>
              <a:buChar char="•"/>
            </a:pPr>
            <a:r>
              <a:rPr lang="en-US">
                <a:latin typeface="Times New Roman"/>
                <a:ea typeface="Times New Roman"/>
                <a:cs typeface="Times New Roman"/>
                <a:sym typeface="Times New Roman"/>
              </a:rPr>
              <a:t>Data items can be numbers, letters, figures, sounds, and images. </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Font typeface="Times New Roman"/>
              <a:buChar char="•"/>
            </a:pPr>
            <a:r>
              <a:rPr lang="en-US">
                <a:latin typeface="Times New Roman"/>
                <a:ea typeface="Times New Roman"/>
                <a:cs typeface="Times New Roman"/>
                <a:sym typeface="Times New Roman"/>
              </a:rPr>
              <a:t>Examples of data items are collections of numbers (e.g., 3.11, 2.96, 3.95, 1.99, 2.08) and characters (e.g., B, A, C, A, B, D, F, C).</a:t>
            </a:r>
            <a:endParaRPr>
              <a:latin typeface="Times New Roman"/>
              <a:ea typeface="Times New Roman"/>
              <a:cs typeface="Times New Roman"/>
              <a:sym typeface="Times New Roman"/>
            </a:endParaRPr>
          </a:p>
        </p:txBody>
      </p:sp>
      <p:sp>
        <p:nvSpPr>
          <p:cNvPr id="247" name="Google Shape;247;p1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8" name="Google Shape;248;p1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9"/>
          <p:cNvSpPr txBox="1"/>
          <p:nvPr>
            <p:ph type="title"/>
          </p:nvPr>
        </p:nvSpPr>
        <p:spPr>
          <a:xfrm>
            <a:off x="457200" y="609600"/>
            <a:ext cx="8229600" cy="5826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6600CC"/>
                </a:solidFill>
                <a:latin typeface="Times New Roman"/>
                <a:ea typeface="Times New Roman"/>
                <a:cs typeface="Times New Roman"/>
                <a:sym typeface="Times New Roman"/>
              </a:rPr>
              <a:t>Information</a:t>
            </a:r>
            <a:endParaRPr>
              <a:solidFill>
                <a:srgbClr val="6600CC"/>
              </a:solidFill>
              <a:latin typeface="Times New Roman"/>
              <a:ea typeface="Times New Roman"/>
              <a:cs typeface="Times New Roman"/>
              <a:sym typeface="Times New Roman"/>
            </a:endParaRPr>
          </a:p>
        </p:txBody>
      </p:sp>
      <p:sp>
        <p:nvSpPr>
          <p:cNvPr id="254" name="Google Shape;254;p19"/>
          <p:cNvSpPr txBox="1"/>
          <p:nvPr>
            <p:ph idx="1" type="body"/>
          </p:nvPr>
        </p:nvSpPr>
        <p:spPr>
          <a:xfrm>
            <a:off x="457200" y="1174750"/>
            <a:ext cx="8229600" cy="4953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Font typeface="Times New Roman"/>
              <a:buChar char="•"/>
            </a:pPr>
            <a:r>
              <a:rPr b="1" lang="en-US">
                <a:latin typeface="Times New Roman"/>
                <a:ea typeface="Times New Roman"/>
                <a:cs typeface="Times New Roman"/>
                <a:sym typeface="Times New Roman"/>
              </a:rPr>
              <a:t>Information refers to data that have been organized so that they have meaning and value to the recipient</a:t>
            </a: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Font typeface="Times New Roman"/>
              <a:buChar char="•"/>
            </a:pPr>
            <a:r>
              <a:rPr lang="en-US">
                <a:latin typeface="Times New Roman"/>
                <a:ea typeface="Times New Roman"/>
                <a:cs typeface="Times New Roman"/>
                <a:sym typeface="Times New Roman"/>
              </a:rPr>
              <a:t>For example, a grade point average (GPA) by itself is data, but a student’s name coupled with his or her GPA is information. </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Font typeface="Times New Roman"/>
              <a:buChar char="•"/>
            </a:pPr>
            <a:r>
              <a:rPr lang="en-US">
                <a:latin typeface="Times New Roman"/>
                <a:ea typeface="Times New Roman"/>
                <a:cs typeface="Times New Roman"/>
                <a:sym typeface="Times New Roman"/>
              </a:rPr>
              <a:t>The recipient interprets the meaning and draws conclusions and implications from the information..</a:t>
            </a:r>
            <a:endParaRPr>
              <a:latin typeface="Times New Roman"/>
              <a:ea typeface="Times New Roman"/>
              <a:cs typeface="Times New Roman"/>
              <a:sym typeface="Times New Roman"/>
            </a:endParaRPr>
          </a:p>
        </p:txBody>
      </p:sp>
      <p:sp>
        <p:nvSpPr>
          <p:cNvPr id="255" name="Google Shape;255;p1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6" name="Google Shape;256;p1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0"/>
          <p:cNvSpPr txBox="1"/>
          <p:nvPr>
            <p:ph type="title"/>
          </p:nvPr>
        </p:nvSpPr>
        <p:spPr>
          <a:xfrm>
            <a:off x="457200" y="457200"/>
            <a:ext cx="8229600" cy="5826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6600CC"/>
                </a:solidFill>
                <a:latin typeface="Times New Roman"/>
                <a:ea typeface="Times New Roman"/>
                <a:cs typeface="Times New Roman"/>
                <a:sym typeface="Times New Roman"/>
              </a:rPr>
              <a:t>Knowledge</a:t>
            </a:r>
            <a:endParaRPr>
              <a:solidFill>
                <a:srgbClr val="6600CC"/>
              </a:solidFill>
              <a:latin typeface="Times New Roman"/>
              <a:ea typeface="Times New Roman"/>
              <a:cs typeface="Times New Roman"/>
              <a:sym typeface="Times New Roman"/>
            </a:endParaRPr>
          </a:p>
        </p:txBody>
      </p:sp>
      <p:sp>
        <p:nvSpPr>
          <p:cNvPr id="262" name="Google Shape;262;p20"/>
          <p:cNvSpPr txBox="1"/>
          <p:nvPr>
            <p:ph idx="1" type="body"/>
          </p:nvPr>
        </p:nvSpPr>
        <p:spPr>
          <a:xfrm>
            <a:off x="457200" y="1174750"/>
            <a:ext cx="8229600" cy="4953000"/>
          </a:xfrm>
          <a:prstGeom prst="rect">
            <a:avLst/>
          </a:prstGeom>
          <a:noFill/>
          <a:ln>
            <a:noFill/>
          </a:ln>
        </p:spPr>
        <p:txBody>
          <a:bodyPr anchorCtr="0" anchor="t" bIns="45700" lIns="91425" spcFirstLastPara="1" rIns="91425" wrap="square" tIns="45700">
            <a:normAutofit fontScale="67500" lnSpcReduction="20000"/>
          </a:bodyPr>
          <a:lstStyle/>
          <a:p>
            <a:pPr indent="-342900" lvl="0" marL="342900" rtl="0" algn="l">
              <a:spcBef>
                <a:spcPts val="0"/>
              </a:spcBef>
              <a:spcAft>
                <a:spcPts val="0"/>
              </a:spcAft>
              <a:buClr>
                <a:schemeClr val="dk1"/>
              </a:buClr>
              <a:buSzPct val="100000"/>
              <a:buFont typeface="Times New Roman"/>
              <a:buChar char="•"/>
            </a:pPr>
            <a:r>
              <a:rPr b="1" lang="en-US">
                <a:latin typeface="Times New Roman"/>
                <a:ea typeface="Times New Roman"/>
                <a:cs typeface="Times New Roman"/>
                <a:sym typeface="Times New Roman"/>
              </a:rPr>
              <a:t>Knowledge consists of data and/or information that have been organized and processed to convey understanding, experience, accumulated learning, and expertise as they apply to a current business problem.</a:t>
            </a:r>
            <a:endParaRPr b="1">
              <a:latin typeface="Times New Roman"/>
              <a:ea typeface="Times New Roman"/>
              <a:cs typeface="Times New Roman"/>
              <a:sym typeface="Times New Roman"/>
            </a:endParaRPr>
          </a:p>
          <a:p>
            <a:pPr indent="-205740" lvl="0" marL="342900" rtl="0" algn="l">
              <a:spcBef>
                <a:spcPts val="432"/>
              </a:spcBef>
              <a:spcAft>
                <a:spcPts val="0"/>
              </a:spcAft>
              <a:buClr>
                <a:schemeClr val="dk1"/>
              </a:buClr>
              <a:buSzPct val="100000"/>
              <a:buFont typeface="Arial"/>
              <a:buNone/>
            </a:pPr>
            <a:r>
              <a:t/>
            </a:r>
            <a:endParaRPr b="1">
              <a:latin typeface="Times New Roman"/>
              <a:ea typeface="Times New Roman"/>
              <a:cs typeface="Times New Roman"/>
              <a:sym typeface="Times New Roman"/>
            </a:endParaRPr>
          </a:p>
          <a:p>
            <a:pPr indent="-342900" lvl="0" marL="342900" rtl="0" algn="l">
              <a:spcBef>
                <a:spcPts val="432"/>
              </a:spcBef>
              <a:spcAft>
                <a:spcPts val="0"/>
              </a:spcAft>
              <a:buClr>
                <a:schemeClr val="dk1"/>
              </a:buClr>
              <a:buSzPct val="100000"/>
              <a:buFont typeface="Times New Roman"/>
              <a:buChar char="•"/>
            </a:pPr>
            <a:r>
              <a:rPr lang="en-US">
                <a:latin typeface="Times New Roman"/>
                <a:ea typeface="Times New Roman"/>
                <a:cs typeface="Times New Roman"/>
                <a:sym typeface="Times New Roman"/>
              </a:rPr>
              <a:t> For example, suppose that a company recruiting at your school has found over time that students with grade point averages over 3.0 have experienced the greatest success in its management program. </a:t>
            </a:r>
            <a:endParaRPr>
              <a:latin typeface="Times New Roman"/>
              <a:ea typeface="Times New Roman"/>
              <a:cs typeface="Times New Roman"/>
              <a:sym typeface="Times New Roman"/>
            </a:endParaRPr>
          </a:p>
          <a:p>
            <a:pPr indent="-205740" lvl="0" marL="342900" rtl="0" algn="l">
              <a:spcBef>
                <a:spcPts val="432"/>
              </a:spcBef>
              <a:spcAft>
                <a:spcPts val="0"/>
              </a:spcAft>
              <a:buClr>
                <a:schemeClr val="dk1"/>
              </a:buClr>
              <a:buSzPct val="100000"/>
              <a:buFont typeface="Arial"/>
              <a:buNone/>
            </a:pPr>
            <a:r>
              <a:t/>
            </a:r>
            <a:endParaRPr>
              <a:latin typeface="Times New Roman"/>
              <a:ea typeface="Times New Roman"/>
              <a:cs typeface="Times New Roman"/>
              <a:sym typeface="Times New Roman"/>
            </a:endParaRPr>
          </a:p>
          <a:p>
            <a:pPr indent="-342900" lvl="0" marL="342900" rtl="0" algn="l">
              <a:spcBef>
                <a:spcPts val="432"/>
              </a:spcBef>
              <a:spcAft>
                <a:spcPts val="0"/>
              </a:spcAft>
              <a:buClr>
                <a:schemeClr val="dk1"/>
              </a:buClr>
              <a:buSzPct val="100000"/>
              <a:buFont typeface="Times New Roman"/>
              <a:buChar char="•"/>
            </a:pPr>
            <a:r>
              <a:rPr lang="en-US">
                <a:latin typeface="Times New Roman"/>
                <a:ea typeface="Times New Roman"/>
                <a:cs typeface="Times New Roman"/>
                <a:sym typeface="Times New Roman"/>
              </a:rPr>
              <a:t>Based on this accumulated knowledge, that company may decide to interview only those students with GPAs over 3.0. </a:t>
            </a:r>
            <a:endParaRPr>
              <a:latin typeface="Times New Roman"/>
              <a:ea typeface="Times New Roman"/>
              <a:cs typeface="Times New Roman"/>
              <a:sym typeface="Times New Roman"/>
            </a:endParaRPr>
          </a:p>
          <a:p>
            <a:pPr indent="-205740" lvl="0" marL="342900" rtl="0" algn="l">
              <a:spcBef>
                <a:spcPts val="432"/>
              </a:spcBef>
              <a:spcAft>
                <a:spcPts val="0"/>
              </a:spcAft>
              <a:buClr>
                <a:schemeClr val="dk1"/>
              </a:buClr>
              <a:buSzPct val="100000"/>
              <a:buFont typeface="Arial"/>
              <a:buNone/>
            </a:pPr>
            <a:r>
              <a:t/>
            </a:r>
            <a:endParaRPr>
              <a:latin typeface="Times New Roman"/>
              <a:ea typeface="Times New Roman"/>
              <a:cs typeface="Times New Roman"/>
              <a:sym typeface="Times New Roman"/>
            </a:endParaRPr>
          </a:p>
          <a:p>
            <a:pPr indent="-342900" lvl="0" marL="342900" rtl="0" algn="l">
              <a:spcBef>
                <a:spcPts val="432"/>
              </a:spcBef>
              <a:spcAft>
                <a:spcPts val="0"/>
              </a:spcAft>
              <a:buClr>
                <a:schemeClr val="dk1"/>
              </a:buClr>
              <a:buSzPct val="100000"/>
              <a:buFont typeface="Times New Roman"/>
              <a:buChar char="•"/>
            </a:pPr>
            <a:r>
              <a:rPr lang="en-US">
                <a:latin typeface="Times New Roman"/>
                <a:ea typeface="Times New Roman"/>
                <a:cs typeface="Times New Roman"/>
                <a:sym typeface="Times New Roman"/>
              </a:rPr>
              <a:t>This example presents an example of knowledge because the company utilizes information—GPAs—to address a business problem—hiring successful employees. As</a:t>
            </a:r>
            <a:endParaRPr>
              <a:latin typeface="Times New Roman"/>
              <a:ea typeface="Times New Roman"/>
              <a:cs typeface="Times New Roman"/>
              <a:sym typeface="Times New Roman"/>
            </a:endParaRPr>
          </a:p>
        </p:txBody>
      </p:sp>
      <p:sp>
        <p:nvSpPr>
          <p:cNvPr id="263" name="Google Shape;263;p2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4" name="Google Shape;264;p2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1"/>
          <p:cNvSpPr txBox="1"/>
          <p:nvPr>
            <p:ph idx="4294967295" type="subTitle"/>
          </p:nvPr>
        </p:nvSpPr>
        <p:spPr>
          <a:xfrm>
            <a:off x="404495" y="685800"/>
            <a:ext cx="8229600" cy="4953000"/>
          </a:xfrm>
          <a:prstGeom prst="rect">
            <a:avLst/>
          </a:prstGeom>
          <a:noFill/>
          <a:ln>
            <a:noFill/>
          </a:ln>
        </p:spPr>
        <p:txBody>
          <a:bodyPr anchorCtr="0" anchor="t" bIns="45700" lIns="91425" spcFirstLastPara="1" rIns="91425" wrap="square" tIns="45700">
            <a:normAutofit lnSpcReduction="10000"/>
          </a:bodyPr>
          <a:lstStyle/>
          <a:p>
            <a:pPr indent="-342900" lvl="0" marL="342900" marR="0" rtl="0" algn="l">
              <a:spcBef>
                <a:spcPts val="0"/>
              </a:spcBef>
              <a:spcAft>
                <a:spcPts val="0"/>
              </a:spcAft>
              <a:buClr>
                <a:schemeClr val="dk1"/>
              </a:buClr>
              <a:buSzPts val="3200"/>
              <a:buFont typeface="Arial"/>
              <a:buChar char="•"/>
            </a:pPr>
            <a:r>
              <a:rPr lang="en-US" sz="3200">
                <a:solidFill>
                  <a:schemeClr val="dk1"/>
                </a:solidFill>
                <a:latin typeface="Arial"/>
                <a:ea typeface="Arial"/>
                <a:cs typeface="Arial"/>
                <a:sym typeface="Arial"/>
              </a:rPr>
              <a:t>Data – Information – Knowledge</a:t>
            </a:r>
            <a:endParaRPr sz="3200">
              <a:solidFill>
                <a:schemeClr val="dk1"/>
              </a:solidFill>
              <a:latin typeface="Arial"/>
              <a:ea typeface="Arial"/>
              <a:cs typeface="Arial"/>
              <a:sym typeface="Arial"/>
            </a:endParaRPr>
          </a:p>
        </p:txBody>
      </p:sp>
      <p:pic>
        <p:nvPicPr>
          <p:cNvPr id="270" name="Google Shape;270;p21"/>
          <p:cNvPicPr preferRelativeResize="0"/>
          <p:nvPr>
            <p:ph idx="4294967295" type="body"/>
          </p:nvPr>
        </p:nvPicPr>
        <p:blipFill rotWithShape="1">
          <a:blip r:embed="rId3">
            <a:alphaModFix/>
          </a:blip>
          <a:srcRect b="0" l="0" r="0" t="0"/>
          <a:stretch/>
        </p:blipFill>
        <p:spPr>
          <a:xfrm>
            <a:off x="1981088" y="1524000"/>
            <a:ext cx="5076414" cy="4724400"/>
          </a:xfrm>
          <a:prstGeom prst="rect">
            <a:avLst/>
          </a:prstGeom>
          <a:noFill/>
          <a:ln>
            <a:noFill/>
          </a:ln>
        </p:spPr>
      </p:pic>
      <p:sp>
        <p:nvSpPr>
          <p:cNvPr id="271" name="Google Shape;271;p2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2" name="Google Shape;272;p2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 name="Shape 277"/>
        <p:cNvGrpSpPr/>
        <p:nvPr/>
      </p:nvGrpSpPr>
      <p:grpSpPr>
        <a:xfrm>
          <a:off x="0" y="0"/>
          <a:ext cx="0" cy="0"/>
          <a:chOff x="0" y="0"/>
          <a:chExt cx="0" cy="0"/>
        </a:xfrm>
      </p:grpSpPr>
      <p:sp>
        <p:nvSpPr>
          <p:cNvPr id="278" name="Google Shape;278;p22"/>
          <p:cNvSpPr txBox="1"/>
          <p:nvPr>
            <p:ph idx="4294967295" type="subTitle"/>
          </p:nvPr>
        </p:nvSpPr>
        <p:spPr>
          <a:xfrm>
            <a:off x="533400" y="457200"/>
            <a:ext cx="8229600" cy="4953000"/>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A computer-based information system (CBIS)</a:t>
            </a:r>
            <a:endParaRPr sz="3200">
              <a:solidFill>
                <a:schemeClr val="dk1"/>
              </a:solidFill>
              <a:latin typeface="Times New Roman"/>
              <a:ea typeface="Times New Roman"/>
              <a:cs typeface="Times New Roman"/>
              <a:sym typeface="Times New Roman"/>
            </a:endParaRPr>
          </a:p>
        </p:txBody>
      </p:sp>
      <p:pic>
        <p:nvPicPr>
          <p:cNvPr id="279" name="Google Shape;279;p22"/>
          <p:cNvPicPr preferRelativeResize="0"/>
          <p:nvPr>
            <p:ph idx="4294967295" type="body"/>
          </p:nvPr>
        </p:nvPicPr>
        <p:blipFill rotWithShape="1">
          <a:blip r:embed="rId3">
            <a:alphaModFix/>
          </a:blip>
          <a:srcRect b="0" l="0" r="0" t="0"/>
          <a:stretch/>
        </p:blipFill>
        <p:spPr>
          <a:xfrm>
            <a:off x="666115" y="1158875"/>
            <a:ext cx="8085455" cy="5546725"/>
          </a:xfrm>
          <a:prstGeom prst="rect">
            <a:avLst/>
          </a:prstGeom>
          <a:noFill/>
          <a:ln>
            <a:noFill/>
          </a:ln>
        </p:spPr>
      </p:pic>
      <p:sp>
        <p:nvSpPr>
          <p:cNvPr id="280" name="Google Shape;280;p2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1" name="Google Shape;281;p2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3"/>
          <p:cNvSpPr txBox="1"/>
          <p:nvPr>
            <p:ph idx="4294967295" type="subTitle"/>
          </p:nvPr>
        </p:nvSpPr>
        <p:spPr>
          <a:xfrm>
            <a:off x="533400" y="533400"/>
            <a:ext cx="8229600" cy="49530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3200"/>
              <a:buFont typeface="Arial"/>
              <a:buChar char="•"/>
            </a:pPr>
            <a:r>
              <a:rPr lang="en-US" sz="3200">
                <a:solidFill>
                  <a:schemeClr val="dk1"/>
                </a:solidFill>
                <a:latin typeface="Arial"/>
                <a:ea typeface="Arial"/>
                <a:cs typeface="Arial"/>
                <a:sym typeface="Arial"/>
              </a:rPr>
              <a:t>Components of a CBIS - </a:t>
            </a:r>
            <a:r>
              <a:rPr lang="en-US" sz="3200">
                <a:solidFill>
                  <a:schemeClr val="dk1"/>
                </a:solidFill>
                <a:latin typeface="Times New Roman"/>
                <a:ea typeface="Times New Roman"/>
                <a:cs typeface="Times New Roman"/>
                <a:sym typeface="Times New Roman"/>
              </a:rPr>
              <a:t>computer-based information system</a:t>
            </a:r>
            <a:endParaRPr sz="3200">
              <a:solidFill>
                <a:schemeClr val="dk1"/>
              </a:solidFill>
              <a:latin typeface="Arial"/>
              <a:ea typeface="Arial"/>
              <a:cs typeface="Arial"/>
              <a:sym typeface="Arial"/>
            </a:endParaRPr>
          </a:p>
        </p:txBody>
      </p:sp>
      <p:sp>
        <p:nvSpPr>
          <p:cNvPr id="288" name="Google Shape;288;p23"/>
          <p:cNvSpPr txBox="1"/>
          <p:nvPr>
            <p:ph idx="4294967295" type="body"/>
          </p:nvPr>
        </p:nvSpPr>
        <p:spPr>
          <a:xfrm>
            <a:off x="381000" y="1828800"/>
            <a:ext cx="8229600" cy="4953000"/>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dk1"/>
              </a:buClr>
              <a:buSzPts val="3200"/>
              <a:buFont typeface="Arial"/>
              <a:buChar char="•"/>
            </a:pPr>
            <a:r>
              <a:rPr lang="en-US" sz="3200">
                <a:solidFill>
                  <a:schemeClr val="dk1"/>
                </a:solidFill>
                <a:latin typeface="Arial"/>
                <a:ea typeface="Arial"/>
                <a:cs typeface="Arial"/>
                <a:sym typeface="Arial"/>
              </a:rPr>
              <a:t>Hardware</a:t>
            </a:r>
            <a:endParaRPr sz="3200">
              <a:solidFill>
                <a:schemeClr val="dk1"/>
              </a:solidFill>
              <a:latin typeface="Arial"/>
              <a:ea typeface="Arial"/>
              <a:cs typeface="Arial"/>
              <a:sym typeface="Arial"/>
            </a:endParaRPr>
          </a:p>
          <a:p>
            <a:pPr indent="-342900" lvl="0" marL="342900" marR="0" rtl="0" algn="l">
              <a:spcBef>
                <a:spcPts val="640"/>
              </a:spcBef>
              <a:spcAft>
                <a:spcPts val="0"/>
              </a:spcAft>
              <a:buClr>
                <a:schemeClr val="dk1"/>
              </a:buClr>
              <a:buSzPts val="3200"/>
              <a:buFont typeface="Arial"/>
              <a:buChar char="•"/>
            </a:pPr>
            <a:r>
              <a:rPr lang="en-US" sz="3200">
                <a:solidFill>
                  <a:schemeClr val="dk1"/>
                </a:solidFill>
                <a:latin typeface="Arial"/>
                <a:ea typeface="Arial"/>
                <a:cs typeface="Arial"/>
                <a:sym typeface="Arial"/>
              </a:rPr>
              <a:t>Software</a:t>
            </a:r>
            <a:endParaRPr sz="3200">
              <a:solidFill>
                <a:schemeClr val="dk1"/>
              </a:solidFill>
              <a:latin typeface="Arial"/>
              <a:ea typeface="Arial"/>
              <a:cs typeface="Arial"/>
              <a:sym typeface="Arial"/>
            </a:endParaRPr>
          </a:p>
          <a:p>
            <a:pPr indent="-342900" lvl="0" marL="342900" marR="0" rtl="0" algn="l">
              <a:spcBef>
                <a:spcPts val="640"/>
              </a:spcBef>
              <a:spcAft>
                <a:spcPts val="0"/>
              </a:spcAft>
              <a:buClr>
                <a:schemeClr val="dk1"/>
              </a:buClr>
              <a:buSzPts val="3200"/>
              <a:buFont typeface="Arial"/>
              <a:buChar char="•"/>
            </a:pPr>
            <a:r>
              <a:rPr lang="en-US" sz="3200">
                <a:solidFill>
                  <a:schemeClr val="dk1"/>
                </a:solidFill>
                <a:latin typeface="Arial"/>
                <a:ea typeface="Arial"/>
                <a:cs typeface="Arial"/>
                <a:sym typeface="Arial"/>
              </a:rPr>
              <a:t>Database</a:t>
            </a:r>
            <a:endParaRPr sz="3200">
              <a:solidFill>
                <a:schemeClr val="dk1"/>
              </a:solidFill>
              <a:latin typeface="Arial"/>
              <a:ea typeface="Arial"/>
              <a:cs typeface="Arial"/>
              <a:sym typeface="Arial"/>
            </a:endParaRPr>
          </a:p>
          <a:p>
            <a:pPr indent="-342900" lvl="0" marL="342900" marR="0" rtl="0" algn="l">
              <a:spcBef>
                <a:spcPts val="640"/>
              </a:spcBef>
              <a:spcAft>
                <a:spcPts val="0"/>
              </a:spcAft>
              <a:buClr>
                <a:schemeClr val="dk1"/>
              </a:buClr>
              <a:buSzPts val="3200"/>
              <a:buFont typeface="Arial"/>
              <a:buChar char="•"/>
            </a:pPr>
            <a:r>
              <a:rPr lang="en-US" sz="3200">
                <a:solidFill>
                  <a:schemeClr val="dk1"/>
                </a:solidFill>
                <a:latin typeface="Arial"/>
                <a:ea typeface="Arial"/>
                <a:cs typeface="Arial"/>
                <a:sym typeface="Arial"/>
              </a:rPr>
              <a:t>Network</a:t>
            </a:r>
            <a:endParaRPr sz="3200">
              <a:solidFill>
                <a:schemeClr val="dk1"/>
              </a:solidFill>
              <a:latin typeface="Arial"/>
              <a:ea typeface="Arial"/>
              <a:cs typeface="Arial"/>
              <a:sym typeface="Arial"/>
            </a:endParaRPr>
          </a:p>
          <a:p>
            <a:pPr indent="-342900" lvl="0" marL="342900" marR="0" rtl="0" algn="l">
              <a:spcBef>
                <a:spcPts val="640"/>
              </a:spcBef>
              <a:spcAft>
                <a:spcPts val="0"/>
              </a:spcAft>
              <a:buClr>
                <a:schemeClr val="dk1"/>
              </a:buClr>
              <a:buSzPts val="3200"/>
              <a:buFont typeface="Arial"/>
              <a:buChar char="•"/>
            </a:pPr>
            <a:r>
              <a:rPr lang="en-US" sz="3200">
                <a:solidFill>
                  <a:schemeClr val="dk1"/>
                </a:solidFill>
                <a:latin typeface="Arial"/>
                <a:ea typeface="Arial"/>
                <a:cs typeface="Arial"/>
                <a:sym typeface="Arial"/>
              </a:rPr>
              <a:t>Procedures</a:t>
            </a:r>
            <a:endParaRPr sz="3200">
              <a:solidFill>
                <a:schemeClr val="dk1"/>
              </a:solidFill>
              <a:latin typeface="Arial"/>
              <a:ea typeface="Arial"/>
              <a:cs typeface="Arial"/>
              <a:sym typeface="Arial"/>
            </a:endParaRPr>
          </a:p>
          <a:p>
            <a:pPr indent="-342900" lvl="0" marL="342900" marR="0" rtl="0" algn="l">
              <a:spcBef>
                <a:spcPts val="640"/>
              </a:spcBef>
              <a:spcAft>
                <a:spcPts val="0"/>
              </a:spcAft>
              <a:buClr>
                <a:schemeClr val="dk1"/>
              </a:buClr>
              <a:buSzPts val="3200"/>
              <a:buFont typeface="Arial"/>
              <a:buChar char="•"/>
            </a:pPr>
            <a:r>
              <a:rPr lang="en-US" sz="3200">
                <a:solidFill>
                  <a:schemeClr val="dk1"/>
                </a:solidFill>
                <a:latin typeface="Arial"/>
                <a:ea typeface="Arial"/>
                <a:cs typeface="Arial"/>
                <a:sym typeface="Arial"/>
              </a:rPr>
              <a:t>People</a:t>
            </a:r>
            <a:endParaRPr sz="3200">
              <a:solidFill>
                <a:schemeClr val="dk1"/>
              </a:solidFill>
              <a:latin typeface="Arial"/>
              <a:ea typeface="Arial"/>
              <a:cs typeface="Arial"/>
              <a:sym typeface="Arial"/>
            </a:endParaRPr>
          </a:p>
        </p:txBody>
      </p:sp>
      <p:sp>
        <p:nvSpPr>
          <p:cNvPr id="289" name="Google Shape;289;p2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0" name="Google Shape;290;p2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4"/>
          <p:cNvSpPr txBox="1"/>
          <p:nvPr>
            <p:ph type="title"/>
          </p:nvPr>
        </p:nvSpPr>
        <p:spPr>
          <a:xfrm>
            <a:off x="67733" y="122238"/>
            <a:ext cx="9762565" cy="868362"/>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2800">
                <a:solidFill>
                  <a:srgbClr val="6600CC"/>
                </a:solidFill>
              </a:rPr>
              <a:t>A computer-based information system(CBIS)</a:t>
            </a:r>
            <a:endParaRPr sz="2800">
              <a:solidFill>
                <a:srgbClr val="6600CC"/>
              </a:solidFill>
            </a:endParaRPr>
          </a:p>
        </p:txBody>
      </p:sp>
      <p:sp>
        <p:nvSpPr>
          <p:cNvPr id="296" name="Google Shape;296;p24"/>
          <p:cNvSpPr txBox="1"/>
          <p:nvPr>
            <p:ph idx="1" type="body"/>
          </p:nvPr>
        </p:nvSpPr>
        <p:spPr>
          <a:xfrm>
            <a:off x="228600" y="990600"/>
            <a:ext cx="8763000" cy="5410200"/>
          </a:xfrm>
          <a:prstGeom prst="rect">
            <a:avLst/>
          </a:prstGeom>
          <a:noFill/>
          <a:ln>
            <a:noFill/>
          </a:ln>
        </p:spPr>
        <p:txBody>
          <a:bodyPr anchorCtr="0" anchor="t" bIns="45700" lIns="91425" spcFirstLastPara="1" rIns="91425" wrap="square" tIns="45700">
            <a:normAutofit fontScale="47500" lnSpcReduction="20000"/>
          </a:bodyPr>
          <a:lstStyle/>
          <a:p>
            <a:pPr indent="-342900" lvl="0" marL="342900" rtl="0" algn="l">
              <a:spcBef>
                <a:spcPts val="0"/>
              </a:spcBef>
              <a:spcAft>
                <a:spcPts val="0"/>
              </a:spcAft>
              <a:buClr>
                <a:schemeClr val="dk1"/>
              </a:buClr>
              <a:buSzPct val="100000"/>
              <a:buFont typeface="Arial"/>
              <a:buChar char="•"/>
            </a:pPr>
            <a:r>
              <a:rPr lang="en-US" sz="3800"/>
              <a:t>A computer-based information system (CBIS) is an information system that uses computer technology to perform some or all of its intended tasks. </a:t>
            </a:r>
            <a:endParaRPr sz="3800"/>
          </a:p>
          <a:p>
            <a:pPr indent="-228282" lvl="0" marL="342900" rtl="0" algn="l">
              <a:spcBef>
                <a:spcPts val="361"/>
              </a:spcBef>
              <a:spcAft>
                <a:spcPts val="0"/>
              </a:spcAft>
              <a:buClr>
                <a:schemeClr val="dk1"/>
              </a:buClr>
              <a:buSzPct val="100000"/>
              <a:buFont typeface="Arial"/>
              <a:buNone/>
            </a:pPr>
            <a:r>
              <a:t/>
            </a:r>
            <a:endParaRPr sz="3800"/>
          </a:p>
          <a:p>
            <a:pPr indent="0" lvl="0" marL="0" rtl="0" algn="l">
              <a:spcBef>
                <a:spcPts val="361"/>
              </a:spcBef>
              <a:spcAft>
                <a:spcPts val="0"/>
              </a:spcAft>
              <a:buClr>
                <a:schemeClr val="accent1"/>
              </a:buClr>
              <a:buSzPct val="100000"/>
              <a:buFont typeface="Arial"/>
              <a:buNone/>
            </a:pPr>
            <a:r>
              <a:rPr b="1" lang="en-US" sz="3800">
                <a:solidFill>
                  <a:schemeClr val="accent1"/>
                </a:solidFill>
              </a:rPr>
              <a:t>Four components interact to form a CBIS.</a:t>
            </a:r>
            <a:endParaRPr b="1" sz="3800">
              <a:solidFill>
                <a:schemeClr val="accent1"/>
              </a:solidFill>
            </a:endParaRPr>
          </a:p>
          <a:p>
            <a:pPr indent="0" lvl="0" marL="0" rtl="0" algn="l">
              <a:spcBef>
                <a:spcPts val="361"/>
              </a:spcBef>
              <a:spcAft>
                <a:spcPts val="0"/>
              </a:spcAft>
              <a:buClr>
                <a:schemeClr val="dk1"/>
              </a:buClr>
              <a:buSzPct val="100000"/>
              <a:buFont typeface="Arial"/>
              <a:buNone/>
            </a:pPr>
            <a:r>
              <a:rPr lang="en-US" sz="3800"/>
              <a:t> </a:t>
            </a:r>
            <a:r>
              <a:rPr b="1" lang="en-US" sz="3800"/>
              <a:t>Hardware</a:t>
            </a:r>
            <a:r>
              <a:rPr lang="en-US" sz="3800"/>
              <a:t> consists of devices such as the processor, monitor, keyboard, and printer.</a:t>
            </a:r>
            <a:endParaRPr sz="3800"/>
          </a:p>
          <a:p>
            <a:pPr indent="-342900" lvl="0" marL="342900" rtl="0" algn="l">
              <a:spcBef>
                <a:spcPts val="361"/>
              </a:spcBef>
              <a:spcAft>
                <a:spcPts val="0"/>
              </a:spcAft>
              <a:buClr>
                <a:schemeClr val="dk1"/>
              </a:buClr>
              <a:buSzPct val="100000"/>
              <a:buFont typeface="Arial"/>
              <a:buNone/>
            </a:pPr>
            <a:r>
              <a:rPr lang="en-US" sz="3800"/>
              <a:t>     Together, these devices accept, process, and display data and information.</a:t>
            </a:r>
            <a:endParaRPr sz="3800"/>
          </a:p>
          <a:p>
            <a:pPr indent="-342900" lvl="0" marL="342900" rtl="0" algn="l">
              <a:spcBef>
                <a:spcPts val="361"/>
              </a:spcBef>
              <a:spcAft>
                <a:spcPts val="0"/>
              </a:spcAft>
              <a:buClr>
                <a:schemeClr val="dk1"/>
              </a:buClr>
              <a:buSzPct val="100000"/>
              <a:buFont typeface="Arial"/>
              <a:buNone/>
            </a:pPr>
            <a:r>
              <a:t/>
            </a:r>
            <a:endParaRPr sz="3800"/>
          </a:p>
          <a:p>
            <a:pPr indent="-342900" lvl="0" marL="342900" rtl="0" algn="l">
              <a:spcBef>
                <a:spcPts val="361"/>
              </a:spcBef>
              <a:spcAft>
                <a:spcPts val="0"/>
              </a:spcAft>
              <a:buClr>
                <a:schemeClr val="dk1"/>
              </a:buClr>
              <a:buSzPct val="100000"/>
              <a:buFont typeface="Noto Sans Symbols"/>
              <a:buChar char="✔"/>
            </a:pPr>
            <a:r>
              <a:rPr b="1" lang="en-US" sz="3800"/>
              <a:t>Software</a:t>
            </a:r>
            <a:r>
              <a:rPr lang="en-US" sz="3800"/>
              <a:t> is a program or collection of programs that enable the hardware to process data.</a:t>
            </a:r>
            <a:endParaRPr sz="3800"/>
          </a:p>
          <a:p>
            <a:pPr indent="-342900" lvl="0" marL="342900" rtl="0" algn="l">
              <a:spcBef>
                <a:spcPts val="361"/>
              </a:spcBef>
              <a:spcAft>
                <a:spcPts val="0"/>
              </a:spcAft>
              <a:buClr>
                <a:schemeClr val="dk1"/>
              </a:buClr>
              <a:buSzPct val="100000"/>
              <a:buFont typeface="Noto Sans Symbols"/>
              <a:buChar char="✔"/>
            </a:pPr>
            <a:r>
              <a:rPr lang="en-US" sz="3800"/>
              <a:t> A </a:t>
            </a:r>
            <a:r>
              <a:rPr b="1" lang="en-US" sz="3800"/>
              <a:t>database</a:t>
            </a:r>
            <a:r>
              <a:rPr lang="en-US" sz="3800"/>
              <a:t> is a collection of related files or tables containing data.</a:t>
            </a:r>
            <a:endParaRPr sz="3800"/>
          </a:p>
          <a:p>
            <a:pPr indent="-228282" lvl="0" marL="342900" rtl="0" algn="l">
              <a:spcBef>
                <a:spcPts val="361"/>
              </a:spcBef>
              <a:spcAft>
                <a:spcPts val="0"/>
              </a:spcAft>
              <a:buClr>
                <a:schemeClr val="dk1"/>
              </a:buClr>
              <a:buSzPct val="100000"/>
              <a:buFont typeface="Noto Sans Symbols"/>
              <a:buNone/>
            </a:pPr>
            <a:r>
              <a:t/>
            </a:r>
            <a:endParaRPr sz="3800"/>
          </a:p>
          <a:p>
            <a:pPr indent="-342900" lvl="0" marL="342900" rtl="0" algn="l">
              <a:spcBef>
                <a:spcPts val="361"/>
              </a:spcBef>
              <a:spcAft>
                <a:spcPts val="0"/>
              </a:spcAft>
              <a:buClr>
                <a:schemeClr val="dk1"/>
              </a:buClr>
              <a:buSzPct val="100000"/>
              <a:buFont typeface="Noto Sans Symbols"/>
              <a:buChar char="✔"/>
            </a:pPr>
            <a:r>
              <a:rPr lang="en-US" sz="3800"/>
              <a:t>A </a:t>
            </a:r>
            <a:r>
              <a:rPr b="1" lang="en-US" sz="3800"/>
              <a:t>network i</a:t>
            </a:r>
            <a:r>
              <a:rPr lang="en-US" sz="3800"/>
              <a:t>s a connecting system (wireline or wireless) that permits different computers to share resources.</a:t>
            </a:r>
            <a:endParaRPr sz="3800"/>
          </a:p>
          <a:p>
            <a:pPr indent="-228282" lvl="0" marL="342900" rtl="0" algn="l">
              <a:spcBef>
                <a:spcPts val="361"/>
              </a:spcBef>
              <a:spcAft>
                <a:spcPts val="0"/>
              </a:spcAft>
              <a:buClr>
                <a:schemeClr val="dk1"/>
              </a:buClr>
              <a:buSzPct val="100000"/>
              <a:buFont typeface="Noto Sans Symbols"/>
              <a:buNone/>
            </a:pPr>
            <a:r>
              <a:t/>
            </a:r>
            <a:endParaRPr sz="3800"/>
          </a:p>
          <a:p>
            <a:pPr indent="-342900" lvl="0" marL="342900" rtl="0" algn="l">
              <a:spcBef>
                <a:spcPts val="361"/>
              </a:spcBef>
              <a:spcAft>
                <a:spcPts val="0"/>
              </a:spcAft>
              <a:buClr>
                <a:schemeClr val="dk1"/>
              </a:buClr>
              <a:buSzPct val="100000"/>
              <a:buFont typeface="Arial"/>
              <a:buChar char="•"/>
            </a:pPr>
            <a:r>
              <a:rPr b="1" lang="en-US" sz="3800"/>
              <a:t>Procedures are the instructions for combining the above components to process information </a:t>
            </a:r>
            <a:r>
              <a:rPr lang="en-US" sz="3800"/>
              <a:t>and generate the desired output.</a:t>
            </a:r>
            <a:endParaRPr sz="3800"/>
          </a:p>
          <a:p>
            <a:pPr indent="-342900" lvl="0" marL="342900" rtl="0" algn="l">
              <a:spcBef>
                <a:spcPts val="361"/>
              </a:spcBef>
              <a:spcAft>
                <a:spcPts val="0"/>
              </a:spcAft>
              <a:buClr>
                <a:schemeClr val="dk1"/>
              </a:buClr>
              <a:buSzPct val="100000"/>
              <a:buFont typeface="Arial"/>
              <a:buChar char="•"/>
            </a:pPr>
            <a:r>
              <a:rPr b="1" i="1" lang="en-US" sz="3800"/>
              <a:t>People</a:t>
            </a:r>
            <a:r>
              <a:rPr i="1" lang="en-US" sz="3800"/>
              <a:t> are those individuals who use the hardware and software, interface with it, or utilize </a:t>
            </a:r>
            <a:r>
              <a:rPr lang="en-US" sz="3800"/>
              <a:t>its output.</a:t>
            </a:r>
            <a:endParaRPr sz="3800"/>
          </a:p>
          <a:p>
            <a:pPr indent="-246380" lvl="0" marL="342900" rtl="0" algn="l">
              <a:spcBef>
                <a:spcPts val="304"/>
              </a:spcBef>
              <a:spcAft>
                <a:spcPts val="0"/>
              </a:spcAft>
              <a:buClr>
                <a:schemeClr val="dk1"/>
              </a:buClr>
              <a:buSzPct val="100000"/>
              <a:buFont typeface="Noto Sans Symbols"/>
              <a:buNone/>
            </a:pPr>
            <a:r>
              <a:t/>
            </a:r>
            <a:endParaRPr/>
          </a:p>
        </p:txBody>
      </p:sp>
      <p:sp>
        <p:nvSpPr>
          <p:cNvPr id="297" name="Google Shape;297;p2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8" name="Google Shape;298;p2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5"/>
          <p:cNvSpPr txBox="1"/>
          <p:nvPr>
            <p:ph idx="4294967295" type="subTitle"/>
          </p:nvPr>
        </p:nvSpPr>
        <p:spPr>
          <a:xfrm>
            <a:off x="502025" y="0"/>
            <a:ext cx="8153399" cy="1447800"/>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dk1"/>
              </a:buClr>
              <a:buSzPts val="4000"/>
              <a:buFont typeface="Arial"/>
              <a:buChar char="•"/>
            </a:pPr>
            <a:r>
              <a:rPr lang="en-US" sz="4000">
                <a:solidFill>
                  <a:schemeClr val="dk1"/>
                </a:solidFill>
                <a:latin typeface="Arial"/>
                <a:ea typeface="Arial"/>
                <a:cs typeface="Arial"/>
                <a:sym typeface="Arial"/>
              </a:rPr>
              <a:t>Information technology inside your organization</a:t>
            </a:r>
            <a:endParaRPr sz="4000">
              <a:solidFill>
                <a:schemeClr val="dk1"/>
              </a:solidFill>
              <a:latin typeface="Arial"/>
              <a:ea typeface="Arial"/>
              <a:cs typeface="Arial"/>
              <a:sym typeface="Arial"/>
            </a:endParaRPr>
          </a:p>
        </p:txBody>
      </p:sp>
      <p:pic>
        <p:nvPicPr>
          <p:cNvPr id="305" name="Google Shape;305;p25"/>
          <p:cNvPicPr preferRelativeResize="0"/>
          <p:nvPr>
            <p:ph idx="4294967295" type="body"/>
          </p:nvPr>
        </p:nvPicPr>
        <p:blipFill rotWithShape="1">
          <a:blip r:embed="rId3">
            <a:alphaModFix/>
          </a:blip>
          <a:srcRect b="0" l="0" r="0" t="0"/>
          <a:stretch/>
        </p:blipFill>
        <p:spPr>
          <a:xfrm>
            <a:off x="1207389" y="1447800"/>
            <a:ext cx="7203000" cy="5362500"/>
          </a:xfrm>
          <a:prstGeom prst="rect">
            <a:avLst/>
          </a:prstGeom>
          <a:noFill/>
          <a:ln>
            <a:noFill/>
          </a:ln>
        </p:spPr>
      </p:pic>
      <p:sp>
        <p:nvSpPr>
          <p:cNvPr id="306" name="Google Shape;306;p2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7" name="Google Shape;307;p2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6"/>
          <p:cNvSpPr txBox="1"/>
          <p:nvPr>
            <p:ph type="title"/>
          </p:nvPr>
        </p:nvSpPr>
        <p:spPr>
          <a:xfrm>
            <a:off x="457200" y="190500"/>
            <a:ext cx="8229600" cy="5826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6600FF"/>
                </a:solidFill>
              </a:rPr>
              <a:t>IT Infrastructure</a:t>
            </a:r>
            <a:endParaRPr>
              <a:solidFill>
                <a:srgbClr val="6600FF"/>
              </a:solidFill>
            </a:endParaRPr>
          </a:p>
        </p:txBody>
      </p:sp>
      <p:sp>
        <p:nvSpPr>
          <p:cNvPr id="313" name="Google Shape;313;p26"/>
          <p:cNvSpPr txBox="1"/>
          <p:nvPr>
            <p:ph idx="1" type="body"/>
          </p:nvPr>
        </p:nvSpPr>
        <p:spPr>
          <a:xfrm>
            <a:off x="457200" y="1174750"/>
            <a:ext cx="8229600" cy="4953000"/>
          </a:xfrm>
          <a:prstGeom prst="rect">
            <a:avLst/>
          </a:prstGeom>
          <a:noFill/>
          <a:ln>
            <a:noFill/>
          </a:ln>
        </p:spPr>
        <p:txBody>
          <a:bodyPr anchorCtr="0" anchor="t" bIns="45700" lIns="91425" spcFirstLastPara="1" rIns="91425" wrap="square" tIns="45700">
            <a:normAutofit fontScale="67500" lnSpcReduction="20000"/>
          </a:bodyPr>
          <a:lstStyle/>
          <a:p>
            <a:pPr indent="-342900" lvl="0" marL="342900" rtl="0" algn="l">
              <a:spcBef>
                <a:spcPts val="0"/>
              </a:spcBef>
              <a:spcAft>
                <a:spcPts val="0"/>
              </a:spcAft>
              <a:buClr>
                <a:schemeClr val="dk1"/>
              </a:buClr>
              <a:buSzPct val="100000"/>
              <a:buFont typeface="Arial"/>
              <a:buChar char="•"/>
            </a:pPr>
            <a:r>
              <a:rPr b="1" lang="en-US"/>
              <a:t>IT components </a:t>
            </a:r>
            <a:r>
              <a:rPr lang="en-US"/>
              <a:t>of hardware, software, networks (wireline and wireless), and databases form the </a:t>
            </a:r>
            <a:r>
              <a:rPr b="1" lang="en-US"/>
              <a:t>information technology platform. </a:t>
            </a:r>
            <a:endParaRPr b="1"/>
          </a:p>
          <a:p>
            <a:pPr indent="-342900" lvl="0" marL="342900" rtl="0" algn="l">
              <a:spcBef>
                <a:spcPts val="432"/>
              </a:spcBef>
              <a:spcAft>
                <a:spcPts val="0"/>
              </a:spcAft>
              <a:buClr>
                <a:schemeClr val="dk1"/>
              </a:buClr>
              <a:buSzPct val="100000"/>
              <a:buFont typeface="Arial"/>
              <a:buChar char="•"/>
            </a:pPr>
            <a:r>
              <a:rPr b="1" lang="en-US"/>
              <a:t>IT personnel </a:t>
            </a:r>
            <a:r>
              <a:rPr lang="en-US"/>
              <a:t>use these components to develop information systems, oversee security and risk, and manage data. </a:t>
            </a:r>
            <a:endParaRPr/>
          </a:p>
          <a:p>
            <a:pPr indent="-205740" lvl="0" marL="342900" rtl="0" algn="l">
              <a:spcBef>
                <a:spcPts val="432"/>
              </a:spcBef>
              <a:spcAft>
                <a:spcPts val="0"/>
              </a:spcAft>
              <a:buClr>
                <a:schemeClr val="dk1"/>
              </a:buClr>
              <a:buSzPct val="100000"/>
              <a:buFont typeface="Arial"/>
              <a:buNone/>
            </a:pPr>
            <a:r>
              <a:t/>
            </a:r>
            <a:endParaRPr/>
          </a:p>
          <a:p>
            <a:pPr indent="-342900" lvl="0" marL="342900" rtl="0" algn="l">
              <a:spcBef>
                <a:spcPts val="432"/>
              </a:spcBef>
              <a:spcAft>
                <a:spcPts val="0"/>
              </a:spcAft>
              <a:buClr>
                <a:schemeClr val="dk1"/>
              </a:buClr>
              <a:buSzPct val="100000"/>
              <a:buFont typeface="Arial"/>
              <a:buChar char="•"/>
            </a:pPr>
            <a:r>
              <a:rPr lang="en-US"/>
              <a:t>These activities cumulatively are called </a:t>
            </a:r>
            <a:r>
              <a:rPr b="1" lang="en-US"/>
              <a:t>information technology services.  </a:t>
            </a:r>
            <a:endParaRPr b="1"/>
          </a:p>
          <a:p>
            <a:pPr indent="-205740" lvl="0" marL="342900" rtl="0" algn="l">
              <a:spcBef>
                <a:spcPts val="432"/>
              </a:spcBef>
              <a:spcAft>
                <a:spcPts val="0"/>
              </a:spcAft>
              <a:buClr>
                <a:schemeClr val="dk1"/>
              </a:buClr>
              <a:buSzPct val="100000"/>
              <a:buFont typeface="Arial"/>
              <a:buNone/>
            </a:pPr>
            <a:r>
              <a:t/>
            </a:r>
            <a:endParaRPr b="1"/>
          </a:p>
          <a:p>
            <a:pPr indent="-342900" lvl="0" marL="342900" rtl="0" algn="l">
              <a:spcBef>
                <a:spcPts val="432"/>
              </a:spcBef>
              <a:spcAft>
                <a:spcPts val="0"/>
              </a:spcAft>
              <a:buClr>
                <a:schemeClr val="dk1"/>
              </a:buClr>
              <a:buSzPct val="100000"/>
              <a:buFont typeface="Arial"/>
              <a:buChar char="•"/>
            </a:pPr>
            <a:r>
              <a:rPr b="1" lang="en-US"/>
              <a:t>The IT components plus IT services comprise the </a:t>
            </a:r>
            <a:r>
              <a:rPr lang="en-US"/>
              <a:t>organization’s </a:t>
            </a:r>
            <a:r>
              <a:rPr b="1" lang="en-US"/>
              <a:t>information technology infrastructure. </a:t>
            </a:r>
            <a:endParaRPr b="1"/>
          </a:p>
          <a:p>
            <a:pPr indent="-205740" lvl="0" marL="342900" rtl="0" algn="l">
              <a:spcBef>
                <a:spcPts val="432"/>
              </a:spcBef>
              <a:spcAft>
                <a:spcPts val="0"/>
              </a:spcAft>
              <a:buClr>
                <a:schemeClr val="dk1"/>
              </a:buClr>
              <a:buSzPct val="100000"/>
              <a:buFont typeface="Arial"/>
              <a:buNone/>
            </a:pPr>
            <a:r>
              <a:t/>
            </a:r>
            <a:endParaRPr b="1"/>
          </a:p>
          <a:p>
            <a:pPr indent="-342900" lvl="0" marL="342900" rtl="0" algn="l">
              <a:spcBef>
                <a:spcPts val="432"/>
              </a:spcBef>
              <a:spcAft>
                <a:spcPts val="0"/>
              </a:spcAft>
              <a:buClr>
                <a:schemeClr val="dk1"/>
              </a:buClr>
              <a:buSzPct val="100000"/>
              <a:buFont typeface="Arial"/>
              <a:buChar char="•"/>
            </a:pPr>
            <a:r>
              <a:rPr b="1" lang="en-US"/>
              <a:t>At the top of the pyramid are the various </a:t>
            </a:r>
            <a:r>
              <a:rPr lang="en-US"/>
              <a:t>organizational information systems.</a:t>
            </a:r>
            <a:endParaRPr/>
          </a:p>
        </p:txBody>
      </p:sp>
      <p:sp>
        <p:nvSpPr>
          <p:cNvPr id="314" name="Google Shape;314;p2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5" name="Google Shape;315;p2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7"/>
          <p:cNvSpPr txBox="1"/>
          <p:nvPr>
            <p:ph type="title"/>
          </p:nvPr>
        </p:nvSpPr>
        <p:spPr>
          <a:xfrm>
            <a:off x="457200" y="474345"/>
            <a:ext cx="8229600" cy="5826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6600FF"/>
                </a:solidFill>
              </a:rPr>
              <a:t>Major Capabilities of IS</a:t>
            </a:r>
            <a:endParaRPr>
              <a:solidFill>
                <a:srgbClr val="6600FF"/>
              </a:solidFill>
            </a:endParaRPr>
          </a:p>
        </p:txBody>
      </p:sp>
      <p:sp>
        <p:nvSpPr>
          <p:cNvPr id="321" name="Google Shape;321;p27"/>
          <p:cNvSpPr txBox="1"/>
          <p:nvPr>
            <p:ph idx="1" type="body"/>
          </p:nvPr>
        </p:nvSpPr>
        <p:spPr>
          <a:xfrm>
            <a:off x="457200" y="1174750"/>
            <a:ext cx="8229600" cy="4953000"/>
          </a:xfrm>
          <a:prstGeom prst="rect">
            <a:avLst/>
          </a:prstGeom>
          <a:noFill/>
          <a:ln>
            <a:noFill/>
          </a:ln>
        </p:spPr>
        <p:txBody>
          <a:bodyPr anchorCtr="0" anchor="t" bIns="45700" lIns="91425" spcFirstLastPara="1" rIns="91425" wrap="square" tIns="45700">
            <a:normAutofit fontScale="67500" lnSpcReduction="20000"/>
          </a:bodyPr>
          <a:lstStyle/>
          <a:p>
            <a:pPr indent="-342900" lvl="0" marL="342900" rtl="0" algn="l">
              <a:spcBef>
                <a:spcPts val="0"/>
              </a:spcBef>
              <a:spcAft>
                <a:spcPts val="0"/>
              </a:spcAft>
              <a:buClr>
                <a:schemeClr val="dk1"/>
              </a:buClr>
              <a:buSzPct val="100000"/>
              <a:buFont typeface="Arial"/>
              <a:buChar char="•"/>
            </a:pPr>
            <a:r>
              <a:rPr lang="en-US"/>
              <a:t>Perform high-speed, high-volume numerical computations.</a:t>
            </a:r>
            <a:endParaRPr/>
          </a:p>
          <a:p>
            <a:pPr indent="-205740" lvl="0" marL="342900" rtl="0" algn="l">
              <a:spcBef>
                <a:spcPts val="432"/>
              </a:spcBef>
              <a:spcAft>
                <a:spcPts val="0"/>
              </a:spcAft>
              <a:buClr>
                <a:schemeClr val="dk1"/>
              </a:buClr>
              <a:buSzPct val="100000"/>
              <a:buFont typeface="Arial"/>
              <a:buNone/>
            </a:pPr>
            <a:r>
              <a:t/>
            </a:r>
            <a:endParaRPr/>
          </a:p>
          <a:p>
            <a:pPr indent="-342900" lvl="0" marL="342900" rtl="0" algn="l">
              <a:spcBef>
                <a:spcPts val="432"/>
              </a:spcBef>
              <a:spcAft>
                <a:spcPts val="0"/>
              </a:spcAft>
              <a:buClr>
                <a:schemeClr val="dk1"/>
              </a:buClr>
              <a:buSzPct val="100000"/>
              <a:buFont typeface="Arial"/>
              <a:buChar char="•"/>
            </a:pPr>
            <a:r>
              <a:rPr lang="en-US"/>
              <a:t>Provide fast, accurate communication and collaboration within and among organizations.</a:t>
            </a:r>
            <a:endParaRPr/>
          </a:p>
          <a:p>
            <a:pPr indent="-205740" lvl="0" marL="342900" rtl="0" algn="l">
              <a:spcBef>
                <a:spcPts val="432"/>
              </a:spcBef>
              <a:spcAft>
                <a:spcPts val="0"/>
              </a:spcAft>
              <a:buClr>
                <a:schemeClr val="dk1"/>
              </a:buClr>
              <a:buSzPct val="100000"/>
              <a:buFont typeface="Arial"/>
              <a:buNone/>
            </a:pPr>
            <a:r>
              <a:t/>
            </a:r>
            <a:endParaRPr/>
          </a:p>
          <a:p>
            <a:pPr indent="-342900" lvl="0" marL="342900" rtl="0" algn="l">
              <a:spcBef>
                <a:spcPts val="432"/>
              </a:spcBef>
              <a:spcAft>
                <a:spcPts val="0"/>
              </a:spcAft>
              <a:buClr>
                <a:schemeClr val="dk1"/>
              </a:buClr>
              <a:buSzPct val="100000"/>
              <a:buFont typeface="Arial"/>
              <a:buChar char="•"/>
            </a:pPr>
            <a:r>
              <a:rPr lang="en-US"/>
              <a:t>Store huge amounts of information in an easy-to-access, yet small space.</a:t>
            </a:r>
            <a:endParaRPr/>
          </a:p>
          <a:p>
            <a:pPr indent="-205740" lvl="0" marL="342900" rtl="0" algn="l">
              <a:spcBef>
                <a:spcPts val="432"/>
              </a:spcBef>
              <a:spcAft>
                <a:spcPts val="0"/>
              </a:spcAft>
              <a:buClr>
                <a:schemeClr val="dk1"/>
              </a:buClr>
              <a:buSzPct val="100000"/>
              <a:buFont typeface="Arial"/>
              <a:buNone/>
            </a:pPr>
            <a:r>
              <a:t/>
            </a:r>
            <a:endParaRPr/>
          </a:p>
          <a:p>
            <a:pPr indent="-342900" lvl="0" marL="342900" rtl="0" algn="l">
              <a:spcBef>
                <a:spcPts val="432"/>
              </a:spcBef>
              <a:spcAft>
                <a:spcPts val="0"/>
              </a:spcAft>
              <a:buClr>
                <a:schemeClr val="dk1"/>
              </a:buClr>
              <a:buSzPct val="100000"/>
              <a:buFont typeface="Arial"/>
              <a:buChar char="•"/>
            </a:pPr>
            <a:r>
              <a:rPr lang="en-US"/>
              <a:t>Allow quick and inexpensive access to vast amounts of information, worldwide.</a:t>
            </a:r>
            <a:endParaRPr/>
          </a:p>
          <a:p>
            <a:pPr indent="-205740" lvl="0" marL="342900" rtl="0" algn="l">
              <a:spcBef>
                <a:spcPts val="432"/>
              </a:spcBef>
              <a:spcAft>
                <a:spcPts val="0"/>
              </a:spcAft>
              <a:buClr>
                <a:schemeClr val="dk1"/>
              </a:buClr>
              <a:buSzPct val="100000"/>
              <a:buFont typeface="Arial"/>
              <a:buNone/>
            </a:pPr>
            <a:r>
              <a:t/>
            </a:r>
            <a:endParaRPr/>
          </a:p>
          <a:p>
            <a:pPr indent="-342900" lvl="0" marL="342900" rtl="0" algn="l">
              <a:spcBef>
                <a:spcPts val="432"/>
              </a:spcBef>
              <a:spcAft>
                <a:spcPts val="0"/>
              </a:spcAft>
              <a:buClr>
                <a:schemeClr val="dk1"/>
              </a:buClr>
              <a:buSzPct val="100000"/>
              <a:buFont typeface="Arial"/>
              <a:buChar char="•"/>
            </a:pPr>
            <a:r>
              <a:rPr lang="en-US"/>
              <a:t>Interpret vast amounts of data quickly and efficiently.</a:t>
            </a:r>
            <a:endParaRPr/>
          </a:p>
          <a:p>
            <a:pPr indent="-205740" lvl="0" marL="342900" rtl="0" algn="l">
              <a:spcBef>
                <a:spcPts val="432"/>
              </a:spcBef>
              <a:spcAft>
                <a:spcPts val="0"/>
              </a:spcAft>
              <a:buClr>
                <a:schemeClr val="dk1"/>
              </a:buClr>
              <a:buSzPct val="100000"/>
              <a:buFont typeface="Arial"/>
              <a:buNone/>
            </a:pPr>
            <a:r>
              <a:t/>
            </a:r>
            <a:endParaRPr/>
          </a:p>
          <a:p>
            <a:pPr indent="-342900" lvl="0" marL="342900" rtl="0" algn="l">
              <a:spcBef>
                <a:spcPts val="432"/>
              </a:spcBef>
              <a:spcAft>
                <a:spcPts val="0"/>
              </a:spcAft>
              <a:buClr>
                <a:schemeClr val="dk1"/>
              </a:buClr>
              <a:buSzPct val="100000"/>
              <a:buFont typeface="Arial"/>
              <a:buChar char="•"/>
            </a:pPr>
            <a:r>
              <a:rPr lang="en-US"/>
              <a:t>Automate both semiautomatic business processes and manual tasks.</a:t>
            </a:r>
            <a:endParaRPr/>
          </a:p>
        </p:txBody>
      </p:sp>
      <p:sp>
        <p:nvSpPr>
          <p:cNvPr id="322" name="Google Shape;322;p2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3" name="Google Shape;323;p2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8"/>
          <p:cNvSpPr txBox="1"/>
          <p:nvPr>
            <p:ph idx="4294967295" type="subTitle"/>
          </p:nvPr>
        </p:nvSpPr>
        <p:spPr>
          <a:xfrm>
            <a:off x="225375" y="1046400"/>
            <a:ext cx="8229600" cy="3000000"/>
          </a:xfrm>
          <a:prstGeom prst="rect">
            <a:avLst/>
          </a:prstGeom>
          <a:noFill/>
          <a:ln>
            <a:noFill/>
          </a:ln>
        </p:spPr>
        <p:txBody>
          <a:bodyPr anchorCtr="0" anchor="t" bIns="45700" lIns="91425" spcFirstLastPara="1" rIns="91425" wrap="square" tIns="45700">
            <a:normAutofit/>
          </a:bodyPr>
          <a:lstStyle/>
          <a:p>
            <a:pPr indent="-358140" lvl="0" marL="342900" marR="0" rtl="0" algn="l">
              <a:spcBef>
                <a:spcPts val="0"/>
              </a:spcBef>
              <a:spcAft>
                <a:spcPts val="0"/>
              </a:spcAft>
              <a:buClr>
                <a:schemeClr val="dk1"/>
              </a:buClr>
              <a:buSzPts val="3200"/>
              <a:buFont typeface="Arial"/>
              <a:buChar char="•"/>
            </a:pPr>
            <a:r>
              <a:rPr lang="en-US" sz="3200">
                <a:solidFill>
                  <a:schemeClr val="dk1"/>
                </a:solidFill>
                <a:latin typeface="Arial"/>
                <a:ea typeface="Arial"/>
                <a:cs typeface="Arial"/>
                <a:sym typeface="Arial"/>
              </a:rPr>
              <a:t>Types of Computer Based Information Systems (CBIS)</a:t>
            </a:r>
            <a:endParaRPr sz="3200">
              <a:solidFill>
                <a:schemeClr val="dk1"/>
              </a:solidFill>
              <a:latin typeface="Arial"/>
              <a:ea typeface="Arial"/>
              <a:cs typeface="Arial"/>
              <a:sym typeface="Arial"/>
            </a:endParaRPr>
          </a:p>
        </p:txBody>
      </p:sp>
      <p:sp>
        <p:nvSpPr>
          <p:cNvPr id="329" name="Google Shape;329;p28"/>
          <p:cNvSpPr txBox="1"/>
          <p:nvPr>
            <p:ph idx="4294967295" type="body"/>
          </p:nvPr>
        </p:nvSpPr>
        <p:spPr>
          <a:xfrm>
            <a:off x="457200" y="3272300"/>
            <a:ext cx="8229600" cy="4953000"/>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dk1"/>
              </a:buClr>
              <a:buSzPts val="3200"/>
              <a:buFont typeface="Arial"/>
              <a:buChar char="•"/>
            </a:pPr>
            <a:r>
              <a:rPr lang="en-US" sz="3200">
                <a:solidFill>
                  <a:schemeClr val="dk1"/>
                </a:solidFill>
                <a:latin typeface="Arial"/>
                <a:ea typeface="Arial"/>
                <a:cs typeface="Arial"/>
                <a:sym typeface="Arial"/>
              </a:rPr>
              <a:t>Breadth of Support for Information Systems (IS)</a:t>
            </a:r>
            <a:endParaRPr sz="3200">
              <a:solidFill>
                <a:schemeClr val="dk1"/>
              </a:solidFill>
              <a:latin typeface="Arial"/>
              <a:ea typeface="Arial"/>
              <a:cs typeface="Arial"/>
              <a:sym typeface="Arial"/>
            </a:endParaRPr>
          </a:p>
          <a:p>
            <a:pPr indent="-342900" lvl="0" marL="342900" marR="0" rtl="0" algn="l">
              <a:spcBef>
                <a:spcPts val="640"/>
              </a:spcBef>
              <a:spcAft>
                <a:spcPts val="0"/>
              </a:spcAft>
              <a:buClr>
                <a:schemeClr val="dk1"/>
              </a:buClr>
              <a:buSzPts val="3200"/>
              <a:buFont typeface="Arial"/>
              <a:buChar char="•"/>
            </a:pPr>
            <a:r>
              <a:rPr lang="en-US" sz="3200">
                <a:solidFill>
                  <a:schemeClr val="dk1"/>
                </a:solidFill>
                <a:latin typeface="Arial"/>
                <a:ea typeface="Arial"/>
                <a:cs typeface="Arial"/>
                <a:sym typeface="Arial"/>
              </a:rPr>
              <a:t>Support for Organizational Employees</a:t>
            </a:r>
            <a:endParaRPr sz="3200">
              <a:solidFill>
                <a:schemeClr val="dk1"/>
              </a:solidFill>
              <a:latin typeface="Arial"/>
              <a:ea typeface="Arial"/>
              <a:cs typeface="Arial"/>
              <a:sym typeface="Arial"/>
            </a:endParaRPr>
          </a:p>
        </p:txBody>
      </p:sp>
      <p:sp>
        <p:nvSpPr>
          <p:cNvPr id="330" name="Google Shape;330;p2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1" name="Google Shape;331;p2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9"/>
          <p:cNvSpPr txBox="1"/>
          <p:nvPr>
            <p:ph idx="4294967295" type="subTitle"/>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dk1"/>
              </a:buClr>
              <a:buSzPts val="3200"/>
              <a:buFont typeface="Arial"/>
              <a:buChar char="•"/>
            </a:pPr>
            <a:r>
              <a:rPr lang="en-US" sz="3200">
                <a:solidFill>
                  <a:schemeClr val="dk1"/>
                </a:solidFill>
                <a:latin typeface="Arial"/>
                <a:ea typeface="Arial"/>
                <a:cs typeface="Arial"/>
                <a:sym typeface="Arial"/>
              </a:rPr>
              <a:t>Breadth of Support for Information Systems (IS)</a:t>
            </a:r>
            <a:endParaRPr sz="3200">
              <a:solidFill>
                <a:schemeClr val="dk1"/>
              </a:solidFill>
              <a:latin typeface="Arial"/>
              <a:ea typeface="Arial"/>
              <a:cs typeface="Arial"/>
              <a:sym typeface="Arial"/>
            </a:endParaRPr>
          </a:p>
        </p:txBody>
      </p:sp>
      <p:sp>
        <p:nvSpPr>
          <p:cNvPr id="338" name="Google Shape;338;p29"/>
          <p:cNvSpPr txBox="1"/>
          <p:nvPr>
            <p:ph idx="4294967295" type="body"/>
          </p:nvPr>
        </p:nvSpPr>
        <p:spPr>
          <a:xfrm>
            <a:off x="609600" y="2286000"/>
            <a:ext cx="8382000" cy="3962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Functional Area Information Systems (FAIS)</a:t>
            </a:r>
            <a:endParaRPr sz="2400">
              <a:solidFill>
                <a:schemeClr val="dk1"/>
              </a:solidFill>
              <a:latin typeface="Arial"/>
              <a:ea typeface="Arial"/>
              <a:cs typeface="Arial"/>
              <a:sym typeface="Arial"/>
            </a:endParaRPr>
          </a:p>
          <a:p>
            <a:pPr indent="-342900" lvl="0" marL="342900" marR="0" rtl="0" algn="l">
              <a:spcBef>
                <a:spcPts val="480"/>
              </a:spcBef>
              <a:spcAft>
                <a:spcPts val="0"/>
              </a:spcAft>
              <a:buClr>
                <a:schemeClr val="dk1"/>
              </a:buClr>
              <a:buSzPts val="2400"/>
              <a:buFont typeface="Arial"/>
              <a:buChar char="•"/>
            </a:pPr>
            <a:r>
              <a:rPr lang="en-US" sz="2400">
                <a:solidFill>
                  <a:schemeClr val="dk1"/>
                </a:solidFill>
                <a:latin typeface="Arial"/>
                <a:ea typeface="Arial"/>
                <a:cs typeface="Arial"/>
                <a:sym typeface="Arial"/>
              </a:rPr>
              <a:t>Enterprise Resource Planning Systems (ERP)</a:t>
            </a:r>
            <a:endParaRPr sz="2400">
              <a:solidFill>
                <a:schemeClr val="dk1"/>
              </a:solidFill>
              <a:latin typeface="Arial"/>
              <a:ea typeface="Arial"/>
              <a:cs typeface="Arial"/>
              <a:sym typeface="Arial"/>
            </a:endParaRPr>
          </a:p>
          <a:p>
            <a:pPr indent="-342900" lvl="0" marL="342900" marR="0" rtl="0" algn="l">
              <a:spcBef>
                <a:spcPts val="480"/>
              </a:spcBef>
              <a:spcAft>
                <a:spcPts val="0"/>
              </a:spcAft>
              <a:buClr>
                <a:schemeClr val="dk1"/>
              </a:buClr>
              <a:buSzPts val="2400"/>
              <a:buFont typeface="Arial"/>
              <a:buChar char="•"/>
            </a:pPr>
            <a:r>
              <a:rPr lang="en-US" sz="2400">
                <a:solidFill>
                  <a:schemeClr val="dk1"/>
                </a:solidFill>
                <a:latin typeface="Arial"/>
                <a:ea typeface="Arial"/>
                <a:cs typeface="Arial"/>
                <a:sym typeface="Arial"/>
              </a:rPr>
              <a:t>Transaction Processing Systems (TPS)</a:t>
            </a:r>
            <a:endParaRPr sz="2400">
              <a:solidFill>
                <a:schemeClr val="dk1"/>
              </a:solidFill>
              <a:latin typeface="Arial"/>
              <a:ea typeface="Arial"/>
              <a:cs typeface="Arial"/>
              <a:sym typeface="Arial"/>
            </a:endParaRPr>
          </a:p>
          <a:p>
            <a:pPr indent="-342900" lvl="0" marL="342900" marR="0" rtl="0" algn="l">
              <a:spcBef>
                <a:spcPts val="480"/>
              </a:spcBef>
              <a:spcAft>
                <a:spcPts val="0"/>
              </a:spcAft>
              <a:buClr>
                <a:schemeClr val="dk1"/>
              </a:buClr>
              <a:buSzPts val="2400"/>
              <a:buFont typeface="Arial"/>
              <a:buChar char="•"/>
            </a:pPr>
            <a:r>
              <a:rPr lang="en-US" sz="2400">
                <a:solidFill>
                  <a:schemeClr val="dk1"/>
                </a:solidFill>
                <a:latin typeface="Arial"/>
                <a:ea typeface="Arial"/>
                <a:cs typeface="Arial"/>
                <a:sym typeface="Arial"/>
              </a:rPr>
              <a:t>Interorganizational Information Systems (IOS)</a:t>
            </a:r>
            <a:endParaRPr sz="2400">
              <a:solidFill>
                <a:schemeClr val="dk1"/>
              </a:solidFill>
              <a:latin typeface="Arial"/>
              <a:ea typeface="Arial"/>
              <a:cs typeface="Arial"/>
              <a:sym typeface="Arial"/>
            </a:endParaRPr>
          </a:p>
          <a:p>
            <a:pPr indent="-342900" lvl="0" marL="342900" marR="0" rtl="0" algn="l">
              <a:spcBef>
                <a:spcPts val="480"/>
              </a:spcBef>
              <a:spcAft>
                <a:spcPts val="0"/>
              </a:spcAft>
              <a:buClr>
                <a:schemeClr val="dk1"/>
              </a:buClr>
              <a:buSzPts val="2400"/>
              <a:buFont typeface="Arial"/>
              <a:buChar char="•"/>
            </a:pPr>
            <a:r>
              <a:rPr lang="en-US" sz="2400">
                <a:solidFill>
                  <a:schemeClr val="dk1"/>
                </a:solidFill>
                <a:latin typeface="Arial"/>
                <a:ea typeface="Arial"/>
                <a:cs typeface="Arial"/>
                <a:sym typeface="Arial"/>
              </a:rPr>
              <a:t>E-Commerce Systems</a:t>
            </a:r>
            <a:endParaRPr sz="2400">
              <a:solidFill>
                <a:schemeClr val="dk1"/>
              </a:solidFill>
              <a:latin typeface="Arial"/>
              <a:ea typeface="Arial"/>
              <a:cs typeface="Arial"/>
              <a:sym typeface="Arial"/>
            </a:endParaRPr>
          </a:p>
        </p:txBody>
      </p:sp>
      <p:sp>
        <p:nvSpPr>
          <p:cNvPr id="339" name="Google Shape;339;p2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0" name="Google Shape;340;p2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0"/>
          <p:cNvSpPr txBox="1"/>
          <p:nvPr>
            <p:ph type="title"/>
          </p:nvPr>
        </p:nvSpPr>
        <p:spPr>
          <a:xfrm>
            <a:off x="457200" y="190500"/>
            <a:ext cx="8229600" cy="560133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400"/>
              <a:t>Functional Area Information Systems (FAIS) : </a:t>
            </a:r>
            <a:r>
              <a:rPr lang="en-US" sz="2400"/>
              <a:t>a collection of application programs in a single department or functional area.</a:t>
            </a:r>
            <a:br>
              <a:rPr lang="en-US" sz="2400"/>
            </a:br>
            <a:br>
              <a:rPr lang="en-US" sz="2400"/>
            </a:br>
            <a:r>
              <a:rPr b="1" lang="en-US" sz="2400"/>
              <a:t>Enterprise Resource Planning (ERP): </a:t>
            </a:r>
            <a:r>
              <a:rPr lang="en-US" sz="2400"/>
              <a:t>systems are designed to correct a lack of communication among the functional area IS.</a:t>
            </a:r>
            <a:br>
              <a:rPr lang="en-US" sz="2400"/>
            </a:br>
            <a:br>
              <a:rPr lang="en-US" sz="2400"/>
            </a:br>
            <a:r>
              <a:rPr b="1" lang="en-US" sz="2400"/>
              <a:t>Transaction Processing System (TPS): </a:t>
            </a:r>
            <a:r>
              <a:rPr lang="en-US" sz="2400"/>
              <a:t>systems that support the monitoring, collection, storage, and processing of data from the organization’s basic business transactions, each of which generates data.</a:t>
            </a:r>
            <a:br>
              <a:rPr lang="en-US" sz="2400"/>
            </a:br>
            <a:endParaRPr sz="2400"/>
          </a:p>
        </p:txBody>
      </p:sp>
      <p:sp>
        <p:nvSpPr>
          <p:cNvPr id="346" name="Google Shape;346;p3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
        <p:nvSpPr>
          <p:cNvPr id="347" name="Google Shape;347;p3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1"/>
          <p:cNvSpPr txBox="1"/>
          <p:nvPr>
            <p:ph type="title"/>
          </p:nvPr>
        </p:nvSpPr>
        <p:spPr>
          <a:xfrm>
            <a:off x="457200" y="190500"/>
            <a:ext cx="8229600" cy="58775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400"/>
              <a:t>Interorganizational Information systems (IOSs): </a:t>
            </a:r>
            <a:r>
              <a:rPr lang="en-US" sz="2400"/>
              <a:t>Information systems that connect two or more organizations.</a:t>
            </a:r>
            <a:br>
              <a:rPr lang="en-US" sz="2400"/>
            </a:br>
            <a:br>
              <a:rPr lang="en-US" sz="2400"/>
            </a:br>
            <a:r>
              <a:rPr b="1" lang="en-US" sz="2400"/>
              <a:t>Electronic Commerce (e-commerce) Systems: </a:t>
            </a:r>
            <a:r>
              <a:rPr lang="en-US" sz="2400"/>
              <a:t>an interorganizational information system that enable organizations to conduct transactions, called business-to-business (B2B) electronic commerce, and customers to conduct transactions with businesses, called business-to-consumer (B2C) electronic</a:t>
            </a:r>
            <a:br>
              <a:rPr lang="en-US" sz="2400"/>
            </a:br>
            <a:endParaRPr sz="2400"/>
          </a:p>
        </p:txBody>
      </p:sp>
      <p:sp>
        <p:nvSpPr>
          <p:cNvPr id="353" name="Google Shape;353;p3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
        <p:nvSpPr>
          <p:cNvPr id="354" name="Google Shape;354;p3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59"/>
              <a:buFont typeface="Calibri"/>
              <a:buNone/>
            </a:pPr>
            <a:r>
              <a:rPr b="1" lang="en-US" sz="3959"/>
              <a:t>Types of Computer-Based Information Systems</a:t>
            </a:r>
            <a:endParaRPr sz="3959"/>
          </a:p>
        </p:txBody>
      </p:sp>
      <p:pic>
        <p:nvPicPr>
          <p:cNvPr id="360" name="Google Shape;360;p32"/>
          <p:cNvPicPr preferRelativeResize="0"/>
          <p:nvPr/>
        </p:nvPicPr>
        <p:blipFill rotWithShape="1">
          <a:blip r:embed="rId3">
            <a:alphaModFix/>
          </a:blip>
          <a:srcRect b="0" l="0" r="0" t="0"/>
          <a:stretch/>
        </p:blipFill>
        <p:spPr>
          <a:xfrm>
            <a:off x="0" y="871182"/>
            <a:ext cx="9144000" cy="5986818"/>
          </a:xfrm>
          <a:prstGeom prst="rect">
            <a:avLst/>
          </a:prstGeom>
          <a:noFill/>
          <a:ln>
            <a:noFill/>
          </a:ln>
        </p:spPr>
      </p:pic>
      <p:sp>
        <p:nvSpPr>
          <p:cNvPr id="361" name="Google Shape;361;p3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62" name="Google Shape;362;p3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3"/>
          <p:cNvSpPr txBox="1"/>
          <p:nvPr>
            <p:ph type="title"/>
          </p:nvPr>
        </p:nvSpPr>
        <p:spPr>
          <a:xfrm>
            <a:off x="224155" y="632460"/>
            <a:ext cx="8005445" cy="79438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solidFill>
                  <a:srgbClr val="6600FF"/>
                </a:solidFill>
              </a:rPr>
              <a:t>Functional area information systems (FAISs)</a:t>
            </a:r>
            <a:br>
              <a:rPr lang="en-US" sz="3200">
                <a:solidFill>
                  <a:srgbClr val="6600FF"/>
                </a:solidFill>
              </a:rPr>
            </a:br>
            <a:endParaRPr sz="3200">
              <a:solidFill>
                <a:srgbClr val="6600FF"/>
              </a:solidFill>
            </a:endParaRPr>
          </a:p>
        </p:txBody>
      </p:sp>
      <p:sp>
        <p:nvSpPr>
          <p:cNvPr id="368" name="Google Shape;368;p33"/>
          <p:cNvSpPr txBox="1"/>
          <p:nvPr>
            <p:ph idx="1" type="body"/>
          </p:nvPr>
        </p:nvSpPr>
        <p:spPr>
          <a:xfrm>
            <a:off x="35766" y="1417638"/>
            <a:ext cx="8803433" cy="4876800"/>
          </a:xfrm>
          <a:prstGeom prst="rect">
            <a:avLst/>
          </a:prstGeom>
          <a:noFill/>
          <a:ln>
            <a:noFill/>
          </a:ln>
        </p:spPr>
        <p:txBody>
          <a:bodyPr anchorCtr="0" anchor="t" bIns="45700" lIns="91425" spcFirstLastPara="1" rIns="91425" wrap="square" tIns="45700">
            <a:noAutofit/>
          </a:bodyPr>
          <a:lstStyle/>
          <a:p>
            <a:pPr indent="-342900" lvl="0" marL="342900" rtl="0" algn="just">
              <a:spcBef>
                <a:spcPts val="495"/>
              </a:spcBef>
              <a:spcAft>
                <a:spcPts val="0"/>
              </a:spcAft>
              <a:buClr>
                <a:schemeClr val="dk1"/>
              </a:buClr>
              <a:buSzPts val="2480"/>
              <a:buFont typeface="Arial"/>
              <a:buChar char="•"/>
            </a:pPr>
            <a:r>
              <a:rPr lang="en-US" sz="2400"/>
              <a:t>supporting pillars for the information systems located at the top, namely, business intelligence systems and dashboards</a:t>
            </a:r>
            <a:endParaRPr sz="2400"/>
          </a:p>
          <a:p>
            <a:pPr indent="-342900" lvl="0" marL="342900" rtl="0" algn="just">
              <a:spcBef>
                <a:spcPts val="495"/>
              </a:spcBef>
              <a:spcAft>
                <a:spcPts val="0"/>
              </a:spcAft>
              <a:buClr>
                <a:schemeClr val="dk1"/>
              </a:buClr>
              <a:buSzPts val="2480"/>
              <a:buFont typeface="Arial"/>
              <a:buChar char="•"/>
            </a:pPr>
            <a:r>
              <a:rPr lang="en-US" sz="2400"/>
              <a:t>each FAIS supports a particular functional area within the organization. Examples are accounting IS, finance IS, production/operations  management (POM) IS, marketing IS, and human resources IS.</a:t>
            </a:r>
            <a:endParaRPr sz="2400"/>
          </a:p>
          <a:p>
            <a:pPr indent="-342900" lvl="0" marL="342900" rtl="0" algn="just">
              <a:spcBef>
                <a:spcPts val="495"/>
              </a:spcBef>
              <a:spcAft>
                <a:spcPts val="0"/>
              </a:spcAft>
              <a:buClr>
                <a:schemeClr val="dk1"/>
              </a:buClr>
              <a:buSzPts val="2480"/>
              <a:buFont typeface="Arial"/>
              <a:buChar char="•"/>
            </a:pPr>
            <a:r>
              <a:rPr lang="en-US" sz="2400"/>
              <a:t>Functional area information systems summarize data and prepare reports, primarily for middle managers, but sometimes for lower-level managers as well. </a:t>
            </a:r>
            <a:endParaRPr sz="2400"/>
          </a:p>
          <a:p>
            <a:pPr indent="-342900" lvl="0" marL="342900" rtl="0" algn="just">
              <a:spcBef>
                <a:spcPts val="495"/>
              </a:spcBef>
              <a:spcAft>
                <a:spcPts val="0"/>
              </a:spcAft>
              <a:buClr>
                <a:schemeClr val="dk1"/>
              </a:buClr>
              <a:buSzPts val="2480"/>
              <a:buFont typeface="Arial"/>
              <a:buChar char="•"/>
            </a:pPr>
            <a:r>
              <a:rPr lang="en-US" sz="2400"/>
              <a:t>Because these reports typically concern a specific functional area, report generators (RPGs) are an important type of functional area IS</a:t>
            </a:r>
            <a:endParaRPr sz="2400"/>
          </a:p>
        </p:txBody>
      </p:sp>
      <p:sp>
        <p:nvSpPr>
          <p:cNvPr id="369" name="Google Shape;369;p3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70" name="Google Shape;370;p3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4"/>
          <p:cNvSpPr txBox="1"/>
          <p:nvPr>
            <p:ph idx="1" type="body"/>
          </p:nvPr>
        </p:nvSpPr>
        <p:spPr>
          <a:xfrm>
            <a:off x="304800" y="466725"/>
            <a:ext cx="8381365" cy="6391275"/>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1800"/>
              <a:buFont typeface="Arial"/>
              <a:buChar char="•"/>
            </a:pPr>
            <a:r>
              <a:rPr lang="en-US" sz="1600"/>
              <a:t>In finance and accounting, managers use IT systems to forecast revenues and business activity, to determine the best sources and uses of funds, and to perform audits to ensure that the organization is fundamentally sound and that all financial reports and documents are accurate.</a:t>
            </a:r>
            <a:endParaRPr sz="1600"/>
          </a:p>
          <a:p>
            <a:pPr indent="-342900" lvl="0" marL="342900" rtl="0" algn="just">
              <a:spcBef>
                <a:spcPts val="360"/>
              </a:spcBef>
              <a:spcAft>
                <a:spcPts val="0"/>
              </a:spcAft>
              <a:buClr>
                <a:schemeClr val="dk1"/>
              </a:buClr>
              <a:buSzPts val="1800"/>
              <a:buFont typeface="Arial"/>
              <a:buChar char="•"/>
            </a:pPr>
            <a:r>
              <a:rPr lang="en-US" sz="1600"/>
              <a:t>In sales and marketing, managers use information technology to perform the following functions:</a:t>
            </a:r>
            <a:endParaRPr sz="1600"/>
          </a:p>
          <a:p>
            <a:pPr indent="-342900" lvl="0" marL="342900" rtl="0" algn="just">
              <a:spcBef>
                <a:spcPts val="360"/>
              </a:spcBef>
              <a:spcAft>
                <a:spcPts val="0"/>
              </a:spcAft>
              <a:buClr>
                <a:schemeClr val="dk1"/>
              </a:buClr>
              <a:buSzPts val="1800"/>
              <a:buFont typeface="Noto Sans Symbols"/>
              <a:buChar char="✔"/>
            </a:pPr>
            <a:r>
              <a:rPr lang="en-US" sz="1600"/>
              <a:t> </a:t>
            </a:r>
            <a:r>
              <a:rPr i="1" lang="en-US" sz="1600"/>
              <a:t>Product analysis: developing new goods and services</a:t>
            </a:r>
            <a:endParaRPr sz="1600"/>
          </a:p>
          <a:p>
            <a:pPr indent="-342900" lvl="0" marL="342900" rtl="0" algn="just">
              <a:spcBef>
                <a:spcPts val="360"/>
              </a:spcBef>
              <a:spcAft>
                <a:spcPts val="0"/>
              </a:spcAft>
              <a:buClr>
                <a:schemeClr val="dk1"/>
              </a:buClr>
              <a:buSzPts val="1800"/>
              <a:buFont typeface="Noto Sans Symbols"/>
              <a:buChar char="✔"/>
            </a:pPr>
            <a:r>
              <a:rPr lang="en-US" sz="1600"/>
              <a:t> </a:t>
            </a:r>
            <a:r>
              <a:rPr i="1" lang="en-US" sz="1600"/>
              <a:t>Site analysis: determining the best location for production and distribution facilities</a:t>
            </a:r>
            <a:endParaRPr sz="1600"/>
          </a:p>
          <a:p>
            <a:pPr indent="-342900" lvl="0" marL="342900" rtl="0" algn="just">
              <a:spcBef>
                <a:spcPts val="360"/>
              </a:spcBef>
              <a:spcAft>
                <a:spcPts val="0"/>
              </a:spcAft>
              <a:buClr>
                <a:schemeClr val="dk1"/>
              </a:buClr>
              <a:buSzPts val="1800"/>
              <a:buFont typeface="Noto Sans Symbols"/>
              <a:buChar char="✔"/>
            </a:pPr>
            <a:r>
              <a:rPr lang="en-US" sz="1600"/>
              <a:t> </a:t>
            </a:r>
            <a:r>
              <a:rPr i="1" lang="en-US" sz="1600"/>
              <a:t>Promotion analysis: identifying the best advertising channels</a:t>
            </a:r>
            <a:endParaRPr sz="1600"/>
          </a:p>
          <a:p>
            <a:pPr indent="-342900" lvl="0" marL="342900" rtl="0" algn="just">
              <a:spcBef>
                <a:spcPts val="360"/>
              </a:spcBef>
              <a:spcAft>
                <a:spcPts val="0"/>
              </a:spcAft>
              <a:buClr>
                <a:schemeClr val="dk1"/>
              </a:buClr>
              <a:buSzPts val="1800"/>
              <a:buFont typeface="Noto Sans Symbols"/>
              <a:buChar char="✔"/>
            </a:pPr>
            <a:r>
              <a:rPr lang="en-US" sz="1600"/>
              <a:t> </a:t>
            </a:r>
            <a:r>
              <a:rPr i="1" lang="en-US" sz="1600"/>
              <a:t>Price analysis: setting product prices to obtain the highest total revenues</a:t>
            </a:r>
            <a:endParaRPr sz="1600"/>
          </a:p>
          <a:p>
            <a:pPr indent="-342900" lvl="0" marL="342900" rtl="0" algn="just">
              <a:spcBef>
                <a:spcPts val="360"/>
              </a:spcBef>
              <a:spcAft>
                <a:spcPts val="0"/>
              </a:spcAft>
              <a:buClr>
                <a:schemeClr val="dk1"/>
              </a:buClr>
              <a:buSzPts val="1800"/>
              <a:buFont typeface="Arial"/>
              <a:buChar char="•"/>
            </a:pPr>
            <a:r>
              <a:rPr lang="en-US" sz="1600"/>
              <a:t>Marketing managers also use IT to manage their relationships with their customers.</a:t>
            </a:r>
            <a:endParaRPr sz="1600"/>
          </a:p>
          <a:p>
            <a:pPr indent="-342900" lvl="0" marL="342900" rtl="0" algn="just">
              <a:spcBef>
                <a:spcPts val="360"/>
              </a:spcBef>
              <a:spcAft>
                <a:spcPts val="0"/>
              </a:spcAft>
              <a:buClr>
                <a:schemeClr val="dk1"/>
              </a:buClr>
              <a:buSzPts val="1800"/>
              <a:buFont typeface="Arial"/>
              <a:buChar char="•"/>
            </a:pPr>
            <a:r>
              <a:rPr lang="en-US" sz="1600"/>
              <a:t> In </a:t>
            </a:r>
            <a:r>
              <a:rPr i="1" lang="en-US" sz="1600"/>
              <a:t>manufacturing, </a:t>
            </a:r>
            <a:r>
              <a:rPr lang="en-US" sz="1600"/>
              <a:t>managers use IT to process customer orders, develop production schedules, control inventory levels, and monitor product quality. They also use IT to design and manufacture products. These processes are called </a:t>
            </a:r>
            <a:r>
              <a:rPr i="1" lang="en-US" sz="1600"/>
              <a:t>computer-assisted design (CAD) and computer-assisted manufacturing (CAM).</a:t>
            </a:r>
            <a:endParaRPr sz="1600"/>
          </a:p>
          <a:p>
            <a:pPr indent="-342900" lvl="0" marL="342900" rtl="0" algn="just">
              <a:spcBef>
                <a:spcPts val="360"/>
              </a:spcBef>
              <a:spcAft>
                <a:spcPts val="0"/>
              </a:spcAft>
              <a:buClr>
                <a:schemeClr val="dk1"/>
              </a:buClr>
              <a:buSzPts val="1800"/>
              <a:buFont typeface="Arial"/>
              <a:buChar char="•"/>
            </a:pPr>
            <a:r>
              <a:rPr lang="en-US" sz="1600"/>
              <a:t>Managers in </a:t>
            </a:r>
            <a:r>
              <a:rPr i="1" lang="en-US" sz="1600"/>
              <a:t>human resources use IT to manage the recruiting process, analyze and screen </a:t>
            </a:r>
            <a:r>
              <a:rPr lang="en-US" sz="1600"/>
              <a:t>job applicants, and hire new employees. They also employ IT to help employees manage their careers, to administer performance tests to employees, and to monitor employee productivity. Finally, they rely on IT to manage compensation and benefits packages.</a:t>
            </a:r>
            <a:endParaRPr sz="1600"/>
          </a:p>
        </p:txBody>
      </p:sp>
      <p:sp>
        <p:nvSpPr>
          <p:cNvPr id="376" name="Google Shape;376;p3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77" name="Google Shape;377;p3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5"/>
          <p:cNvSpPr txBox="1"/>
          <p:nvPr>
            <p:ph type="title"/>
          </p:nvPr>
        </p:nvSpPr>
        <p:spPr>
          <a:xfrm>
            <a:off x="304800" y="304800"/>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600"/>
              </a:spcBef>
              <a:spcAft>
                <a:spcPts val="600"/>
              </a:spcAft>
              <a:buNone/>
            </a:pPr>
            <a:r>
              <a:rPr b="1" lang="en-US" sz="3200">
                <a:solidFill>
                  <a:srgbClr val="0070C0"/>
                </a:solidFill>
              </a:rPr>
              <a:t>Enterprise resource planning (ERP) systems </a:t>
            </a:r>
            <a:endParaRPr sz="3200"/>
          </a:p>
        </p:txBody>
      </p:sp>
      <p:sp>
        <p:nvSpPr>
          <p:cNvPr id="383" name="Google Shape;383;p35"/>
          <p:cNvSpPr txBox="1"/>
          <p:nvPr>
            <p:ph idx="1" type="body"/>
          </p:nvPr>
        </p:nvSpPr>
        <p:spPr>
          <a:xfrm>
            <a:off x="160953" y="1676400"/>
            <a:ext cx="8822094" cy="4525963"/>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720"/>
              <a:buFont typeface="Arial"/>
              <a:buNone/>
            </a:pPr>
            <a:r>
              <a:rPr b="1" lang="en-US" sz="2400">
                <a:solidFill>
                  <a:srgbClr val="0070C0"/>
                </a:solidFill>
              </a:rPr>
              <a:t>Enterprise resource planning (ERP) systems are</a:t>
            </a:r>
            <a:endParaRPr sz="2400">
              <a:solidFill>
                <a:srgbClr val="0070C0"/>
              </a:solidFill>
            </a:endParaRPr>
          </a:p>
          <a:p>
            <a:pPr indent="0" lvl="0" marL="0" rtl="0" algn="just">
              <a:lnSpc>
                <a:spcPct val="90000"/>
              </a:lnSpc>
              <a:spcBef>
                <a:spcPts val="545"/>
              </a:spcBef>
              <a:spcAft>
                <a:spcPts val="0"/>
              </a:spcAft>
              <a:buClr>
                <a:schemeClr val="dk1"/>
              </a:buClr>
              <a:buSzPts val="2720"/>
              <a:buFont typeface="Arial"/>
              <a:buNone/>
            </a:pPr>
            <a:r>
              <a:rPr lang="en-US" sz="2400"/>
              <a:t>designed to correct a lack of communication among the functional area Iss. </a:t>
            </a:r>
            <a:endParaRPr sz="2400"/>
          </a:p>
          <a:p>
            <a:pPr indent="-342900" lvl="0" marL="342900" rtl="0" algn="just">
              <a:lnSpc>
                <a:spcPct val="90000"/>
              </a:lnSpc>
              <a:spcBef>
                <a:spcPts val="545"/>
              </a:spcBef>
              <a:spcAft>
                <a:spcPts val="0"/>
              </a:spcAft>
              <a:buClr>
                <a:schemeClr val="dk1"/>
              </a:buClr>
              <a:buSzPts val="2720"/>
              <a:buFont typeface="Arial"/>
              <a:buChar char="•"/>
            </a:pPr>
            <a:r>
              <a:rPr lang="en-US" sz="2400"/>
              <a:t>ERP systems were an important innovation because the various functional area ISs were often developed as standalone systems and did not communicate effectively (if at all) with one another. </a:t>
            </a:r>
            <a:endParaRPr sz="2400"/>
          </a:p>
          <a:p>
            <a:pPr indent="-342900" lvl="0" marL="342900" rtl="0" algn="just">
              <a:lnSpc>
                <a:spcPct val="90000"/>
              </a:lnSpc>
              <a:spcBef>
                <a:spcPts val="545"/>
              </a:spcBef>
              <a:spcAft>
                <a:spcPts val="0"/>
              </a:spcAft>
              <a:buClr>
                <a:schemeClr val="dk1"/>
              </a:buClr>
              <a:buSzPts val="2720"/>
              <a:buFont typeface="Arial"/>
              <a:buChar char="•"/>
            </a:pPr>
            <a:r>
              <a:rPr lang="en-US" sz="2400"/>
              <a:t>ERP systems resolve this problem by tightly integrating the functional area ISs via a common database.</a:t>
            </a:r>
            <a:endParaRPr sz="2400"/>
          </a:p>
          <a:p>
            <a:pPr indent="-342900" lvl="0" marL="342900" rtl="0" algn="just">
              <a:lnSpc>
                <a:spcPct val="90000"/>
              </a:lnSpc>
              <a:spcBef>
                <a:spcPts val="545"/>
              </a:spcBef>
              <a:spcAft>
                <a:spcPts val="0"/>
              </a:spcAft>
              <a:buClr>
                <a:schemeClr val="dk1"/>
              </a:buClr>
              <a:buSzPts val="2720"/>
              <a:buFont typeface="Arial"/>
              <a:buChar char="•"/>
            </a:pPr>
            <a:r>
              <a:rPr lang="en-US" sz="2400"/>
              <a:t> In doing so, they enhance communications among the functional areas of an organization. </a:t>
            </a:r>
            <a:endParaRPr sz="2400"/>
          </a:p>
        </p:txBody>
      </p:sp>
      <p:sp>
        <p:nvSpPr>
          <p:cNvPr id="384" name="Google Shape;384;p3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85" name="Google Shape;385;p3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600"/>
              </a:spcBef>
              <a:spcAft>
                <a:spcPts val="600"/>
              </a:spcAft>
              <a:buNone/>
            </a:pPr>
            <a:r>
              <a:rPr b="1" lang="en-US"/>
              <a:t>Transaction processing system (TPS)</a:t>
            </a:r>
            <a:endParaRPr/>
          </a:p>
        </p:txBody>
      </p:sp>
      <p:sp>
        <p:nvSpPr>
          <p:cNvPr id="391" name="Google Shape;391;p36"/>
          <p:cNvSpPr txBox="1"/>
          <p:nvPr>
            <p:ph idx="1" type="body"/>
          </p:nvPr>
        </p:nvSpPr>
        <p:spPr>
          <a:xfrm>
            <a:off x="0" y="1600200"/>
            <a:ext cx="8686800" cy="4525963"/>
          </a:xfrm>
          <a:prstGeom prst="rect">
            <a:avLst/>
          </a:prstGeom>
          <a:noFill/>
          <a:ln>
            <a:noFill/>
          </a:ln>
        </p:spPr>
        <p:txBody>
          <a:bodyPr anchorCtr="0" anchor="t" bIns="45700" lIns="91425" spcFirstLastPara="1" rIns="91425" wrap="square" tIns="45700">
            <a:noAutofit/>
          </a:bodyPr>
          <a:lstStyle/>
          <a:p>
            <a:pPr indent="-342900" lvl="0" marL="342900" rtl="0" algn="just">
              <a:lnSpc>
                <a:spcPct val="80000"/>
              </a:lnSpc>
              <a:spcBef>
                <a:spcPts val="0"/>
              </a:spcBef>
              <a:spcAft>
                <a:spcPts val="0"/>
              </a:spcAft>
              <a:buClr>
                <a:schemeClr val="dk1"/>
              </a:buClr>
              <a:buSzPts val="2240"/>
              <a:buFont typeface="Arial"/>
              <a:buChar char="•"/>
            </a:pPr>
            <a:r>
              <a:rPr b="1" lang="en-US" sz="2240"/>
              <a:t>A transaction processing system (TPS) supports the monitoring, collection, storage, and </a:t>
            </a:r>
            <a:r>
              <a:rPr lang="en-US" sz="2240"/>
              <a:t>processing of data from the organization’s basic business transactions, each of which generates data. </a:t>
            </a:r>
            <a:endParaRPr sz="2240"/>
          </a:p>
          <a:p>
            <a:pPr indent="-200660" lvl="0" marL="342900" rtl="0" algn="just">
              <a:lnSpc>
                <a:spcPct val="80000"/>
              </a:lnSpc>
              <a:spcBef>
                <a:spcPts val="0"/>
              </a:spcBef>
              <a:spcAft>
                <a:spcPts val="0"/>
              </a:spcAft>
              <a:buClr>
                <a:schemeClr val="dk1"/>
              </a:buClr>
              <a:buSzPts val="2240"/>
              <a:buFont typeface="Arial"/>
              <a:buNone/>
            </a:pPr>
            <a:r>
              <a:t/>
            </a:r>
            <a:endParaRPr sz="2240"/>
          </a:p>
          <a:p>
            <a:pPr indent="-342900" lvl="0" marL="342900" rtl="0" algn="just">
              <a:lnSpc>
                <a:spcPct val="80000"/>
              </a:lnSpc>
              <a:spcBef>
                <a:spcPts val="0"/>
              </a:spcBef>
              <a:spcAft>
                <a:spcPts val="0"/>
              </a:spcAft>
              <a:buClr>
                <a:schemeClr val="dk1"/>
              </a:buClr>
              <a:buSzPts val="2240"/>
              <a:buFont typeface="Arial"/>
              <a:buChar char="•"/>
            </a:pPr>
            <a:r>
              <a:rPr lang="en-US" sz="2240"/>
              <a:t>When you are checking out at Walmart, for example, a transaction occurs each time the cashier swipes an item across the bar code reader. </a:t>
            </a:r>
            <a:endParaRPr sz="2240"/>
          </a:p>
          <a:p>
            <a:pPr indent="-200660" lvl="0" marL="342900" rtl="0" algn="just">
              <a:lnSpc>
                <a:spcPct val="80000"/>
              </a:lnSpc>
              <a:spcBef>
                <a:spcPts val="0"/>
              </a:spcBef>
              <a:spcAft>
                <a:spcPts val="0"/>
              </a:spcAft>
              <a:buClr>
                <a:schemeClr val="dk1"/>
              </a:buClr>
              <a:buSzPts val="2240"/>
              <a:buFont typeface="Arial"/>
              <a:buNone/>
            </a:pPr>
            <a:r>
              <a:t/>
            </a:r>
            <a:endParaRPr sz="2240"/>
          </a:p>
          <a:p>
            <a:pPr indent="-342900" lvl="0" marL="342900" rtl="0" algn="just">
              <a:lnSpc>
                <a:spcPct val="80000"/>
              </a:lnSpc>
              <a:spcBef>
                <a:spcPts val="450"/>
              </a:spcBef>
              <a:spcAft>
                <a:spcPts val="0"/>
              </a:spcAft>
              <a:buClr>
                <a:schemeClr val="dk1"/>
              </a:buClr>
              <a:buSzPts val="2240"/>
              <a:buFont typeface="Arial"/>
              <a:buChar char="•"/>
            </a:pPr>
            <a:r>
              <a:rPr lang="en-US" sz="2240"/>
              <a:t>Significantly, within an organization, different functions or departments can define a transaction differently. In accounting, for example, a transaction is anything that changes a firm’s chart of accounts. </a:t>
            </a:r>
            <a:endParaRPr sz="2240"/>
          </a:p>
          <a:p>
            <a:pPr indent="-200660" lvl="0" marL="342900" rtl="0" algn="just">
              <a:lnSpc>
                <a:spcPct val="80000"/>
              </a:lnSpc>
              <a:spcBef>
                <a:spcPts val="450"/>
              </a:spcBef>
              <a:spcAft>
                <a:spcPts val="0"/>
              </a:spcAft>
              <a:buClr>
                <a:schemeClr val="dk1"/>
              </a:buClr>
              <a:buSzPts val="2240"/>
              <a:buFont typeface="Arial"/>
              <a:buNone/>
            </a:pPr>
            <a:r>
              <a:t/>
            </a:r>
            <a:endParaRPr sz="2240"/>
          </a:p>
          <a:p>
            <a:pPr indent="-342900" lvl="0" marL="342900" rtl="0" algn="just">
              <a:lnSpc>
                <a:spcPct val="80000"/>
              </a:lnSpc>
              <a:spcBef>
                <a:spcPts val="450"/>
              </a:spcBef>
              <a:spcAft>
                <a:spcPts val="0"/>
              </a:spcAft>
              <a:buClr>
                <a:schemeClr val="dk1"/>
              </a:buClr>
              <a:buSzPts val="2240"/>
              <a:buFont typeface="Arial"/>
              <a:buChar char="•"/>
            </a:pPr>
            <a:r>
              <a:rPr lang="en-US" sz="2240"/>
              <a:t>The information system definition of a transaction is broader: A transaction is anything that changes the firm’s database</a:t>
            </a:r>
            <a:endParaRPr sz="2240"/>
          </a:p>
        </p:txBody>
      </p:sp>
      <p:sp>
        <p:nvSpPr>
          <p:cNvPr id="392" name="Google Shape;392;p3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93" name="Google Shape;393;p3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just">
              <a:spcBef>
                <a:spcPts val="600"/>
              </a:spcBef>
              <a:spcAft>
                <a:spcPts val="600"/>
              </a:spcAft>
              <a:buNone/>
            </a:pPr>
            <a:r>
              <a:rPr b="1" lang="en-US" sz="3200"/>
              <a:t>Electronic commerce (e-commerce</a:t>
            </a:r>
            <a:r>
              <a:rPr b="1" lang="en-US" sz="4100"/>
              <a:t>)</a:t>
            </a:r>
            <a:br>
              <a:rPr lang="en-US" sz="4100">
                <a:solidFill>
                  <a:srgbClr val="6600CC"/>
                </a:solidFill>
              </a:rPr>
            </a:br>
            <a:endParaRPr/>
          </a:p>
        </p:txBody>
      </p:sp>
      <p:sp>
        <p:nvSpPr>
          <p:cNvPr id="399" name="Google Shape;399;p37"/>
          <p:cNvSpPr txBox="1"/>
          <p:nvPr>
            <p:ph idx="1" type="body"/>
          </p:nvPr>
        </p:nvSpPr>
        <p:spPr>
          <a:xfrm>
            <a:off x="228600" y="1383771"/>
            <a:ext cx="8686800" cy="4525963"/>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960"/>
              <a:buFont typeface="Arial"/>
              <a:buChar char="•"/>
            </a:pPr>
            <a:r>
              <a:rPr b="1" lang="en-US" sz="2800"/>
              <a:t>Electronic commerce (e-commerce) systems are another type of inter organizational information </a:t>
            </a:r>
            <a:r>
              <a:rPr lang="en-US" sz="2800"/>
              <a:t>system. </a:t>
            </a:r>
            <a:endParaRPr sz="2800"/>
          </a:p>
          <a:p>
            <a:pPr indent="-154940" lvl="0" marL="342900" rtl="0" algn="just">
              <a:spcBef>
                <a:spcPts val="0"/>
              </a:spcBef>
              <a:spcAft>
                <a:spcPts val="0"/>
              </a:spcAft>
              <a:buClr>
                <a:schemeClr val="dk1"/>
              </a:buClr>
              <a:buSzPts val="2960"/>
              <a:buFont typeface="Arial"/>
              <a:buNone/>
            </a:pPr>
            <a:r>
              <a:t/>
            </a:r>
            <a:endParaRPr sz="2800"/>
          </a:p>
          <a:p>
            <a:pPr indent="-342900" lvl="0" marL="342900" rtl="0" algn="just">
              <a:spcBef>
                <a:spcPts val="590"/>
              </a:spcBef>
              <a:spcAft>
                <a:spcPts val="0"/>
              </a:spcAft>
              <a:buClr>
                <a:schemeClr val="dk1"/>
              </a:buClr>
              <a:buSzPts val="2960"/>
              <a:buFont typeface="Arial"/>
              <a:buChar char="•"/>
            </a:pPr>
            <a:r>
              <a:rPr lang="en-US" sz="2800"/>
              <a:t>These systems enable organizations to conduct transactions, called business-to business (B2B) electronic commerce, and customers to conduct transactions with business, called business-to-consumer (B2C) electronic commerce. E-commerce systems typically are Internet-based. </a:t>
            </a:r>
            <a:endParaRPr sz="2800"/>
          </a:p>
        </p:txBody>
      </p:sp>
      <p:sp>
        <p:nvSpPr>
          <p:cNvPr id="400" name="Google Shape;400;p3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01" name="Google Shape;401;p3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8"/>
          <p:cNvSpPr txBox="1"/>
          <p:nvPr>
            <p:ph idx="4294967295" type="subTitle"/>
          </p:nvPr>
        </p:nvSpPr>
        <p:spPr>
          <a:xfrm>
            <a:off x="533400" y="381000"/>
            <a:ext cx="8229600" cy="4953000"/>
          </a:xfrm>
          <a:prstGeom prst="rect">
            <a:avLst/>
          </a:prstGeom>
          <a:noFill/>
          <a:ln>
            <a:noFill/>
          </a:ln>
        </p:spPr>
        <p:txBody>
          <a:bodyPr anchorCtr="0" anchor="t" bIns="45700" lIns="91425" spcFirstLastPara="1" rIns="91425" wrap="square" tIns="45700">
            <a:normAutofit lnSpcReduction="10000"/>
          </a:bodyPr>
          <a:lstStyle/>
          <a:p>
            <a:pPr indent="-342900" lvl="0" marL="342900" marR="0" rtl="0" algn="l">
              <a:spcBef>
                <a:spcPts val="0"/>
              </a:spcBef>
              <a:spcAft>
                <a:spcPts val="0"/>
              </a:spcAft>
              <a:buClr>
                <a:schemeClr val="dk1"/>
              </a:buClr>
              <a:buSzPts val="3200"/>
              <a:buFont typeface="Arial"/>
              <a:buChar char="•"/>
            </a:pPr>
            <a:r>
              <a:rPr lang="en-US" sz="3200">
                <a:solidFill>
                  <a:schemeClr val="dk1"/>
                </a:solidFill>
                <a:latin typeface="Arial"/>
                <a:ea typeface="Arial"/>
                <a:cs typeface="Arial"/>
                <a:sym typeface="Arial"/>
              </a:rPr>
              <a:t> IS that function among multiple organizations</a:t>
            </a:r>
            <a:endParaRPr sz="3200">
              <a:solidFill>
                <a:schemeClr val="dk1"/>
              </a:solidFill>
              <a:latin typeface="Arial"/>
              <a:ea typeface="Arial"/>
              <a:cs typeface="Arial"/>
              <a:sym typeface="Arial"/>
            </a:endParaRPr>
          </a:p>
        </p:txBody>
      </p:sp>
      <p:pic>
        <p:nvPicPr>
          <p:cNvPr id="407" name="Google Shape;407;p38"/>
          <p:cNvPicPr preferRelativeResize="0"/>
          <p:nvPr>
            <p:ph idx="4294967295" type="body"/>
          </p:nvPr>
        </p:nvPicPr>
        <p:blipFill rotWithShape="1">
          <a:blip r:embed="rId3">
            <a:alphaModFix/>
          </a:blip>
          <a:srcRect b="0" l="0" r="0" t="0"/>
          <a:stretch/>
        </p:blipFill>
        <p:spPr>
          <a:xfrm>
            <a:off x="758830" y="1524000"/>
            <a:ext cx="7550140" cy="4724400"/>
          </a:xfrm>
          <a:prstGeom prst="rect">
            <a:avLst/>
          </a:prstGeom>
          <a:noFill/>
          <a:ln>
            <a:noFill/>
          </a:ln>
        </p:spPr>
      </p:pic>
      <p:sp>
        <p:nvSpPr>
          <p:cNvPr id="408" name="Google Shape;408;p3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09" name="Google Shape;409;p3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9"/>
          <p:cNvSpPr txBox="1"/>
          <p:nvPr>
            <p:ph idx="4294967295" type="subTitle"/>
          </p:nvPr>
        </p:nvSpPr>
        <p:spPr>
          <a:xfrm>
            <a:off x="381000" y="533400"/>
            <a:ext cx="8229600" cy="4953000"/>
          </a:xfrm>
          <a:prstGeom prst="rect">
            <a:avLst/>
          </a:prstGeom>
          <a:noFill/>
          <a:ln>
            <a:noFill/>
          </a:ln>
        </p:spPr>
        <p:txBody>
          <a:bodyPr anchorCtr="0" anchor="t" bIns="45700" lIns="91425" spcFirstLastPara="1" rIns="91425" wrap="square" tIns="45700">
            <a:normAutofit/>
          </a:bodyPr>
          <a:lstStyle/>
          <a:p>
            <a:pPr indent="-342900" lvl="0" marL="342900" marR="0" rtl="0" algn="ctr">
              <a:spcBef>
                <a:spcPts val="0"/>
              </a:spcBef>
              <a:spcAft>
                <a:spcPts val="0"/>
              </a:spcAft>
              <a:buClr>
                <a:schemeClr val="dk1"/>
              </a:buClr>
              <a:buSzPts val="3200"/>
              <a:buFont typeface="Arial"/>
              <a:buChar char="•"/>
            </a:pPr>
            <a:r>
              <a:rPr lang="en-US" sz="3200">
                <a:solidFill>
                  <a:schemeClr val="dk1"/>
                </a:solidFill>
                <a:latin typeface="Arial"/>
                <a:ea typeface="Arial"/>
                <a:cs typeface="Arial"/>
                <a:sym typeface="Arial"/>
              </a:rPr>
              <a:t>Support for </a:t>
            </a:r>
            <a:endParaRPr sz="3200">
              <a:solidFill>
                <a:schemeClr val="dk1"/>
              </a:solidFill>
              <a:latin typeface="Arial"/>
              <a:ea typeface="Arial"/>
              <a:cs typeface="Arial"/>
              <a:sym typeface="Arial"/>
            </a:endParaRPr>
          </a:p>
          <a:p>
            <a:pPr indent="-342900" lvl="0" marL="342900" marR="0" rtl="0" algn="ctr">
              <a:spcBef>
                <a:spcPts val="640"/>
              </a:spcBef>
              <a:spcAft>
                <a:spcPts val="0"/>
              </a:spcAft>
              <a:buClr>
                <a:schemeClr val="dk1"/>
              </a:buClr>
              <a:buSzPts val="3200"/>
              <a:buFont typeface="Arial"/>
              <a:buChar char="•"/>
            </a:pPr>
            <a:r>
              <a:rPr lang="en-US" sz="3200">
                <a:solidFill>
                  <a:schemeClr val="dk1"/>
                </a:solidFill>
                <a:latin typeface="Arial"/>
                <a:ea typeface="Arial"/>
                <a:cs typeface="Arial"/>
                <a:sym typeface="Arial"/>
              </a:rPr>
              <a:t>Organizational Employees</a:t>
            </a:r>
            <a:endParaRPr sz="3200">
              <a:solidFill>
                <a:schemeClr val="dk1"/>
              </a:solidFill>
              <a:latin typeface="Arial"/>
              <a:ea typeface="Arial"/>
              <a:cs typeface="Arial"/>
              <a:sym typeface="Arial"/>
            </a:endParaRPr>
          </a:p>
        </p:txBody>
      </p:sp>
      <p:sp>
        <p:nvSpPr>
          <p:cNvPr id="416" name="Google Shape;416;p39"/>
          <p:cNvSpPr txBox="1"/>
          <p:nvPr>
            <p:ph idx="4294967295" type="body"/>
          </p:nvPr>
        </p:nvSpPr>
        <p:spPr>
          <a:xfrm>
            <a:off x="685800" y="2362200"/>
            <a:ext cx="8229600" cy="4953000"/>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dk1"/>
              </a:buClr>
              <a:buSzPts val="3200"/>
              <a:buFont typeface="Arial"/>
              <a:buChar char="•"/>
            </a:pPr>
            <a:r>
              <a:rPr lang="en-US" sz="3200">
                <a:solidFill>
                  <a:schemeClr val="dk1"/>
                </a:solidFill>
                <a:latin typeface="Arial"/>
                <a:ea typeface="Arial"/>
                <a:cs typeface="Arial"/>
                <a:sym typeface="Arial"/>
              </a:rPr>
              <a:t>Knowledge Workers</a:t>
            </a:r>
            <a:endParaRPr sz="3200">
              <a:solidFill>
                <a:schemeClr val="dk1"/>
              </a:solidFill>
              <a:latin typeface="Arial"/>
              <a:ea typeface="Arial"/>
              <a:cs typeface="Arial"/>
              <a:sym typeface="Arial"/>
            </a:endParaRPr>
          </a:p>
          <a:p>
            <a:pPr indent="-342900" lvl="0" marL="342900" marR="0" rtl="0" algn="l">
              <a:spcBef>
                <a:spcPts val="640"/>
              </a:spcBef>
              <a:spcAft>
                <a:spcPts val="0"/>
              </a:spcAft>
              <a:buClr>
                <a:schemeClr val="dk1"/>
              </a:buClr>
              <a:buSzPts val="3200"/>
              <a:buFont typeface="Arial"/>
              <a:buChar char="•"/>
            </a:pPr>
            <a:r>
              <a:rPr lang="en-US" sz="3200">
                <a:solidFill>
                  <a:schemeClr val="dk1"/>
                </a:solidFill>
                <a:latin typeface="Arial"/>
                <a:ea typeface="Arial"/>
                <a:cs typeface="Arial"/>
                <a:sym typeface="Arial"/>
              </a:rPr>
              <a:t>Office Automation Systems (OASs)</a:t>
            </a:r>
            <a:endParaRPr sz="3200">
              <a:solidFill>
                <a:schemeClr val="dk1"/>
              </a:solidFill>
              <a:latin typeface="Arial"/>
              <a:ea typeface="Arial"/>
              <a:cs typeface="Arial"/>
              <a:sym typeface="Arial"/>
            </a:endParaRPr>
          </a:p>
          <a:p>
            <a:pPr indent="-342900" lvl="0" marL="342900" marR="0" rtl="0" algn="l">
              <a:spcBef>
                <a:spcPts val="640"/>
              </a:spcBef>
              <a:spcAft>
                <a:spcPts val="0"/>
              </a:spcAft>
              <a:buClr>
                <a:schemeClr val="dk1"/>
              </a:buClr>
              <a:buSzPts val="3200"/>
              <a:buFont typeface="Arial"/>
              <a:buChar char="•"/>
            </a:pPr>
            <a:r>
              <a:rPr lang="en-US" sz="3200">
                <a:solidFill>
                  <a:schemeClr val="dk1"/>
                </a:solidFill>
                <a:latin typeface="Arial"/>
                <a:ea typeface="Arial"/>
                <a:cs typeface="Arial"/>
                <a:sym typeface="Arial"/>
              </a:rPr>
              <a:t>Business Intelligence (BI) Systems</a:t>
            </a:r>
            <a:endParaRPr sz="3200">
              <a:solidFill>
                <a:schemeClr val="dk1"/>
              </a:solidFill>
              <a:latin typeface="Arial"/>
              <a:ea typeface="Arial"/>
              <a:cs typeface="Arial"/>
              <a:sym typeface="Arial"/>
            </a:endParaRPr>
          </a:p>
          <a:p>
            <a:pPr indent="-342900" lvl="0" marL="342900" marR="0" rtl="0" algn="l">
              <a:spcBef>
                <a:spcPts val="640"/>
              </a:spcBef>
              <a:spcAft>
                <a:spcPts val="0"/>
              </a:spcAft>
              <a:buClr>
                <a:schemeClr val="dk1"/>
              </a:buClr>
              <a:buSzPts val="3200"/>
              <a:buFont typeface="Arial"/>
              <a:buChar char="•"/>
            </a:pPr>
            <a:r>
              <a:rPr lang="en-US" sz="3200">
                <a:solidFill>
                  <a:schemeClr val="dk1"/>
                </a:solidFill>
                <a:latin typeface="Arial"/>
                <a:ea typeface="Arial"/>
                <a:cs typeface="Arial"/>
                <a:sym typeface="Arial"/>
              </a:rPr>
              <a:t>Expert Systems (ES)</a:t>
            </a:r>
            <a:endParaRPr sz="3200">
              <a:solidFill>
                <a:schemeClr val="dk1"/>
              </a:solidFill>
              <a:latin typeface="Arial"/>
              <a:ea typeface="Arial"/>
              <a:cs typeface="Arial"/>
              <a:sym typeface="Arial"/>
            </a:endParaRPr>
          </a:p>
          <a:p>
            <a:pPr indent="-342900" lvl="0" marL="342900" marR="0" rtl="0" algn="l">
              <a:spcBef>
                <a:spcPts val="640"/>
              </a:spcBef>
              <a:spcAft>
                <a:spcPts val="0"/>
              </a:spcAft>
              <a:buClr>
                <a:schemeClr val="dk1"/>
              </a:buClr>
              <a:buSzPts val="3200"/>
              <a:buFont typeface="Arial"/>
              <a:buChar char="•"/>
            </a:pPr>
            <a:r>
              <a:rPr lang="en-US" sz="3200">
                <a:solidFill>
                  <a:schemeClr val="dk1"/>
                </a:solidFill>
                <a:latin typeface="Arial"/>
                <a:ea typeface="Arial"/>
                <a:cs typeface="Arial"/>
                <a:sym typeface="Arial"/>
              </a:rPr>
              <a:t>Dashboards</a:t>
            </a:r>
            <a:endParaRPr sz="3200">
              <a:solidFill>
                <a:schemeClr val="dk1"/>
              </a:solidFill>
              <a:latin typeface="Arial"/>
              <a:ea typeface="Arial"/>
              <a:cs typeface="Arial"/>
              <a:sym typeface="Arial"/>
            </a:endParaRPr>
          </a:p>
        </p:txBody>
      </p:sp>
      <p:sp>
        <p:nvSpPr>
          <p:cNvPr id="417" name="Google Shape;417;p3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18" name="Google Shape;418;p3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0"/>
          <p:cNvSpPr txBox="1"/>
          <p:nvPr>
            <p:ph idx="1" type="body"/>
          </p:nvPr>
        </p:nvSpPr>
        <p:spPr>
          <a:xfrm>
            <a:off x="190500" y="419198"/>
            <a:ext cx="8763000" cy="5826027"/>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80"/>
              <a:buFont typeface="Arial"/>
              <a:buChar char="•"/>
            </a:pPr>
            <a:r>
              <a:rPr b="1" lang="en-US" sz="2480"/>
              <a:t>Knowledge workers are professional employees such as financial and marketing analysts, </a:t>
            </a:r>
            <a:r>
              <a:rPr lang="en-US" sz="2480"/>
              <a:t>engineers, lawyers, and accountants. </a:t>
            </a:r>
            <a:endParaRPr sz="2480"/>
          </a:p>
          <a:p>
            <a:pPr indent="-185420" lvl="0" marL="342900" rtl="0" algn="just">
              <a:spcBef>
                <a:spcPts val="0"/>
              </a:spcBef>
              <a:spcAft>
                <a:spcPts val="0"/>
              </a:spcAft>
              <a:buClr>
                <a:schemeClr val="dk1"/>
              </a:buClr>
              <a:buSzPts val="2480"/>
              <a:buFont typeface="Arial"/>
              <a:buNone/>
            </a:pPr>
            <a:r>
              <a:t/>
            </a:r>
            <a:endParaRPr sz="2480"/>
          </a:p>
          <a:p>
            <a:pPr indent="-342900" lvl="0" marL="342900" rtl="0" algn="just">
              <a:spcBef>
                <a:spcPts val="495"/>
              </a:spcBef>
              <a:spcAft>
                <a:spcPts val="0"/>
              </a:spcAft>
              <a:buClr>
                <a:schemeClr val="dk1"/>
              </a:buClr>
              <a:buSzPts val="2480"/>
              <a:buFont typeface="Arial"/>
              <a:buChar char="•"/>
            </a:pPr>
            <a:r>
              <a:rPr lang="en-US" sz="2480"/>
              <a:t>All knowledge workers are experts in a particular subject area. They create information and knowledge, which they integrate into the business. </a:t>
            </a:r>
            <a:endParaRPr sz="2480"/>
          </a:p>
          <a:p>
            <a:pPr indent="-185420" lvl="0" marL="342900" rtl="0" algn="just">
              <a:spcBef>
                <a:spcPts val="495"/>
              </a:spcBef>
              <a:spcAft>
                <a:spcPts val="0"/>
              </a:spcAft>
              <a:buClr>
                <a:schemeClr val="dk1"/>
              </a:buClr>
              <a:buSzPts val="2480"/>
              <a:buFont typeface="Arial"/>
              <a:buNone/>
            </a:pPr>
            <a:r>
              <a:t/>
            </a:r>
            <a:endParaRPr sz="2480"/>
          </a:p>
          <a:p>
            <a:pPr indent="-342900" lvl="0" marL="342900" rtl="0" algn="just">
              <a:spcBef>
                <a:spcPts val="495"/>
              </a:spcBef>
              <a:spcAft>
                <a:spcPts val="0"/>
              </a:spcAft>
              <a:buClr>
                <a:schemeClr val="dk1"/>
              </a:buClr>
              <a:buSzPts val="2480"/>
              <a:buFont typeface="Arial"/>
              <a:buChar char="•"/>
            </a:pPr>
            <a:r>
              <a:rPr lang="en-US" sz="2480"/>
              <a:t>Knowledge workers, in turn, act as advisors to middle managers and executives. </a:t>
            </a:r>
            <a:endParaRPr sz="2480"/>
          </a:p>
          <a:p>
            <a:pPr indent="-185420" lvl="0" marL="342900" rtl="0" algn="just">
              <a:spcBef>
                <a:spcPts val="495"/>
              </a:spcBef>
              <a:spcAft>
                <a:spcPts val="0"/>
              </a:spcAft>
              <a:buClr>
                <a:schemeClr val="dk1"/>
              </a:buClr>
              <a:buSzPts val="2480"/>
              <a:buFont typeface="Arial"/>
              <a:buNone/>
            </a:pPr>
            <a:r>
              <a:t/>
            </a:r>
            <a:endParaRPr sz="2480"/>
          </a:p>
          <a:p>
            <a:pPr indent="-342900" lvl="0" marL="342900" rtl="0" algn="just">
              <a:spcBef>
                <a:spcPts val="495"/>
              </a:spcBef>
              <a:spcAft>
                <a:spcPts val="0"/>
              </a:spcAft>
              <a:buClr>
                <a:schemeClr val="dk1"/>
              </a:buClr>
              <a:buSzPts val="2480"/>
              <a:buFont typeface="Arial"/>
              <a:buChar char="•"/>
            </a:pPr>
            <a:r>
              <a:rPr lang="en-US" sz="2480"/>
              <a:t>Finally, </a:t>
            </a:r>
            <a:r>
              <a:rPr i="1" lang="en-US" sz="2480"/>
              <a:t>executives </a:t>
            </a:r>
            <a:r>
              <a:rPr lang="en-US" sz="2480"/>
              <a:t>make decisions that deal with situations that can significantly change the manner in which business is done. Examples of executive decisions are introducing a new product line, acquiring other businesses, and relocating operations to a foreign country</a:t>
            </a:r>
            <a:endParaRPr sz="2480"/>
          </a:p>
        </p:txBody>
      </p:sp>
      <p:sp>
        <p:nvSpPr>
          <p:cNvPr id="424" name="Google Shape;424;p4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5" name="Google Shape;425;p4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Office automation systems (OASs</a:t>
            </a:r>
            <a:endParaRPr/>
          </a:p>
        </p:txBody>
      </p:sp>
      <p:sp>
        <p:nvSpPr>
          <p:cNvPr id="431" name="Google Shape;431;p41"/>
          <p:cNvSpPr txBox="1"/>
          <p:nvPr>
            <p:ph idx="1" type="body"/>
          </p:nvPr>
        </p:nvSpPr>
        <p:spPr>
          <a:xfrm>
            <a:off x="158620" y="1600200"/>
            <a:ext cx="8534400" cy="4525963"/>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dk1"/>
              </a:buClr>
              <a:buSzPts val="3200"/>
              <a:buFont typeface="Arial"/>
              <a:buChar char="•"/>
            </a:pPr>
            <a:r>
              <a:rPr b="1" lang="en-US" sz="2800"/>
              <a:t>Office automation systems (OASs) typically support the clerical staff, lower and middle </a:t>
            </a:r>
            <a:r>
              <a:rPr lang="en-US" sz="2800"/>
              <a:t>managers, and knowledge workers. </a:t>
            </a:r>
            <a:endParaRPr sz="2800"/>
          </a:p>
          <a:p>
            <a:pPr indent="-139700" lvl="0" marL="342900" rtl="0" algn="just">
              <a:lnSpc>
                <a:spcPct val="90000"/>
              </a:lnSpc>
              <a:spcBef>
                <a:spcPts val="0"/>
              </a:spcBef>
              <a:spcAft>
                <a:spcPts val="0"/>
              </a:spcAft>
              <a:buClr>
                <a:schemeClr val="dk1"/>
              </a:buClr>
              <a:buSzPts val="3200"/>
              <a:buFont typeface="Arial"/>
              <a:buNone/>
            </a:pPr>
            <a:r>
              <a:t/>
            </a:r>
            <a:endParaRPr sz="2800"/>
          </a:p>
          <a:p>
            <a:pPr indent="-342900" lvl="0" marL="342900" rtl="0" algn="just">
              <a:lnSpc>
                <a:spcPct val="90000"/>
              </a:lnSpc>
              <a:spcBef>
                <a:spcPts val="0"/>
              </a:spcBef>
              <a:spcAft>
                <a:spcPts val="0"/>
              </a:spcAft>
              <a:buClr>
                <a:schemeClr val="dk1"/>
              </a:buClr>
              <a:buSzPts val="3200"/>
              <a:buFont typeface="Arial"/>
              <a:buChar char="•"/>
            </a:pPr>
            <a:r>
              <a:rPr lang="en-US" sz="2800"/>
              <a:t>These employees use OASs to develop documents (word processing and desktop publishing software), schedule resources (electronic calendars), and communicate (e-mail, voice mail, videoconferencing, and groupware).</a:t>
            </a:r>
            <a:endParaRPr sz="2800"/>
          </a:p>
        </p:txBody>
      </p:sp>
      <p:sp>
        <p:nvSpPr>
          <p:cNvPr id="432" name="Google Shape;432;p4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33" name="Google Shape;433;p4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2"/>
          <p:cNvSpPr txBox="1"/>
          <p:nvPr>
            <p:ph type="title"/>
          </p:nvPr>
        </p:nvSpPr>
        <p:spPr>
          <a:xfrm>
            <a:off x="457200" y="4270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Business intelligence (BI) </a:t>
            </a:r>
            <a:endParaRPr/>
          </a:p>
        </p:txBody>
      </p:sp>
      <p:sp>
        <p:nvSpPr>
          <p:cNvPr id="439" name="Google Shape;439;p42"/>
          <p:cNvSpPr txBox="1"/>
          <p:nvPr>
            <p:ph idx="1" type="body"/>
          </p:nvPr>
        </p:nvSpPr>
        <p:spPr>
          <a:xfrm>
            <a:off x="152400" y="1676400"/>
            <a:ext cx="8229600" cy="4525963"/>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dk1"/>
              </a:buClr>
              <a:buSzPts val="3200"/>
              <a:buFont typeface="Arial"/>
              <a:buChar char="•"/>
            </a:pPr>
            <a:r>
              <a:rPr b="1" lang="en-US" sz="2800"/>
              <a:t>Business intelligence (BI) systems provide computer-based support for complex, non routine </a:t>
            </a:r>
            <a:r>
              <a:rPr lang="en-US" sz="2800"/>
              <a:t>decisions, primarily for middle managers and knowledge workers. (They also support lower-level managers, but to a lesser extent.) </a:t>
            </a:r>
            <a:endParaRPr sz="2800"/>
          </a:p>
          <a:p>
            <a:pPr indent="-139700" lvl="0" marL="342900" rtl="0" algn="just">
              <a:lnSpc>
                <a:spcPct val="90000"/>
              </a:lnSpc>
              <a:spcBef>
                <a:spcPts val="0"/>
              </a:spcBef>
              <a:spcAft>
                <a:spcPts val="0"/>
              </a:spcAft>
              <a:buClr>
                <a:schemeClr val="dk1"/>
              </a:buClr>
              <a:buSzPts val="3200"/>
              <a:buFont typeface="Arial"/>
              <a:buNone/>
            </a:pPr>
            <a:r>
              <a:t/>
            </a:r>
            <a:endParaRPr sz="2800"/>
          </a:p>
          <a:p>
            <a:pPr indent="-139700" lvl="0" marL="342900" rtl="0" algn="just">
              <a:lnSpc>
                <a:spcPct val="90000"/>
              </a:lnSpc>
              <a:spcBef>
                <a:spcPts val="0"/>
              </a:spcBef>
              <a:spcAft>
                <a:spcPts val="0"/>
              </a:spcAft>
              <a:buClr>
                <a:schemeClr val="dk1"/>
              </a:buClr>
              <a:buSzPts val="3200"/>
              <a:buFont typeface="Arial"/>
              <a:buNone/>
            </a:pPr>
            <a:r>
              <a:t/>
            </a:r>
            <a:endParaRPr sz="2800"/>
          </a:p>
          <a:p>
            <a:pPr indent="-342900" lvl="0" marL="342900" rtl="0" algn="just">
              <a:lnSpc>
                <a:spcPct val="90000"/>
              </a:lnSpc>
              <a:spcBef>
                <a:spcPts val="640"/>
              </a:spcBef>
              <a:spcAft>
                <a:spcPts val="0"/>
              </a:spcAft>
              <a:buClr>
                <a:schemeClr val="dk1"/>
              </a:buClr>
              <a:buSzPts val="3200"/>
              <a:buFont typeface="Arial"/>
              <a:buChar char="•"/>
            </a:pPr>
            <a:r>
              <a:rPr lang="en-US" sz="2800"/>
              <a:t>These systems are typically used with a data warehouse, and they enable users to perform their own data analysis</a:t>
            </a:r>
            <a:endParaRPr sz="2800"/>
          </a:p>
        </p:txBody>
      </p:sp>
      <p:sp>
        <p:nvSpPr>
          <p:cNvPr id="440" name="Google Shape;440;p4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41" name="Google Shape;441;p4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3"/>
          <p:cNvSpPr txBox="1"/>
          <p:nvPr>
            <p:ph idx="1" type="body"/>
          </p:nvPr>
        </p:nvSpPr>
        <p:spPr>
          <a:xfrm>
            <a:off x="457200" y="1174750"/>
            <a:ext cx="8229600" cy="4953000"/>
          </a:xfrm>
          <a:prstGeom prst="rect">
            <a:avLst/>
          </a:prstGeom>
          <a:noFill/>
          <a:ln>
            <a:noFill/>
          </a:ln>
        </p:spPr>
        <p:txBody>
          <a:bodyPr anchorCtr="0" anchor="t" bIns="45700" lIns="91425" spcFirstLastPara="1" rIns="91425" wrap="square" tIns="45700">
            <a:normAutofit fontScale="67500" lnSpcReduction="20000"/>
          </a:bodyPr>
          <a:lstStyle/>
          <a:p>
            <a:pPr indent="-342900" lvl="0" marL="342900" rtl="0" algn="l">
              <a:spcBef>
                <a:spcPts val="0"/>
              </a:spcBef>
              <a:spcAft>
                <a:spcPts val="0"/>
              </a:spcAft>
              <a:buClr>
                <a:schemeClr val="dk1"/>
              </a:buClr>
              <a:buSzPct val="100000"/>
              <a:buFont typeface="Arial"/>
              <a:buChar char="•"/>
            </a:pPr>
            <a:r>
              <a:rPr b="1" lang="en-US"/>
              <a:t>Expert systems (ESs) attempt to duplicate the work of human experts by applying reasoning </a:t>
            </a:r>
            <a:r>
              <a:rPr lang="en-US"/>
              <a:t>capabilities, knowledge, and expertise within a specific domain. </a:t>
            </a:r>
            <a:endParaRPr/>
          </a:p>
          <a:p>
            <a:pPr indent="-205740" lvl="0" marL="342900" rtl="0" algn="l">
              <a:spcBef>
                <a:spcPts val="432"/>
              </a:spcBef>
              <a:spcAft>
                <a:spcPts val="0"/>
              </a:spcAft>
              <a:buClr>
                <a:schemeClr val="dk1"/>
              </a:buClr>
              <a:buSzPct val="100000"/>
              <a:buFont typeface="Arial"/>
              <a:buNone/>
            </a:pPr>
            <a:r>
              <a:t/>
            </a:r>
            <a:endParaRPr/>
          </a:p>
          <a:p>
            <a:pPr indent="-342900" lvl="0" marL="342900" rtl="0" algn="l">
              <a:spcBef>
                <a:spcPts val="432"/>
              </a:spcBef>
              <a:spcAft>
                <a:spcPts val="0"/>
              </a:spcAft>
              <a:buClr>
                <a:schemeClr val="dk1"/>
              </a:buClr>
              <a:buSzPct val="100000"/>
              <a:buFont typeface="Arial"/>
              <a:buChar char="•"/>
            </a:pPr>
            <a:r>
              <a:rPr lang="en-US"/>
              <a:t>They have become valuable in many application areas, primarily but not exclusively areas involving decision making. </a:t>
            </a:r>
            <a:endParaRPr/>
          </a:p>
          <a:p>
            <a:pPr indent="-205740" lvl="0" marL="342900" rtl="0" algn="l">
              <a:spcBef>
                <a:spcPts val="432"/>
              </a:spcBef>
              <a:spcAft>
                <a:spcPts val="0"/>
              </a:spcAft>
              <a:buClr>
                <a:schemeClr val="dk1"/>
              </a:buClr>
              <a:buSzPct val="100000"/>
              <a:buFont typeface="Arial"/>
              <a:buNone/>
            </a:pPr>
            <a:r>
              <a:t/>
            </a:r>
            <a:endParaRPr/>
          </a:p>
          <a:p>
            <a:pPr indent="-342900" lvl="0" marL="342900" rtl="0" algn="l">
              <a:spcBef>
                <a:spcPts val="432"/>
              </a:spcBef>
              <a:spcAft>
                <a:spcPts val="0"/>
              </a:spcAft>
              <a:buClr>
                <a:schemeClr val="dk1"/>
              </a:buClr>
              <a:buSzPct val="100000"/>
              <a:buFont typeface="Arial"/>
              <a:buChar char="•"/>
            </a:pPr>
            <a:r>
              <a:rPr lang="en-US"/>
              <a:t>For example, navigation systems use rules to select routes, but we do not typically think of these systems as expert systems. </a:t>
            </a:r>
            <a:endParaRPr/>
          </a:p>
          <a:p>
            <a:pPr indent="-205740" lvl="0" marL="342900" rtl="0" algn="l">
              <a:spcBef>
                <a:spcPts val="432"/>
              </a:spcBef>
              <a:spcAft>
                <a:spcPts val="0"/>
              </a:spcAft>
              <a:buClr>
                <a:schemeClr val="dk1"/>
              </a:buClr>
              <a:buSzPct val="100000"/>
              <a:buFont typeface="Arial"/>
              <a:buNone/>
            </a:pPr>
            <a:r>
              <a:t/>
            </a:r>
            <a:endParaRPr/>
          </a:p>
          <a:p>
            <a:pPr indent="-342900" lvl="0" marL="342900" rtl="0" algn="l">
              <a:spcBef>
                <a:spcPts val="432"/>
              </a:spcBef>
              <a:spcAft>
                <a:spcPts val="0"/>
              </a:spcAft>
              <a:buClr>
                <a:schemeClr val="dk1"/>
              </a:buClr>
              <a:buSzPct val="100000"/>
              <a:buFont typeface="Arial"/>
              <a:buChar char="•"/>
            </a:pPr>
            <a:r>
              <a:rPr lang="en-US"/>
              <a:t>Significantly, expert systems can operate as standalone systems or be embedded in other applications</a:t>
            </a:r>
            <a:endParaRPr/>
          </a:p>
        </p:txBody>
      </p:sp>
      <p:sp>
        <p:nvSpPr>
          <p:cNvPr id="447" name="Google Shape;447;p4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48" name="Google Shape;448;p4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4"/>
          <p:cNvSpPr txBox="1"/>
          <p:nvPr>
            <p:ph type="title"/>
          </p:nvPr>
        </p:nvSpPr>
        <p:spPr>
          <a:xfrm>
            <a:off x="457200" y="190500"/>
            <a:ext cx="8229600" cy="5826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44"/>
          <p:cNvSpPr txBox="1"/>
          <p:nvPr>
            <p:ph idx="1" type="body"/>
          </p:nvPr>
        </p:nvSpPr>
        <p:spPr>
          <a:xfrm>
            <a:off x="457200" y="1174750"/>
            <a:ext cx="8229600" cy="4953000"/>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Font typeface="Arial"/>
              <a:buChar char="•"/>
            </a:pPr>
            <a:r>
              <a:rPr b="1" lang="en-US"/>
              <a:t>Dashboards (also called digital dashboards) are a special form of IS that support all managers </a:t>
            </a:r>
            <a:r>
              <a:rPr lang="en-US"/>
              <a:t>of the organization. </a:t>
            </a:r>
            <a:endParaRPr/>
          </a:p>
          <a:p>
            <a:pPr indent="-154940" lvl="0" marL="342900" rtl="0" algn="l">
              <a:spcBef>
                <a:spcPts val="592"/>
              </a:spcBef>
              <a:spcAft>
                <a:spcPts val="0"/>
              </a:spcAft>
              <a:buClr>
                <a:schemeClr val="dk1"/>
              </a:buClr>
              <a:buSzPct val="100000"/>
              <a:buFont typeface="Arial"/>
              <a:buNone/>
            </a:pPr>
            <a:r>
              <a:t/>
            </a:r>
            <a:endParaRPr/>
          </a:p>
          <a:p>
            <a:pPr indent="-342900" lvl="0" marL="342900" rtl="0" algn="l">
              <a:spcBef>
                <a:spcPts val="592"/>
              </a:spcBef>
              <a:spcAft>
                <a:spcPts val="0"/>
              </a:spcAft>
              <a:buClr>
                <a:schemeClr val="dk1"/>
              </a:buClr>
              <a:buSzPct val="100000"/>
              <a:buFont typeface="Arial"/>
              <a:buChar char="•"/>
            </a:pPr>
            <a:r>
              <a:rPr lang="en-US"/>
              <a:t>They provide rapid access to timely information and direct access to structured information in the form of reports. </a:t>
            </a:r>
            <a:endParaRPr/>
          </a:p>
          <a:p>
            <a:pPr indent="-154940" lvl="0" marL="342900" rtl="0" algn="l">
              <a:spcBef>
                <a:spcPts val="592"/>
              </a:spcBef>
              <a:spcAft>
                <a:spcPts val="0"/>
              </a:spcAft>
              <a:buClr>
                <a:schemeClr val="dk1"/>
              </a:buClr>
              <a:buSzPct val="100000"/>
              <a:buFont typeface="Arial"/>
              <a:buNone/>
            </a:pPr>
            <a:r>
              <a:t/>
            </a:r>
            <a:endParaRPr/>
          </a:p>
          <a:p>
            <a:pPr indent="-342900" lvl="0" marL="342900" rtl="0" algn="l">
              <a:spcBef>
                <a:spcPts val="592"/>
              </a:spcBef>
              <a:spcAft>
                <a:spcPts val="0"/>
              </a:spcAft>
              <a:buClr>
                <a:schemeClr val="dk1"/>
              </a:buClr>
              <a:buSzPct val="100000"/>
              <a:buFont typeface="Arial"/>
              <a:buChar char="•"/>
            </a:pPr>
            <a:r>
              <a:rPr lang="en-US"/>
              <a:t>Dashboards that are tailored to the information needs of executives are called </a:t>
            </a:r>
            <a:r>
              <a:rPr i="1" lang="en-US"/>
              <a:t>executive dashboards.</a:t>
            </a:r>
            <a:endParaRPr/>
          </a:p>
        </p:txBody>
      </p:sp>
      <p:sp>
        <p:nvSpPr>
          <p:cNvPr id="455" name="Google Shape;455;p4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56" name="Google Shape;456;p4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5"/>
          <p:cNvSpPr txBox="1"/>
          <p:nvPr>
            <p:ph idx="4294967295" type="subTitle"/>
          </p:nvPr>
        </p:nvSpPr>
        <p:spPr>
          <a:xfrm>
            <a:off x="0" y="304800"/>
            <a:ext cx="8610599" cy="16764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rgbClr val="0070C0"/>
              </a:buClr>
              <a:buSzPts val="3600"/>
              <a:buFont typeface="Arial"/>
              <a:buNone/>
            </a:pPr>
            <a:r>
              <a:rPr lang="en-US" sz="3600">
                <a:solidFill>
                  <a:srgbClr val="0070C0"/>
                </a:solidFill>
                <a:latin typeface="Arial"/>
                <a:ea typeface="Arial"/>
                <a:cs typeface="Arial"/>
                <a:sym typeface="Arial"/>
              </a:rPr>
              <a:t>3 - How Does </a:t>
            </a:r>
            <a:endParaRPr sz="3600">
              <a:solidFill>
                <a:srgbClr val="0070C0"/>
              </a:solidFill>
              <a:latin typeface="Arial"/>
              <a:ea typeface="Arial"/>
              <a:cs typeface="Arial"/>
              <a:sym typeface="Arial"/>
            </a:endParaRPr>
          </a:p>
          <a:p>
            <a:pPr indent="0" lvl="0" marL="0" marR="0" rtl="0" algn="ctr">
              <a:spcBef>
                <a:spcPts val="720"/>
              </a:spcBef>
              <a:spcAft>
                <a:spcPts val="0"/>
              </a:spcAft>
              <a:buClr>
                <a:srgbClr val="0070C0"/>
              </a:buClr>
              <a:buSzPts val="3600"/>
              <a:buFont typeface="Arial"/>
              <a:buNone/>
            </a:pPr>
            <a:r>
              <a:rPr lang="en-US" sz="3600">
                <a:solidFill>
                  <a:srgbClr val="0070C0"/>
                </a:solidFill>
                <a:latin typeface="Arial"/>
                <a:ea typeface="Arial"/>
                <a:cs typeface="Arial"/>
                <a:sym typeface="Arial"/>
              </a:rPr>
              <a:t>IT Impact Organizations?</a:t>
            </a:r>
            <a:endParaRPr sz="3600">
              <a:solidFill>
                <a:srgbClr val="0070C0"/>
              </a:solidFill>
              <a:latin typeface="Arial"/>
              <a:ea typeface="Arial"/>
              <a:cs typeface="Arial"/>
              <a:sym typeface="Arial"/>
            </a:endParaRPr>
          </a:p>
        </p:txBody>
      </p:sp>
      <p:sp>
        <p:nvSpPr>
          <p:cNvPr id="462" name="Google Shape;462;p45"/>
          <p:cNvSpPr txBox="1"/>
          <p:nvPr>
            <p:ph idx="4294967295" type="body"/>
          </p:nvPr>
        </p:nvSpPr>
        <p:spPr>
          <a:xfrm>
            <a:off x="609600" y="2057400"/>
            <a:ext cx="8229600" cy="4953000"/>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dk1"/>
              </a:buClr>
              <a:buSzPts val="3200"/>
              <a:buFont typeface="Arial"/>
              <a:buChar char="•"/>
            </a:pPr>
            <a:r>
              <a:rPr lang="en-US" sz="3200">
                <a:solidFill>
                  <a:schemeClr val="dk1"/>
                </a:solidFill>
                <a:latin typeface="Arial"/>
                <a:ea typeface="Arial"/>
                <a:cs typeface="Arial"/>
                <a:sym typeface="Arial"/>
              </a:rPr>
              <a:t>IT Reduces the Number of Middle Managers</a:t>
            </a:r>
            <a:endParaRPr sz="3200">
              <a:solidFill>
                <a:schemeClr val="dk1"/>
              </a:solidFill>
              <a:latin typeface="Arial"/>
              <a:ea typeface="Arial"/>
              <a:cs typeface="Arial"/>
              <a:sym typeface="Arial"/>
            </a:endParaRPr>
          </a:p>
          <a:p>
            <a:pPr indent="-342900" lvl="0" marL="342900" marR="0" rtl="0" algn="l">
              <a:spcBef>
                <a:spcPts val="640"/>
              </a:spcBef>
              <a:spcAft>
                <a:spcPts val="0"/>
              </a:spcAft>
              <a:buClr>
                <a:schemeClr val="dk1"/>
              </a:buClr>
              <a:buSzPts val="3200"/>
              <a:buFont typeface="Arial"/>
              <a:buChar char="•"/>
            </a:pPr>
            <a:r>
              <a:rPr lang="en-US" sz="3200">
                <a:solidFill>
                  <a:schemeClr val="dk1"/>
                </a:solidFill>
                <a:latin typeface="Arial"/>
                <a:ea typeface="Arial"/>
                <a:cs typeface="Arial"/>
                <a:sym typeface="Arial"/>
              </a:rPr>
              <a:t>IT Change’s the Manager’s Job</a:t>
            </a:r>
            <a:endParaRPr sz="3200">
              <a:solidFill>
                <a:schemeClr val="dk1"/>
              </a:solidFill>
              <a:latin typeface="Arial"/>
              <a:ea typeface="Arial"/>
              <a:cs typeface="Arial"/>
              <a:sym typeface="Arial"/>
            </a:endParaRPr>
          </a:p>
          <a:p>
            <a:pPr indent="-342900" lvl="0" marL="342900" marR="0" rtl="0" algn="l">
              <a:spcBef>
                <a:spcPts val="640"/>
              </a:spcBef>
              <a:spcAft>
                <a:spcPts val="0"/>
              </a:spcAft>
              <a:buClr>
                <a:schemeClr val="dk1"/>
              </a:buClr>
              <a:buSzPts val="3200"/>
              <a:buFont typeface="Arial"/>
              <a:buChar char="•"/>
            </a:pPr>
            <a:r>
              <a:rPr lang="en-US" sz="3200">
                <a:solidFill>
                  <a:schemeClr val="dk1"/>
                </a:solidFill>
                <a:latin typeface="Arial"/>
                <a:ea typeface="Arial"/>
                <a:cs typeface="Arial"/>
                <a:sym typeface="Arial"/>
              </a:rPr>
              <a:t>Will IT Eliminate Jobs?</a:t>
            </a:r>
            <a:endParaRPr sz="3200">
              <a:solidFill>
                <a:schemeClr val="dk1"/>
              </a:solidFill>
              <a:latin typeface="Arial"/>
              <a:ea typeface="Arial"/>
              <a:cs typeface="Arial"/>
              <a:sym typeface="Arial"/>
            </a:endParaRPr>
          </a:p>
          <a:p>
            <a:pPr indent="-342900" lvl="0" marL="342900" marR="0" rtl="0" algn="l">
              <a:spcBef>
                <a:spcPts val="640"/>
              </a:spcBef>
              <a:spcAft>
                <a:spcPts val="0"/>
              </a:spcAft>
              <a:buClr>
                <a:schemeClr val="dk1"/>
              </a:buClr>
              <a:buSzPts val="3200"/>
              <a:buFont typeface="Arial"/>
              <a:buChar char="•"/>
            </a:pPr>
            <a:r>
              <a:rPr lang="en-US" sz="3200">
                <a:solidFill>
                  <a:schemeClr val="dk1"/>
                </a:solidFill>
                <a:latin typeface="Arial"/>
                <a:ea typeface="Arial"/>
                <a:cs typeface="Arial"/>
                <a:sym typeface="Arial"/>
              </a:rPr>
              <a:t>IT Impacts Employees at Work</a:t>
            </a:r>
            <a:endParaRPr sz="3200">
              <a:solidFill>
                <a:schemeClr val="dk1"/>
              </a:solidFill>
              <a:latin typeface="Arial"/>
              <a:ea typeface="Arial"/>
              <a:cs typeface="Arial"/>
              <a:sym typeface="Arial"/>
            </a:endParaRPr>
          </a:p>
        </p:txBody>
      </p:sp>
      <p:sp>
        <p:nvSpPr>
          <p:cNvPr id="463" name="Google Shape;463;p4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4" name="Google Shape;464;p4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8" name="Shape 468"/>
        <p:cNvGrpSpPr/>
        <p:nvPr/>
      </p:nvGrpSpPr>
      <p:grpSpPr>
        <a:xfrm>
          <a:off x="0" y="0"/>
          <a:ext cx="0" cy="0"/>
          <a:chOff x="0" y="0"/>
          <a:chExt cx="0" cy="0"/>
        </a:xfrm>
      </p:grpSpPr>
      <p:sp>
        <p:nvSpPr>
          <p:cNvPr id="469" name="Google Shape;469;p46"/>
          <p:cNvSpPr txBox="1"/>
          <p:nvPr>
            <p:ph type="title"/>
          </p:nvPr>
        </p:nvSpPr>
        <p:spPr>
          <a:xfrm>
            <a:off x="457200" y="190500"/>
            <a:ext cx="8229600" cy="58261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b="1" lang="en-US"/>
              <a:t>How Does IT Impact Organizations?</a:t>
            </a:r>
            <a:endParaRPr/>
          </a:p>
        </p:txBody>
      </p:sp>
      <p:sp>
        <p:nvSpPr>
          <p:cNvPr id="470" name="Google Shape;470;p46"/>
          <p:cNvSpPr txBox="1"/>
          <p:nvPr>
            <p:ph idx="1" type="body"/>
          </p:nvPr>
        </p:nvSpPr>
        <p:spPr>
          <a:xfrm>
            <a:off x="457200" y="1174750"/>
            <a:ext cx="8229600" cy="4953000"/>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Font typeface="Arial"/>
              <a:buChar char="•"/>
            </a:pPr>
            <a:r>
              <a:rPr b="1" lang="en-US"/>
              <a:t>IT Reduces the Number of Middle Managers</a:t>
            </a:r>
            <a:endParaRPr b="1"/>
          </a:p>
          <a:p>
            <a:pPr indent="-342900" lvl="0" marL="342900" rtl="0" algn="l">
              <a:spcBef>
                <a:spcPts val="496"/>
              </a:spcBef>
              <a:spcAft>
                <a:spcPts val="0"/>
              </a:spcAft>
              <a:buClr>
                <a:schemeClr val="dk1"/>
              </a:buClr>
              <a:buSzPct val="100000"/>
              <a:buFont typeface="Arial"/>
              <a:buChar char="•"/>
            </a:pPr>
            <a:r>
              <a:rPr lang="en-US"/>
              <a:t>IT makes managers more productive, and it increases the number of employees who can report to a single manager. </a:t>
            </a:r>
            <a:endParaRPr/>
          </a:p>
          <a:p>
            <a:pPr indent="-342900" lvl="0" marL="342900" rtl="0" algn="l">
              <a:spcBef>
                <a:spcPts val="496"/>
              </a:spcBef>
              <a:spcAft>
                <a:spcPts val="0"/>
              </a:spcAft>
              <a:buClr>
                <a:schemeClr val="dk1"/>
              </a:buClr>
              <a:buSzPct val="100000"/>
              <a:buFont typeface="Arial"/>
              <a:buChar char="•"/>
            </a:pPr>
            <a:r>
              <a:rPr lang="en-US"/>
              <a:t>Thus, IT ultimately decreases the number of managers and experts. </a:t>
            </a:r>
            <a:endParaRPr/>
          </a:p>
          <a:p>
            <a:pPr indent="-342900" lvl="0" marL="342900" rtl="0" algn="l">
              <a:spcBef>
                <a:spcPts val="496"/>
              </a:spcBef>
              <a:spcAft>
                <a:spcPts val="0"/>
              </a:spcAft>
              <a:buClr>
                <a:schemeClr val="dk1"/>
              </a:buClr>
              <a:buSzPct val="100000"/>
              <a:buFont typeface="Arial"/>
              <a:buChar char="•"/>
            </a:pPr>
            <a:r>
              <a:rPr lang="en-US"/>
              <a:t>It is reasonable to assume, therefore, that in coming years organizations will have fewer managerial levels and fewer staff and line managers. </a:t>
            </a:r>
            <a:endParaRPr/>
          </a:p>
          <a:p>
            <a:pPr indent="-342900" lvl="0" marL="342900" rtl="0" algn="l">
              <a:spcBef>
                <a:spcPts val="496"/>
              </a:spcBef>
              <a:spcAft>
                <a:spcPts val="0"/>
              </a:spcAft>
              <a:buClr>
                <a:schemeClr val="dk1"/>
              </a:buClr>
              <a:buSzPct val="100000"/>
              <a:buFont typeface="Arial"/>
              <a:buChar char="•"/>
            </a:pPr>
            <a:r>
              <a:rPr lang="en-US"/>
              <a:t>If this trend materializes, promotional opportunities will decrease, making promotions much more competitive</a:t>
            </a:r>
            <a:endParaRPr b="1"/>
          </a:p>
        </p:txBody>
      </p:sp>
      <p:sp>
        <p:nvSpPr>
          <p:cNvPr id="471" name="Google Shape;471;p4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72" name="Google Shape;472;p4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6" name="Shape 476"/>
        <p:cNvGrpSpPr/>
        <p:nvPr/>
      </p:nvGrpSpPr>
      <p:grpSpPr>
        <a:xfrm>
          <a:off x="0" y="0"/>
          <a:ext cx="0" cy="0"/>
          <a:chOff x="0" y="0"/>
          <a:chExt cx="0" cy="0"/>
        </a:xfrm>
      </p:grpSpPr>
      <p:sp>
        <p:nvSpPr>
          <p:cNvPr id="477" name="Google Shape;477;p47"/>
          <p:cNvSpPr txBox="1"/>
          <p:nvPr>
            <p:ph type="title"/>
          </p:nvPr>
        </p:nvSpPr>
        <p:spPr>
          <a:xfrm>
            <a:off x="457200" y="190500"/>
            <a:ext cx="8229600" cy="5826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t>IT Changes the Manager’s Job</a:t>
            </a:r>
            <a:endParaRPr/>
          </a:p>
        </p:txBody>
      </p:sp>
      <p:sp>
        <p:nvSpPr>
          <p:cNvPr id="478" name="Google Shape;478;p47"/>
          <p:cNvSpPr txBox="1"/>
          <p:nvPr>
            <p:ph idx="1" type="body"/>
          </p:nvPr>
        </p:nvSpPr>
        <p:spPr>
          <a:xfrm>
            <a:off x="457200" y="1174750"/>
            <a:ext cx="8229600" cy="495300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Font typeface="Arial"/>
              <a:buChar char="•"/>
            </a:pPr>
            <a:r>
              <a:rPr lang="en-US"/>
              <a:t>A major consequence of IT has been to change the manner in which managers make their decisions.</a:t>
            </a:r>
            <a:endParaRPr/>
          </a:p>
          <a:p>
            <a:pPr indent="-342900" lvl="0" marL="342900" rtl="0" algn="l">
              <a:spcBef>
                <a:spcPts val="448"/>
              </a:spcBef>
              <a:spcAft>
                <a:spcPts val="0"/>
              </a:spcAft>
              <a:buClr>
                <a:schemeClr val="dk1"/>
              </a:buClr>
              <a:buSzPct val="100000"/>
              <a:buFont typeface="Arial"/>
              <a:buChar char="•"/>
            </a:pPr>
            <a:r>
              <a:rPr lang="en-US"/>
              <a:t> In this way, IT ultimately has changed managers’ jobs.</a:t>
            </a:r>
            <a:endParaRPr/>
          </a:p>
          <a:p>
            <a:pPr indent="-200660" lvl="0" marL="342900" rtl="0" algn="l">
              <a:spcBef>
                <a:spcPts val="448"/>
              </a:spcBef>
              <a:spcAft>
                <a:spcPts val="0"/>
              </a:spcAft>
              <a:buClr>
                <a:schemeClr val="dk1"/>
              </a:buClr>
              <a:buSzPct val="100000"/>
              <a:buFont typeface="Arial"/>
              <a:buNone/>
            </a:pPr>
            <a:r>
              <a:t/>
            </a:r>
            <a:endParaRPr/>
          </a:p>
          <a:p>
            <a:pPr indent="-342900" lvl="0" marL="342900" rtl="0" algn="l">
              <a:spcBef>
                <a:spcPts val="448"/>
              </a:spcBef>
              <a:spcAft>
                <a:spcPts val="0"/>
              </a:spcAft>
              <a:buClr>
                <a:schemeClr val="dk1"/>
              </a:buClr>
              <a:buSzPct val="100000"/>
              <a:buFont typeface="Arial"/>
              <a:buChar char="•"/>
            </a:pPr>
            <a:r>
              <a:rPr lang="en-US"/>
              <a:t>IT often provides managers with near-real-time information, meaning that managers have less time to make decisions, making their jobs even more stressful.</a:t>
            </a:r>
            <a:endParaRPr/>
          </a:p>
          <a:p>
            <a:pPr indent="-200660" lvl="0" marL="342900" rtl="0" algn="l">
              <a:spcBef>
                <a:spcPts val="448"/>
              </a:spcBef>
              <a:spcAft>
                <a:spcPts val="0"/>
              </a:spcAft>
              <a:buClr>
                <a:schemeClr val="dk1"/>
              </a:buClr>
              <a:buSzPct val="100000"/>
              <a:buFont typeface="Arial"/>
              <a:buNone/>
            </a:pPr>
            <a:r>
              <a:t/>
            </a:r>
            <a:endParaRPr/>
          </a:p>
          <a:p>
            <a:pPr indent="-342900" lvl="0" marL="342900" rtl="0" algn="l">
              <a:spcBef>
                <a:spcPts val="448"/>
              </a:spcBef>
              <a:spcAft>
                <a:spcPts val="0"/>
              </a:spcAft>
              <a:buClr>
                <a:schemeClr val="dk1"/>
              </a:buClr>
              <a:buSzPct val="100000"/>
              <a:buFont typeface="Arial"/>
              <a:buChar char="•"/>
            </a:pPr>
            <a:r>
              <a:rPr lang="en-US"/>
              <a:t> Fortunately, IT also provides many tools—for example, business analytics applications such as dashboards, search engines, and intranets—to help managers handle the volumes of information they must deal with on an ongoing basis.</a:t>
            </a:r>
            <a:endParaRPr/>
          </a:p>
        </p:txBody>
      </p:sp>
      <p:sp>
        <p:nvSpPr>
          <p:cNvPr id="479" name="Google Shape;479;p4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0" name="Google Shape;480;p4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8"/>
          <p:cNvSpPr txBox="1"/>
          <p:nvPr>
            <p:ph idx="4294967295" type="subTitle"/>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3200"/>
              <a:buFont typeface="Arial"/>
              <a:buNone/>
            </a:pPr>
            <a:r>
              <a:rPr lang="en-US" sz="3200">
                <a:solidFill>
                  <a:schemeClr val="dk1"/>
                </a:solidFill>
                <a:latin typeface="Arial"/>
                <a:ea typeface="Arial"/>
                <a:cs typeface="Arial"/>
                <a:sym typeface="Arial"/>
              </a:rPr>
              <a:t>IT Impacts </a:t>
            </a:r>
            <a:endParaRPr sz="3200">
              <a:solidFill>
                <a:schemeClr val="dk1"/>
              </a:solidFill>
              <a:latin typeface="Arial"/>
              <a:ea typeface="Arial"/>
              <a:cs typeface="Arial"/>
              <a:sym typeface="Arial"/>
            </a:endParaRPr>
          </a:p>
          <a:p>
            <a:pPr indent="0" lvl="0" marL="0" marR="0" rtl="0" algn="ctr">
              <a:spcBef>
                <a:spcPts val="640"/>
              </a:spcBef>
              <a:spcAft>
                <a:spcPts val="0"/>
              </a:spcAft>
              <a:buClr>
                <a:schemeClr val="dk1"/>
              </a:buClr>
              <a:buSzPts val="3200"/>
              <a:buFont typeface="Arial"/>
              <a:buNone/>
            </a:pPr>
            <a:r>
              <a:rPr lang="en-US" sz="3200">
                <a:solidFill>
                  <a:schemeClr val="dk1"/>
                </a:solidFill>
                <a:latin typeface="Arial"/>
                <a:ea typeface="Arial"/>
                <a:cs typeface="Arial"/>
                <a:sym typeface="Arial"/>
              </a:rPr>
              <a:t>Employees at Work</a:t>
            </a:r>
            <a:endParaRPr sz="3200">
              <a:solidFill>
                <a:schemeClr val="dk1"/>
              </a:solidFill>
              <a:latin typeface="Arial"/>
              <a:ea typeface="Arial"/>
              <a:cs typeface="Arial"/>
              <a:sym typeface="Arial"/>
            </a:endParaRPr>
          </a:p>
        </p:txBody>
      </p:sp>
      <p:sp>
        <p:nvSpPr>
          <p:cNvPr id="486" name="Google Shape;486;p48"/>
          <p:cNvSpPr txBox="1"/>
          <p:nvPr>
            <p:ph idx="4294967295" type="body"/>
          </p:nvPr>
        </p:nvSpPr>
        <p:spPr>
          <a:xfrm>
            <a:off x="457200" y="2743200"/>
            <a:ext cx="8229600" cy="49530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3200"/>
              <a:buFont typeface="Arial"/>
              <a:buChar char="•"/>
            </a:pPr>
            <a:r>
              <a:rPr lang="en-US" sz="3200">
                <a:solidFill>
                  <a:schemeClr val="dk1"/>
                </a:solidFill>
                <a:latin typeface="Arial"/>
                <a:ea typeface="Arial"/>
                <a:cs typeface="Arial"/>
                <a:sym typeface="Arial"/>
              </a:rPr>
              <a:t>IT Impacts Employees’ Health and Safety</a:t>
            </a:r>
            <a:endParaRPr sz="3200">
              <a:solidFill>
                <a:schemeClr val="dk1"/>
              </a:solidFill>
              <a:latin typeface="Arial"/>
              <a:ea typeface="Arial"/>
              <a:cs typeface="Arial"/>
              <a:sym typeface="Arial"/>
            </a:endParaRPr>
          </a:p>
          <a:p>
            <a:pPr indent="-342900" lvl="0" marL="342900" marR="0" rtl="0" algn="l">
              <a:spcBef>
                <a:spcPts val="640"/>
              </a:spcBef>
              <a:spcAft>
                <a:spcPts val="0"/>
              </a:spcAft>
              <a:buClr>
                <a:schemeClr val="dk1"/>
              </a:buClr>
              <a:buSzPts val="3200"/>
              <a:buFont typeface="Arial"/>
              <a:buChar char="•"/>
            </a:pPr>
            <a:r>
              <a:rPr lang="en-US" sz="3200">
                <a:solidFill>
                  <a:schemeClr val="dk1"/>
                </a:solidFill>
                <a:latin typeface="Arial"/>
                <a:ea typeface="Arial"/>
                <a:cs typeface="Arial"/>
                <a:sym typeface="Arial"/>
              </a:rPr>
              <a:t>IT Provides Opportunities for People with Disabilities</a:t>
            </a:r>
            <a:endParaRPr sz="3200">
              <a:solidFill>
                <a:schemeClr val="dk1"/>
              </a:solidFill>
              <a:latin typeface="Arial"/>
              <a:ea typeface="Arial"/>
              <a:cs typeface="Arial"/>
              <a:sym typeface="Arial"/>
            </a:endParaRPr>
          </a:p>
        </p:txBody>
      </p:sp>
      <p:sp>
        <p:nvSpPr>
          <p:cNvPr id="487" name="Google Shape;487;p4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8" name="Google Shape;488;p4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9"/>
          <p:cNvSpPr txBox="1"/>
          <p:nvPr>
            <p:ph type="title"/>
          </p:nvPr>
        </p:nvSpPr>
        <p:spPr>
          <a:xfrm>
            <a:off x="457200" y="190500"/>
            <a:ext cx="8229600" cy="58261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2400"/>
              <a:t>IT Impacts Employees’ Health and Safety.</a:t>
            </a:r>
            <a:endParaRPr sz="2400"/>
          </a:p>
        </p:txBody>
      </p:sp>
      <p:sp>
        <p:nvSpPr>
          <p:cNvPr id="494" name="Google Shape;494;p49"/>
          <p:cNvSpPr txBox="1"/>
          <p:nvPr>
            <p:ph idx="1" type="body"/>
          </p:nvPr>
        </p:nvSpPr>
        <p:spPr>
          <a:xfrm>
            <a:off x="457200" y="1219200"/>
            <a:ext cx="8458200" cy="5105400"/>
          </a:xfrm>
          <a:prstGeom prst="rect">
            <a:avLst/>
          </a:prstGeom>
          <a:noFill/>
          <a:ln>
            <a:noFill/>
          </a:ln>
        </p:spPr>
        <p:txBody>
          <a:bodyPr anchorCtr="0" anchor="t" bIns="45700" lIns="91425" spcFirstLastPara="1" rIns="91425" wrap="square" tIns="45700">
            <a:normAutofit fontScale="32500" lnSpcReduction="20000"/>
          </a:bodyPr>
          <a:lstStyle/>
          <a:p>
            <a:pPr indent="-342900" lvl="0" marL="342900" rtl="0" algn="l">
              <a:spcBef>
                <a:spcPts val="0"/>
              </a:spcBef>
              <a:spcAft>
                <a:spcPts val="0"/>
              </a:spcAft>
              <a:buClr>
                <a:schemeClr val="dk1"/>
              </a:buClr>
              <a:buSzPct val="100000"/>
              <a:buFont typeface="Arial"/>
              <a:buChar char="•"/>
            </a:pPr>
            <a:r>
              <a:rPr lang="en-US" sz="5000"/>
              <a:t>Although computers and information systems are generally regarded as agents of “progress,” they can adversely affect individuals’ health and safety. IT: job stress and long-term use of the keyboard.</a:t>
            </a:r>
            <a:endParaRPr sz="5000"/>
          </a:p>
          <a:p>
            <a:pPr indent="-239712" lvl="0" marL="342900" rtl="0" algn="l">
              <a:spcBef>
                <a:spcPts val="325"/>
              </a:spcBef>
              <a:spcAft>
                <a:spcPts val="0"/>
              </a:spcAft>
              <a:buClr>
                <a:schemeClr val="dk1"/>
              </a:buClr>
              <a:buSzPct val="100000"/>
              <a:buFont typeface="Arial"/>
              <a:buNone/>
            </a:pPr>
            <a:r>
              <a:t/>
            </a:r>
            <a:endParaRPr sz="5000"/>
          </a:p>
          <a:p>
            <a:pPr indent="-342900" lvl="0" marL="342900" rtl="0" algn="l">
              <a:spcBef>
                <a:spcPts val="325"/>
              </a:spcBef>
              <a:spcAft>
                <a:spcPts val="0"/>
              </a:spcAft>
              <a:buClr>
                <a:schemeClr val="dk1"/>
              </a:buClr>
              <a:buSzPct val="100000"/>
              <a:buFont typeface="Arial"/>
              <a:buChar char="•"/>
            </a:pPr>
            <a:r>
              <a:rPr lang="en-US" sz="5000"/>
              <a:t>An increase in an employee’s workload and/or responsibilities can trigger </a:t>
            </a:r>
            <a:r>
              <a:rPr i="1" lang="en-US" sz="5000"/>
              <a:t>job stress.</a:t>
            </a:r>
            <a:endParaRPr i="1" sz="5000"/>
          </a:p>
          <a:p>
            <a:pPr indent="-342900" lvl="0" marL="342900" rtl="0" algn="l">
              <a:spcBef>
                <a:spcPts val="325"/>
              </a:spcBef>
              <a:spcAft>
                <a:spcPts val="0"/>
              </a:spcAft>
              <a:buClr>
                <a:schemeClr val="dk1"/>
              </a:buClr>
              <a:buSzPct val="100000"/>
              <a:buFont typeface="Arial"/>
              <a:buChar char="•"/>
            </a:pPr>
            <a:r>
              <a:rPr lang="en-US" sz="5000"/>
              <a:t>Although computerization has benefited organizations by increasing productivity, it also has created an ever-expanding workload for some employees. </a:t>
            </a:r>
            <a:endParaRPr sz="5000"/>
          </a:p>
          <a:p>
            <a:pPr indent="-342900" lvl="0" marL="342900" rtl="0" algn="l">
              <a:spcBef>
                <a:spcPts val="325"/>
              </a:spcBef>
              <a:spcAft>
                <a:spcPts val="0"/>
              </a:spcAft>
              <a:buClr>
                <a:schemeClr val="dk1"/>
              </a:buClr>
              <a:buSzPct val="100000"/>
              <a:buFont typeface="Arial"/>
              <a:buChar char="•"/>
            </a:pPr>
            <a:r>
              <a:rPr lang="en-US" sz="5000"/>
              <a:t>Some workers feel overwhelmed and have become increasingly anxious about their job performance.</a:t>
            </a:r>
            <a:endParaRPr sz="5000"/>
          </a:p>
          <a:p>
            <a:pPr indent="-239712" lvl="0" marL="342900" rtl="0" algn="l">
              <a:spcBef>
                <a:spcPts val="325"/>
              </a:spcBef>
              <a:spcAft>
                <a:spcPts val="0"/>
              </a:spcAft>
              <a:buClr>
                <a:schemeClr val="dk1"/>
              </a:buClr>
              <a:buSzPct val="100000"/>
              <a:buFont typeface="Arial"/>
              <a:buNone/>
            </a:pPr>
            <a:r>
              <a:t/>
            </a:r>
            <a:endParaRPr sz="5000"/>
          </a:p>
          <a:p>
            <a:pPr indent="-342900" lvl="0" marL="342900" rtl="0" algn="l">
              <a:spcBef>
                <a:spcPts val="325"/>
              </a:spcBef>
              <a:spcAft>
                <a:spcPts val="0"/>
              </a:spcAft>
              <a:buClr>
                <a:schemeClr val="dk1"/>
              </a:buClr>
              <a:buSzPct val="100000"/>
              <a:buFont typeface="Arial"/>
              <a:buChar char="•"/>
            </a:pPr>
            <a:r>
              <a:rPr lang="en-US" sz="5000"/>
              <a:t> These feelings of stress and anxiety can actually diminish rather than improve workers’ productivity while jeopardizing their physical and mental health. Management can help alleviate these problems by providing training, redistributing the workload among workers, and hiring more workers.</a:t>
            </a:r>
            <a:endParaRPr sz="5000"/>
          </a:p>
          <a:p>
            <a:pPr indent="-239712" lvl="0" marL="342900" rtl="0" algn="l">
              <a:spcBef>
                <a:spcPts val="325"/>
              </a:spcBef>
              <a:spcAft>
                <a:spcPts val="0"/>
              </a:spcAft>
              <a:buClr>
                <a:schemeClr val="dk1"/>
              </a:buClr>
              <a:buSzPct val="100000"/>
              <a:buFont typeface="Arial"/>
              <a:buNone/>
            </a:pPr>
            <a:r>
              <a:t/>
            </a:r>
            <a:endParaRPr sz="5000"/>
          </a:p>
          <a:p>
            <a:pPr indent="-342900" lvl="0" marL="342900" rtl="0" algn="l">
              <a:spcBef>
                <a:spcPts val="325"/>
              </a:spcBef>
              <a:spcAft>
                <a:spcPts val="0"/>
              </a:spcAft>
              <a:buClr>
                <a:schemeClr val="dk1"/>
              </a:buClr>
              <a:buSzPct val="100000"/>
              <a:buFont typeface="Arial"/>
              <a:buChar char="•"/>
            </a:pPr>
            <a:r>
              <a:rPr lang="en-US" sz="5000"/>
              <a:t>On a more specific level, the long-term use of keyboards can lead to </a:t>
            </a:r>
            <a:r>
              <a:rPr i="1" lang="en-US" sz="5000"/>
              <a:t>repetitive strain injuries </a:t>
            </a:r>
            <a:r>
              <a:rPr lang="en-US" sz="5000"/>
              <a:t>such as backaches and muscle tension in the wrists and fingers. </a:t>
            </a:r>
            <a:endParaRPr sz="5000"/>
          </a:p>
          <a:p>
            <a:pPr indent="-239712" lvl="0" marL="342900" rtl="0" algn="l">
              <a:spcBef>
                <a:spcPts val="325"/>
              </a:spcBef>
              <a:spcAft>
                <a:spcPts val="0"/>
              </a:spcAft>
              <a:buClr>
                <a:schemeClr val="dk1"/>
              </a:buClr>
              <a:buSzPct val="100000"/>
              <a:buFont typeface="Arial"/>
              <a:buNone/>
            </a:pPr>
            <a:r>
              <a:t/>
            </a:r>
            <a:endParaRPr sz="5000"/>
          </a:p>
          <a:p>
            <a:pPr indent="-342900" lvl="0" marL="342900" rtl="0" algn="l">
              <a:spcBef>
                <a:spcPts val="325"/>
              </a:spcBef>
              <a:spcAft>
                <a:spcPts val="0"/>
              </a:spcAft>
              <a:buClr>
                <a:schemeClr val="dk1"/>
              </a:buClr>
              <a:buSzPct val="100000"/>
              <a:buFont typeface="Arial"/>
              <a:buChar char="•"/>
            </a:pPr>
            <a:r>
              <a:rPr i="1" lang="en-US" sz="5000"/>
              <a:t>Carpal tunnel syndrome is a </a:t>
            </a:r>
            <a:r>
              <a:rPr lang="en-US" sz="5000"/>
              <a:t>particularly painful form of repetitive strain injury that affects the wrists and hands.</a:t>
            </a:r>
            <a:endParaRPr sz="5000"/>
          </a:p>
          <a:p>
            <a:pPr indent="-276860" lvl="0" marL="342900" rtl="0" algn="l">
              <a:spcBef>
                <a:spcPts val="208"/>
              </a:spcBef>
              <a:spcAft>
                <a:spcPts val="0"/>
              </a:spcAft>
              <a:buClr>
                <a:schemeClr val="dk1"/>
              </a:buClr>
              <a:buSzPct val="100000"/>
              <a:buFont typeface="Arial"/>
              <a:buNone/>
            </a:pPr>
            <a:r>
              <a:t/>
            </a:r>
            <a:endParaRPr/>
          </a:p>
        </p:txBody>
      </p:sp>
      <p:sp>
        <p:nvSpPr>
          <p:cNvPr id="495" name="Google Shape;495;p4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96" name="Google Shape;496;p4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0"/>
          <p:cNvSpPr txBox="1"/>
          <p:nvPr>
            <p:ph type="title"/>
          </p:nvPr>
        </p:nvSpPr>
        <p:spPr>
          <a:xfrm>
            <a:off x="457200" y="190500"/>
            <a:ext cx="8229600" cy="58261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b="1" lang="en-US" sz="3600"/>
              <a:t>IT Provides Opportunities for People with Disabilities</a:t>
            </a:r>
            <a:r>
              <a:rPr b="1" lang="en-US"/>
              <a:t>.</a:t>
            </a:r>
            <a:endParaRPr/>
          </a:p>
        </p:txBody>
      </p:sp>
      <p:sp>
        <p:nvSpPr>
          <p:cNvPr id="502" name="Google Shape;502;p50"/>
          <p:cNvSpPr txBox="1"/>
          <p:nvPr>
            <p:ph idx="1" type="body"/>
          </p:nvPr>
        </p:nvSpPr>
        <p:spPr>
          <a:xfrm>
            <a:off x="457200" y="1174750"/>
            <a:ext cx="8229600" cy="4953000"/>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l">
              <a:spcBef>
                <a:spcPts val="0"/>
              </a:spcBef>
              <a:spcAft>
                <a:spcPts val="0"/>
              </a:spcAft>
              <a:buClr>
                <a:schemeClr val="dk1"/>
              </a:buClr>
              <a:buSzPct val="100000"/>
              <a:buFont typeface="Arial"/>
              <a:buChar char="•"/>
            </a:pPr>
            <a:r>
              <a:rPr lang="en-US"/>
              <a:t>Computers can create new employment opportunities for people with disabilities by integrating speech-recognition and vision-recognition capabilities. </a:t>
            </a:r>
            <a:endParaRPr/>
          </a:p>
          <a:p>
            <a:pPr indent="-215900" lvl="0" marL="342900" rtl="0" algn="l">
              <a:spcBef>
                <a:spcPts val="400"/>
              </a:spcBef>
              <a:spcAft>
                <a:spcPts val="0"/>
              </a:spcAft>
              <a:buClr>
                <a:schemeClr val="dk1"/>
              </a:buClr>
              <a:buSzPct val="100000"/>
              <a:buFont typeface="Arial"/>
              <a:buNone/>
            </a:pPr>
            <a:r>
              <a:t/>
            </a:r>
            <a:endParaRPr/>
          </a:p>
          <a:p>
            <a:pPr indent="-342900" lvl="0" marL="342900" rtl="0" algn="l">
              <a:spcBef>
                <a:spcPts val="400"/>
              </a:spcBef>
              <a:spcAft>
                <a:spcPts val="0"/>
              </a:spcAft>
              <a:buClr>
                <a:schemeClr val="dk1"/>
              </a:buClr>
              <a:buSzPct val="100000"/>
              <a:buFont typeface="Arial"/>
              <a:buChar char="•"/>
            </a:pPr>
            <a:r>
              <a:rPr lang="en-US"/>
              <a:t>For example, individuals who cannot type can use a voice-operated keyboard, and individuals who cannot travel can work at home.</a:t>
            </a:r>
            <a:endParaRPr/>
          </a:p>
          <a:p>
            <a:pPr indent="-215900" lvl="0" marL="342900" rtl="0" algn="l">
              <a:spcBef>
                <a:spcPts val="400"/>
              </a:spcBef>
              <a:spcAft>
                <a:spcPts val="0"/>
              </a:spcAft>
              <a:buClr>
                <a:schemeClr val="dk1"/>
              </a:buClr>
              <a:buSzPct val="100000"/>
              <a:buFont typeface="Arial"/>
              <a:buNone/>
            </a:pPr>
            <a:r>
              <a:t/>
            </a:r>
            <a:endParaRPr/>
          </a:p>
          <a:p>
            <a:pPr indent="-342900" lvl="0" marL="342900" rtl="0" algn="l">
              <a:spcBef>
                <a:spcPts val="400"/>
              </a:spcBef>
              <a:spcAft>
                <a:spcPts val="0"/>
              </a:spcAft>
              <a:buClr>
                <a:schemeClr val="dk1"/>
              </a:buClr>
              <a:buSzPct val="100000"/>
              <a:buFont typeface="Arial"/>
              <a:buChar char="•"/>
            </a:pPr>
            <a:r>
              <a:rPr lang="en-US"/>
              <a:t>Going further, adaptive equipment for computers enables people with disabilities to perform tasks they normally would not be able to do. </a:t>
            </a:r>
            <a:endParaRPr/>
          </a:p>
          <a:p>
            <a:pPr indent="-215900" lvl="0" marL="342900" rtl="0" algn="l">
              <a:spcBef>
                <a:spcPts val="400"/>
              </a:spcBef>
              <a:spcAft>
                <a:spcPts val="0"/>
              </a:spcAft>
              <a:buClr>
                <a:schemeClr val="dk1"/>
              </a:buClr>
              <a:buSzPct val="100000"/>
              <a:buFont typeface="Arial"/>
              <a:buNone/>
            </a:pPr>
            <a:r>
              <a:t/>
            </a:r>
            <a:endParaRPr/>
          </a:p>
          <a:p>
            <a:pPr indent="-342900" lvl="0" marL="342900" rtl="0" algn="l">
              <a:spcBef>
                <a:spcPts val="400"/>
              </a:spcBef>
              <a:spcAft>
                <a:spcPts val="0"/>
              </a:spcAft>
              <a:buClr>
                <a:schemeClr val="dk1"/>
              </a:buClr>
              <a:buSzPct val="100000"/>
              <a:buFont typeface="Arial"/>
              <a:buChar char="•"/>
            </a:pPr>
            <a:r>
              <a:rPr lang="en-US"/>
              <a:t>For example, the Web and graphical user interfaces (GUIs; e.g., Windows) can be difficult for people with impaired vision to use. To address this problem, manufacturers have added audible screen tips and voice interfaces, which essentially restore the functionality of computers to the way it was before GUIs become standard.</a:t>
            </a:r>
            <a:endParaRPr/>
          </a:p>
        </p:txBody>
      </p:sp>
      <p:sp>
        <p:nvSpPr>
          <p:cNvPr id="503" name="Google Shape;503;p5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04" name="Google Shape;504;p5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Dr. Asawari D ( 12th July 2022 )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1"/>
          <p:cNvSpPr txBox="1"/>
          <p:nvPr>
            <p:ph idx="4294967295" type="subTitle"/>
          </p:nvPr>
        </p:nvSpPr>
        <p:spPr>
          <a:xfrm>
            <a:off x="304800" y="447675"/>
            <a:ext cx="8229600" cy="585533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0C0"/>
              </a:buClr>
              <a:buSzPts val="3200"/>
              <a:buFont typeface="Arial"/>
              <a:buNone/>
            </a:pPr>
            <a:r>
              <a:rPr lang="en-US" sz="3200">
                <a:solidFill>
                  <a:srgbClr val="0070C0"/>
                </a:solidFill>
                <a:latin typeface="Arial"/>
                <a:ea typeface="Arial"/>
                <a:cs typeface="Arial"/>
                <a:sym typeface="Arial"/>
              </a:rPr>
              <a:t>4- Importance of IS to Society</a:t>
            </a:r>
            <a:endParaRPr sz="3200">
              <a:solidFill>
                <a:srgbClr val="0070C0"/>
              </a:solidFill>
              <a:latin typeface="Arial"/>
              <a:ea typeface="Arial"/>
              <a:cs typeface="Arial"/>
              <a:sym typeface="Arial"/>
            </a:endParaRPr>
          </a:p>
        </p:txBody>
      </p:sp>
      <p:sp>
        <p:nvSpPr>
          <p:cNvPr id="510" name="Google Shape;510;p51"/>
          <p:cNvSpPr txBox="1"/>
          <p:nvPr>
            <p:ph idx="4294967295" type="body"/>
          </p:nvPr>
        </p:nvSpPr>
        <p:spPr>
          <a:xfrm>
            <a:off x="533400" y="1107440"/>
            <a:ext cx="8276590" cy="4917440"/>
          </a:xfrm>
          <a:prstGeom prst="rect">
            <a:avLst/>
          </a:prstGeom>
          <a:noFill/>
          <a:ln>
            <a:noFill/>
          </a:ln>
        </p:spPr>
        <p:txBody>
          <a:bodyPr anchorCtr="0" anchor="t" bIns="45700" lIns="91425" spcFirstLastPara="1" rIns="91425" wrap="square" tIns="45700">
            <a:normAutofit fontScale="50000"/>
          </a:bodyPr>
          <a:lstStyle/>
          <a:p>
            <a:pPr indent="-342900" lvl="0" marL="342900" marR="0" rtl="0" algn="l">
              <a:spcBef>
                <a:spcPts val="0"/>
              </a:spcBef>
              <a:spcAft>
                <a:spcPts val="0"/>
              </a:spcAft>
              <a:buClr>
                <a:schemeClr val="dk1"/>
              </a:buClr>
              <a:buSzPct val="100000"/>
              <a:buFont typeface="Arial"/>
              <a:buChar char="•"/>
            </a:pPr>
            <a:r>
              <a:rPr lang="en-US" sz="4000">
                <a:solidFill>
                  <a:schemeClr val="dk1"/>
                </a:solidFill>
                <a:latin typeface="Arial"/>
                <a:ea typeface="Arial"/>
                <a:cs typeface="Arial"/>
                <a:sym typeface="Arial"/>
              </a:rPr>
              <a:t>IT Affects Our Quality of Life - expanded from traditional 9 to 5 pm job to any time any where in 24 hrs .</a:t>
            </a:r>
            <a:endParaRPr sz="4000">
              <a:solidFill>
                <a:schemeClr val="dk1"/>
              </a:solidFill>
              <a:latin typeface="Arial"/>
              <a:ea typeface="Arial"/>
              <a:cs typeface="Arial"/>
              <a:sym typeface="Arial"/>
            </a:endParaRPr>
          </a:p>
          <a:p>
            <a:pPr indent="-342900" lvl="0" marL="342900" marR="0" rtl="0" algn="l">
              <a:spcBef>
                <a:spcPts val="400"/>
              </a:spcBef>
              <a:spcAft>
                <a:spcPts val="0"/>
              </a:spcAft>
              <a:buClr>
                <a:schemeClr val="dk1"/>
              </a:buClr>
              <a:buSzPct val="100000"/>
              <a:buFont typeface="Arial"/>
              <a:buChar char="•"/>
            </a:pPr>
            <a:r>
              <a:rPr lang="en-US" sz="4000">
                <a:solidFill>
                  <a:schemeClr val="dk1"/>
                </a:solidFill>
                <a:latin typeface="Arial"/>
                <a:ea typeface="Arial"/>
                <a:cs typeface="Arial"/>
                <a:sym typeface="Arial"/>
              </a:rPr>
              <a:t>can place Employe on consant call - vacation mode with laptop &amp; mobile , Email check on regular basis says survey. </a:t>
            </a:r>
            <a:endParaRPr sz="4000">
              <a:solidFill>
                <a:schemeClr val="dk1"/>
              </a:solidFill>
              <a:latin typeface="Arial"/>
              <a:ea typeface="Arial"/>
              <a:cs typeface="Arial"/>
              <a:sym typeface="Arial"/>
            </a:endParaRPr>
          </a:p>
          <a:p>
            <a:pPr indent="-215900" lvl="0" marL="342900" marR="0" rtl="0" algn="l">
              <a:spcBef>
                <a:spcPts val="400"/>
              </a:spcBef>
              <a:spcAft>
                <a:spcPts val="0"/>
              </a:spcAft>
              <a:buClr>
                <a:schemeClr val="dk1"/>
              </a:buClr>
              <a:buSzPct val="100000"/>
              <a:buFont typeface="Arial"/>
              <a:buNone/>
            </a:pPr>
            <a:r>
              <a:t/>
            </a:r>
            <a:endParaRPr sz="4000">
              <a:solidFill>
                <a:schemeClr val="dk1"/>
              </a:solidFill>
              <a:latin typeface="Arial"/>
              <a:ea typeface="Arial"/>
              <a:cs typeface="Arial"/>
              <a:sym typeface="Arial"/>
            </a:endParaRPr>
          </a:p>
          <a:p>
            <a:pPr indent="-342900" lvl="0" marL="342900" marR="0" rtl="0" algn="l">
              <a:spcBef>
                <a:spcPts val="400"/>
              </a:spcBef>
              <a:spcAft>
                <a:spcPts val="0"/>
              </a:spcAft>
              <a:buClr>
                <a:schemeClr val="dk1"/>
              </a:buClr>
              <a:buSzPct val="100000"/>
              <a:buFont typeface="Arial"/>
              <a:buChar char="•"/>
            </a:pPr>
            <a:r>
              <a:rPr lang="en-US" sz="4000">
                <a:solidFill>
                  <a:schemeClr val="dk1"/>
                </a:solidFill>
                <a:latin typeface="Arial"/>
                <a:ea typeface="Arial"/>
                <a:cs typeface="Arial"/>
                <a:sym typeface="Arial"/>
              </a:rPr>
              <a:t>The Robot Revolution is Here Now- perform practical tasks - nuse bots , quasi autonomous bots in hospitals , factories</a:t>
            </a:r>
            <a:endParaRPr sz="4000">
              <a:solidFill>
                <a:schemeClr val="dk1"/>
              </a:solidFill>
              <a:latin typeface="Arial"/>
              <a:ea typeface="Arial"/>
              <a:cs typeface="Arial"/>
              <a:sym typeface="Arial"/>
            </a:endParaRPr>
          </a:p>
          <a:p>
            <a:pPr indent="-342900" lvl="0" marL="342900" marR="0" rtl="0" algn="l">
              <a:spcBef>
                <a:spcPts val="400"/>
              </a:spcBef>
              <a:spcAft>
                <a:spcPts val="0"/>
              </a:spcAft>
              <a:buClr>
                <a:schemeClr val="dk1"/>
              </a:buClr>
              <a:buSzPct val="100000"/>
              <a:buFont typeface="Arial"/>
              <a:buChar char="•"/>
            </a:pPr>
            <a:r>
              <a:rPr lang="en-US" sz="4000">
                <a:solidFill>
                  <a:schemeClr val="dk1"/>
                </a:solidFill>
                <a:latin typeface="Arial"/>
                <a:ea typeface="Arial"/>
                <a:cs typeface="Arial"/>
                <a:sym typeface="Arial"/>
              </a:rPr>
              <a:t>Home - ibot ( www.irobot.com ) produced Rumba to clean &amp; sweep , scooba to wash floor .</a:t>
            </a:r>
            <a:endParaRPr sz="4000">
              <a:solidFill>
                <a:schemeClr val="dk1"/>
              </a:solidFill>
              <a:latin typeface="Arial"/>
              <a:ea typeface="Arial"/>
              <a:cs typeface="Arial"/>
              <a:sym typeface="Arial"/>
            </a:endParaRPr>
          </a:p>
          <a:p>
            <a:pPr indent="-342900" lvl="0" marL="342900" marR="0" rtl="0" algn="l">
              <a:spcBef>
                <a:spcPts val="400"/>
              </a:spcBef>
              <a:spcAft>
                <a:spcPts val="0"/>
              </a:spcAft>
              <a:buClr>
                <a:schemeClr val="dk1"/>
              </a:buClr>
              <a:buSzPct val="100000"/>
              <a:buFont typeface="Arial"/>
              <a:buChar char="•"/>
            </a:pPr>
            <a:r>
              <a:rPr lang="en-US" sz="4000">
                <a:solidFill>
                  <a:schemeClr val="dk1"/>
                </a:solidFill>
                <a:latin typeface="Arial"/>
                <a:ea typeface="Arial"/>
                <a:cs typeface="Arial"/>
                <a:sym typeface="Arial"/>
              </a:rPr>
              <a:t>Dirty Dog for Garage cleaning </a:t>
            </a:r>
            <a:endParaRPr sz="4000">
              <a:solidFill>
                <a:schemeClr val="dk1"/>
              </a:solidFill>
              <a:latin typeface="Arial"/>
              <a:ea typeface="Arial"/>
              <a:cs typeface="Arial"/>
              <a:sym typeface="Arial"/>
            </a:endParaRPr>
          </a:p>
          <a:p>
            <a:pPr indent="-342900" lvl="0" marL="342900" marR="0" rtl="0" algn="l">
              <a:spcBef>
                <a:spcPts val="400"/>
              </a:spcBef>
              <a:spcAft>
                <a:spcPts val="0"/>
              </a:spcAft>
              <a:buClr>
                <a:schemeClr val="dk1"/>
              </a:buClr>
              <a:buSzPct val="100000"/>
              <a:buFont typeface="Arial"/>
              <a:buChar char="•"/>
            </a:pPr>
            <a:r>
              <a:rPr lang="en-US" sz="4000">
                <a:solidFill>
                  <a:schemeClr val="dk1"/>
                </a:solidFill>
                <a:latin typeface="Arial"/>
                <a:ea typeface="Arial"/>
                <a:cs typeface="Arial"/>
                <a:sym typeface="Arial"/>
              </a:rPr>
              <a:t>Verro - swim pool cleaning </a:t>
            </a:r>
            <a:endParaRPr sz="4000">
              <a:solidFill>
                <a:schemeClr val="dk1"/>
              </a:solidFill>
              <a:latin typeface="Arial"/>
              <a:ea typeface="Arial"/>
              <a:cs typeface="Arial"/>
              <a:sym typeface="Arial"/>
            </a:endParaRPr>
          </a:p>
          <a:p>
            <a:pPr indent="-342900" lvl="0" marL="342900" marR="0" rtl="0" algn="l">
              <a:spcBef>
                <a:spcPts val="400"/>
              </a:spcBef>
              <a:spcAft>
                <a:spcPts val="0"/>
              </a:spcAft>
              <a:buClr>
                <a:schemeClr val="dk1"/>
              </a:buClr>
              <a:buSzPct val="100000"/>
              <a:buFont typeface="Arial"/>
              <a:buChar char="•"/>
            </a:pPr>
            <a:r>
              <a:rPr lang="en-US" sz="4000">
                <a:solidFill>
                  <a:schemeClr val="dk1"/>
                </a:solidFill>
                <a:latin typeface="Arial"/>
                <a:ea typeface="Arial"/>
                <a:cs typeface="Arial"/>
                <a:sym typeface="Arial"/>
              </a:rPr>
              <a:t>Looj - Loo &amp; Gutter cleaning </a:t>
            </a:r>
            <a:endParaRPr sz="4000">
              <a:solidFill>
                <a:schemeClr val="dk1"/>
              </a:solidFill>
              <a:latin typeface="Arial"/>
              <a:ea typeface="Arial"/>
              <a:cs typeface="Arial"/>
              <a:sym typeface="Arial"/>
            </a:endParaRPr>
          </a:p>
          <a:p>
            <a:pPr indent="-215900" lvl="0" marL="342900" marR="0" rtl="0" algn="l">
              <a:spcBef>
                <a:spcPts val="400"/>
              </a:spcBef>
              <a:spcAft>
                <a:spcPts val="0"/>
              </a:spcAft>
              <a:buClr>
                <a:schemeClr val="dk1"/>
              </a:buClr>
              <a:buSzPct val="100000"/>
              <a:buFont typeface="Arial"/>
              <a:buNone/>
            </a:pPr>
            <a:r>
              <a:t/>
            </a:r>
            <a:endParaRPr sz="4000">
              <a:solidFill>
                <a:schemeClr val="dk1"/>
              </a:solidFill>
              <a:latin typeface="Arial"/>
              <a:ea typeface="Arial"/>
              <a:cs typeface="Arial"/>
              <a:sym typeface="Arial"/>
            </a:endParaRPr>
          </a:p>
          <a:p>
            <a:pPr indent="-342900" lvl="0" marL="342900" marR="0" rtl="0" algn="l">
              <a:spcBef>
                <a:spcPts val="400"/>
              </a:spcBef>
              <a:spcAft>
                <a:spcPts val="0"/>
              </a:spcAft>
              <a:buClr>
                <a:schemeClr val="dk1"/>
              </a:buClr>
              <a:buSzPct val="100000"/>
              <a:buFont typeface="Arial"/>
              <a:buChar char="•"/>
            </a:pPr>
            <a:r>
              <a:rPr lang="en-US" sz="4000">
                <a:solidFill>
                  <a:schemeClr val="dk1"/>
                </a:solidFill>
                <a:latin typeface="Arial"/>
                <a:ea typeface="Arial"/>
                <a:cs typeface="Arial"/>
                <a:sym typeface="Arial"/>
              </a:rPr>
              <a:t>Other Robots - Telepresence robots , Autonomous cars , Drones  </a:t>
            </a:r>
            <a:endParaRPr sz="4000">
              <a:solidFill>
                <a:schemeClr val="dk1"/>
              </a:solidFill>
              <a:latin typeface="Arial"/>
              <a:ea typeface="Arial"/>
              <a:cs typeface="Arial"/>
              <a:sym typeface="Arial"/>
            </a:endParaRPr>
          </a:p>
          <a:p>
            <a:pPr indent="-215900" lvl="0" marL="342900" marR="0" rtl="0" algn="l">
              <a:spcBef>
                <a:spcPts val="400"/>
              </a:spcBef>
              <a:spcAft>
                <a:spcPts val="0"/>
              </a:spcAft>
              <a:buClr>
                <a:schemeClr val="dk1"/>
              </a:buClr>
              <a:buSzPct val="100000"/>
              <a:buFont typeface="Arial"/>
              <a:buNone/>
            </a:pPr>
            <a:r>
              <a:t/>
            </a:r>
            <a:endParaRPr sz="4000">
              <a:solidFill>
                <a:schemeClr val="dk1"/>
              </a:solidFill>
              <a:latin typeface="Arial"/>
              <a:ea typeface="Arial"/>
              <a:cs typeface="Arial"/>
              <a:sym typeface="Arial"/>
            </a:endParaRPr>
          </a:p>
        </p:txBody>
      </p:sp>
      <p:sp>
        <p:nvSpPr>
          <p:cNvPr id="511" name="Google Shape;511;p5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12" name="Google Shape;512;p5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52"/>
          <p:cNvSpPr txBox="1"/>
          <p:nvPr>
            <p:ph type="title"/>
          </p:nvPr>
        </p:nvSpPr>
        <p:spPr>
          <a:xfrm>
            <a:off x="457200" y="190500"/>
            <a:ext cx="8229600" cy="592518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Improvement in health Care</a:t>
            </a:r>
            <a:br>
              <a:rPr lang="en-US"/>
            </a:br>
            <a:br>
              <a:rPr lang="en-US"/>
            </a:br>
            <a:r>
              <a:rPr lang="en-US" sz="2800"/>
              <a:t>Fast Diagnosis </a:t>
            </a:r>
            <a:br>
              <a:rPr lang="en-US" sz="2800"/>
            </a:br>
            <a:r>
              <a:rPr lang="en-US" sz="2800"/>
              <a:t>Monitor critically ill Patients </a:t>
            </a:r>
            <a:br>
              <a:rPr lang="en-US" sz="2800"/>
            </a:br>
            <a:r>
              <a:rPr lang="en-US" sz="2800"/>
              <a:t>Virtual Reality for complex surgery </a:t>
            </a:r>
            <a:br>
              <a:rPr lang="en-US" sz="2800"/>
            </a:br>
            <a:r>
              <a:rPr lang="en-US" sz="2800"/>
              <a:t>Robos for surgery </a:t>
            </a:r>
            <a:br>
              <a:rPr lang="en-US" sz="2800"/>
            </a:br>
            <a:br>
              <a:rPr lang="en-US" sz="2800"/>
            </a:br>
            <a:r>
              <a:rPr lang="en-US" sz="2800"/>
              <a:t>Zamee - activity tracker to loose weight </a:t>
            </a:r>
            <a:br>
              <a:rPr lang="en-US" sz="2800"/>
            </a:br>
            <a:r>
              <a:rPr lang="en-US" sz="2800"/>
              <a:t>Zamzee rewars movement of child in points , gamification concept.  </a:t>
            </a:r>
            <a:br>
              <a:rPr lang="en-US" sz="2800"/>
            </a:br>
            <a:endParaRPr sz="2800"/>
          </a:p>
        </p:txBody>
      </p:sp>
      <p:sp>
        <p:nvSpPr>
          <p:cNvPr id="518" name="Google Shape;518;p5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Dr. Asawari D ( 12th July 2022 )</a:t>
            </a:r>
            <a:endParaRPr/>
          </a:p>
        </p:txBody>
      </p:sp>
      <p:sp>
        <p:nvSpPr>
          <p:cNvPr id="519" name="Google Shape;519;p5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reen Color">
  <a:themeElements>
    <a:clrScheme name="Green Color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2013-08-07T23:49:00Z</dcterms:created>
  <dc:creator>John Kenneth Corley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2F45ACD4DF784EBCA2BC06E5EB2EC526</vt:lpwstr>
  </property>
  <property fmtid="{D5CDD505-2E9C-101B-9397-08002B2CF9AE}" pid="3" name="KSOProductBuildVer">
    <vt:lpwstr>1033-11.2.0.11191</vt:lpwstr>
  </property>
</Properties>
</file>