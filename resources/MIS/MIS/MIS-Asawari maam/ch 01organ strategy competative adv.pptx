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9144000"/>
  <p:notesSz cx="6858000" cy="9144000"/>
  <p:embeddedFontLst>
    <p:embeddedFont>
      <p:font typeface="Garamond"/>
      <p:regular r:id="rId50"/>
      <p:bold r:id="rId51"/>
      <p:italic r:id="rId52"/>
      <p:boldItalic r:id="rId53"/>
    </p:embeddedFont>
    <p:embeddedFont>
      <p:font typeface="Arial Black"/>
      <p:regular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56">
          <p15:clr>
            <a:srgbClr val="000000"/>
          </p15:clr>
        </p15:guide>
      </p15:sldGuideLst>
    </p:ext>
    <p:ext uri="http://customooxmlschemas.google.com/">
      <go:slidesCustomData xmlns:go="http://customooxmlschemas.google.com/" r:id="rId59" roundtripDataSignature="AMtx7mimHXqBPJCTrea2L50w9iPd8X/i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5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Garamond-bold.fntdata"/><Relationship Id="rId50" Type="http://schemas.openxmlformats.org/officeDocument/2006/relationships/font" Target="fonts/Garamond-regular.fntdata"/><Relationship Id="rId53" Type="http://schemas.openxmlformats.org/officeDocument/2006/relationships/font" Target="fonts/Garamond-boldItalic.fntdata"/><Relationship Id="rId52" Type="http://schemas.openxmlformats.org/officeDocument/2006/relationships/font" Target="fonts/Garamond-italic.fntdata"/><Relationship Id="rId11" Type="http://schemas.openxmlformats.org/officeDocument/2006/relationships/slide" Target="slides/slide6.xml"/><Relationship Id="rId55" Type="http://schemas.openxmlformats.org/officeDocument/2006/relationships/font" Target="fonts/CenturyGothic-regular.fntdata"/><Relationship Id="rId10" Type="http://schemas.openxmlformats.org/officeDocument/2006/relationships/slide" Target="slides/slide5.xml"/><Relationship Id="rId54" Type="http://schemas.openxmlformats.org/officeDocument/2006/relationships/font" Target="fonts/ArialBlack-regular.fntdata"/><Relationship Id="rId13" Type="http://schemas.openxmlformats.org/officeDocument/2006/relationships/slide" Target="slides/slide8.xml"/><Relationship Id="rId57" Type="http://schemas.openxmlformats.org/officeDocument/2006/relationships/font" Target="fonts/CenturyGothic-italic.fntdata"/><Relationship Id="rId12" Type="http://schemas.openxmlformats.org/officeDocument/2006/relationships/slide" Target="slides/slide7.xml"/><Relationship Id="rId56" Type="http://schemas.openxmlformats.org/officeDocument/2006/relationships/font" Target="fonts/CenturyGothic-bold.fntdata"/><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CenturyGothic-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Competitive Advantage: </a:t>
            </a:r>
            <a:r>
              <a:rPr lang="en-US"/>
              <a:t>any assets that provide an organization with an edge against its competitors in some measure such as cost, quality, or speed. It also helps an organization to control a market and to accrue larger-than-average profits.</a:t>
            </a:r>
            <a:endParaRPr/>
          </a:p>
          <a:p>
            <a:pPr indent="0" lvl="0" marL="0" rtl="0" algn="l">
              <a:spcBef>
                <a:spcPts val="0"/>
              </a:spcBef>
              <a:spcAft>
                <a:spcPts val="0"/>
              </a:spcAft>
              <a:buNone/>
            </a:pPr>
            <a:r>
              <a:rPr b="1" i="0" lang="en-US" sz="1200" u="none" strike="noStrike">
                <a:solidFill>
                  <a:schemeClr val="dk1"/>
                </a:solidFill>
                <a:latin typeface="Calibri"/>
                <a:ea typeface="Calibri"/>
                <a:cs typeface="Calibri"/>
                <a:sym typeface="Calibri"/>
              </a:rPr>
              <a:t>Business Environment: </a:t>
            </a:r>
            <a:r>
              <a:rPr b="0" i="0" lang="en-US" sz="1200" u="none" strike="noStrike">
                <a:solidFill>
                  <a:schemeClr val="dk1"/>
                </a:solidFill>
                <a:latin typeface="Calibri"/>
                <a:ea typeface="Calibri"/>
                <a:cs typeface="Calibri"/>
                <a:sym typeface="Calibri"/>
              </a:rPr>
              <a:t>the combination of social, legal, economic, physical, and political factors in which businesses conduct their operations. Significant changes in any of these factors are likely to create </a:t>
            </a:r>
            <a:r>
              <a:rPr b="1" i="0" lang="en-US" sz="1200" u="none" strike="noStrike">
                <a:solidFill>
                  <a:schemeClr val="dk1"/>
                </a:solidFill>
                <a:latin typeface="Calibri"/>
                <a:ea typeface="Calibri"/>
                <a:cs typeface="Calibri"/>
                <a:sym typeface="Calibri"/>
              </a:rPr>
              <a:t>Business Pressures </a:t>
            </a:r>
            <a:r>
              <a:rPr b="0" i="0" lang="en-US" sz="1200" u="none" strike="noStrike">
                <a:solidFill>
                  <a:schemeClr val="dk1"/>
                </a:solidFill>
                <a:latin typeface="Calibri"/>
                <a:ea typeface="Calibri"/>
                <a:cs typeface="Calibri"/>
                <a:sym typeface="Calibri"/>
              </a:rPr>
              <a:t>on organizations.</a:t>
            </a:r>
            <a:endParaRPr/>
          </a:p>
          <a:p>
            <a:pPr indent="0" lvl="0" marL="0" rtl="0" algn="l">
              <a:spcBef>
                <a:spcPts val="0"/>
              </a:spcBef>
              <a:spcAft>
                <a:spcPts val="0"/>
              </a:spcAft>
              <a:buNone/>
            </a:pPr>
            <a:r>
              <a:rPr b="1" lang="en-US"/>
              <a:t>Organizations Responses: </a:t>
            </a:r>
            <a:r>
              <a:rPr lang="en-US"/>
              <a:t>Organizations respond to the various pressures by implementing Information Technology (IT) such as strategic systems, customer focus, make-to-order and mass customization, and e-business.</a:t>
            </a:r>
            <a:endParaRPr/>
          </a:p>
        </p:txBody>
      </p:sp>
      <p:sp>
        <p:nvSpPr>
          <p:cNvPr id="156" name="Google Shape;156;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Market Pressures: </a:t>
            </a:r>
            <a:r>
              <a:rPr lang="en-US"/>
              <a:t>business pressures generated by the global economy, intense competition, the changing nature of the workforce, and powerful customers.</a:t>
            </a:r>
            <a:endParaRPr/>
          </a:p>
          <a:p>
            <a:pPr indent="0" lvl="0" marL="0" rtl="0" algn="l">
              <a:spcBef>
                <a:spcPts val="0"/>
              </a:spcBef>
              <a:spcAft>
                <a:spcPts val="0"/>
              </a:spcAft>
              <a:buNone/>
            </a:pPr>
            <a:r>
              <a:rPr b="1" lang="en-US"/>
              <a:t>Technology Pressures: </a:t>
            </a:r>
            <a:r>
              <a:rPr lang="en-US"/>
              <a:t>business pressures caused by technological innovation and information overload.</a:t>
            </a:r>
            <a:endParaRPr/>
          </a:p>
          <a:p>
            <a:pPr indent="0" lvl="0" marL="0" rtl="0" algn="l">
              <a:spcBef>
                <a:spcPts val="0"/>
              </a:spcBef>
              <a:spcAft>
                <a:spcPts val="0"/>
              </a:spcAft>
              <a:buNone/>
            </a:pPr>
            <a:r>
              <a:rPr b="1" lang="en-US"/>
              <a:t>Societal/Political/Legal Pressures: </a:t>
            </a:r>
            <a:r>
              <a:rPr lang="en-US"/>
              <a:t>business pressures related to social responsibility, government regulation/deregulation, spending for social programs, spending to protect against terrorism, and ethics.</a:t>
            </a:r>
            <a:endParaRPr/>
          </a:p>
          <a:p>
            <a:pPr indent="0" lvl="0" marL="0" rtl="0" algn="l">
              <a:spcBef>
                <a:spcPts val="0"/>
              </a:spcBef>
              <a:spcAft>
                <a:spcPts val="0"/>
              </a:spcAft>
              <a:buNone/>
            </a:pPr>
            <a:r>
              <a:t/>
            </a:r>
            <a:endParaRPr/>
          </a:p>
        </p:txBody>
      </p:sp>
      <p:sp>
        <p:nvSpPr>
          <p:cNvPr id="176" name="Google Shape;17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Market Pressures: </a:t>
            </a:r>
            <a:r>
              <a:rPr lang="en-US"/>
              <a:t>business pressures generated by the global economy, intense competition, the changing nature of the workforce, and powerful customers.</a:t>
            </a:r>
            <a:endParaRPr/>
          </a:p>
          <a:p>
            <a:pPr indent="0" lvl="0" marL="0" rtl="0" algn="l">
              <a:spcBef>
                <a:spcPts val="0"/>
              </a:spcBef>
              <a:spcAft>
                <a:spcPts val="0"/>
              </a:spcAft>
              <a:buNone/>
            </a:pPr>
            <a:r>
              <a:rPr b="1" lang="en-US"/>
              <a:t>Technology Pressures: </a:t>
            </a:r>
            <a:r>
              <a:rPr lang="en-US"/>
              <a:t>business pressures caused by technological innovation and information overload.</a:t>
            </a:r>
            <a:endParaRPr/>
          </a:p>
          <a:p>
            <a:pPr indent="0" lvl="0" marL="0" rtl="0" algn="l">
              <a:spcBef>
                <a:spcPts val="0"/>
              </a:spcBef>
              <a:spcAft>
                <a:spcPts val="0"/>
              </a:spcAft>
              <a:buNone/>
            </a:pPr>
            <a:r>
              <a:rPr b="1" lang="en-US"/>
              <a:t>Societal/Political/Legal Pressures: </a:t>
            </a:r>
            <a:r>
              <a:rPr lang="en-US"/>
              <a:t>business pressures related to social responsibility, government regulation/deregulation, spending for social programs, spending to protect against terrorism, and ethics.</a:t>
            </a:r>
            <a:endParaRPr/>
          </a:p>
          <a:p>
            <a:pPr indent="0" lvl="0" marL="0" rtl="0" algn="l">
              <a:spcBef>
                <a:spcPts val="0"/>
              </a:spcBef>
              <a:spcAft>
                <a:spcPts val="0"/>
              </a:spcAft>
              <a:buNone/>
            </a:pPr>
            <a:r>
              <a:t/>
            </a:r>
            <a:endParaRPr/>
          </a:p>
        </p:txBody>
      </p:sp>
      <p:sp>
        <p:nvSpPr>
          <p:cNvPr id="183" name="Google Shape;18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Globalization: </a:t>
            </a:r>
            <a:r>
              <a:rPr lang="en-US"/>
              <a:t>the integration and interdependence of economic, social, cultural, and ecological facets of life, made possible by rapid advances in information technology.</a:t>
            </a:r>
            <a:endParaRPr/>
          </a:p>
          <a:p>
            <a:pPr indent="0" lvl="0" marL="0" rtl="0" algn="l">
              <a:spcBef>
                <a:spcPts val="0"/>
              </a:spcBef>
              <a:spcAft>
                <a:spcPts val="0"/>
              </a:spcAft>
              <a:buNone/>
            </a:pPr>
            <a:r>
              <a:rPr b="1" lang="en-US"/>
              <a:t>Changing Nature of the Workforce: </a:t>
            </a:r>
            <a:r>
              <a:rPr lang="en-US"/>
              <a:t>The workforce, particularly in developed countries, is becoming more diversified. Increasing numbers of women, single parents, minorities, and persons with disabilities are now employed in all types of positions.</a:t>
            </a:r>
            <a:endParaRPr/>
          </a:p>
          <a:p>
            <a:pPr indent="0" lvl="0" marL="0" rtl="0" algn="l">
              <a:spcBef>
                <a:spcPts val="0"/>
              </a:spcBef>
              <a:spcAft>
                <a:spcPts val="0"/>
              </a:spcAft>
              <a:buNone/>
            </a:pPr>
            <a:r>
              <a:rPr b="1" lang="en-US"/>
              <a:t>Powerful Customers: </a:t>
            </a:r>
            <a:r>
              <a:rPr lang="en-US"/>
              <a:t>consumer sophistication and expectations increase as customers become more knowledgeable about the products and services they acquire. Customers can use the Internet to find detailed information about products and services, to compare prices, and to purchase items at electronic auctions.</a:t>
            </a:r>
            <a:endParaRPr/>
          </a:p>
        </p:txBody>
      </p:sp>
      <p:sp>
        <p:nvSpPr>
          <p:cNvPr id="190" name="Google Shape;19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Thomas Friedman --&gt; Three eras of globalization:</a:t>
            </a:r>
            <a:endParaRPr b="1" u="sng"/>
          </a:p>
          <a:p>
            <a:pPr indent="0" lvl="0" marL="0" rtl="0" algn="l">
              <a:spcBef>
                <a:spcPts val="0"/>
              </a:spcBef>
              <a:spcAft>
                <a:spcPts val="0"/>
              </a:spcAft>
              <a:buNone/>
            </a:pPr>
            <a:r>
              <a:rPr b="1" lang="en-US"/>
              <a:t>Globalization 1.0:</a:t>
            </a:r>
            <a:endParaRPr b="1"/>
          </a:p>
          <a:p>
            <a:pPr indent="0" lvl="0" marL="0" rtl="0" algn="l">
              <a:spcBef>
                <a:spcPts val="0"/>
              </a:spcBef>
              <a:spcAft>
                <a:spcPts val="0"/>
              </a:spcAft>
              <a:buNone/>
            </a:pPr>
            <a:r>
              <a:rPr lang="en-US"/>
              <a:t>Timeframe: present</a:t>
            </a:r>
            <a:endParaRPr/>
          </a:p>
          <a:p>
            <a:pPr indent="0" lvl="0" marL="0" rtl="0" algn="l">
              <a:spcBef>
                <a:spcPts val="0"/>
              </a:spcBef>
              <a:spcAft>
                <a:spcPts val="0"/>
              </a:spcAft>
              <a:buNone/>
            </a:pPr>
            <a:r>
              <a:rPr lang="en-US"/>
              <a:t>Distinct Focus: Countries</a:t>
            </a:r>
            <a:endParaRPr/>
          </a:p>
          <a:p>
            <a:pPr indent="0" lvl="0" marL="0" rtl="0" algn="l">
              <a:spcBef>
                <a:spcPts val="0"/>
              </a:spcBef>
              <a:spcAft>
                <a:spcPts val="0"/>
              </a:spcAft>
              <a:buNone/>
            </a:pPr>
            <a:r>
              <a:rPr lang="en-US"/>
              <a:t>Driver:  Brute Force, Braun</a:t>
            </a:r>
            <a:endParaRPr/>
          </a:p>
          <a:p>
            <a:pPr indent="0" lvl="0" marL="0" rtl="0" algn="l">
              <a:spcBef>
                <a:spcPts val="0"/>
              </a:spcBef>
              <a:spcAft>
                <a:spcPts val="0"/>
              </a:spcAft>
              <a:buNone/>
            </a:pPr>
            <a:r>
              <a:rPr b="1" lang="en-US"/>
              <a:t>Globalization 2.0:</a:t>
            </a:r>
            <a:endParaRPr b="1"/>
          </a:p>
          <a:p>
            <a:pPr indent="0" lvl="0" marL="0" rtl="0" algn="l">
              <a:spcBef>
                <a:spcPts val="0"/>
              </a:spcBef>
              <a:spcAft>
                <a:spcPts val="0"/>
              </a:spcAft>
              <a:buNone/>
            </a:pPr>
            <a:r>
              <a:rPr lang="en-US"/>
              <a:t>Timeframe: 1800 to 2000</a:t>
            </a:r>
            <a:endParaRPr/>
          </a:p>
          <a:p>
            <a:pPr indent="0" lvl="0" marL="0" rtl="0" algn="l">
              <a:spcBef>
                <a:spcPts val="0"/>
              </a:spcBef>
              <a:spcAft>
                <a:spcPts val="0"/>
              </a:spcAft>
              <a:buNone/>
            </a:pPr>
            <a:r>
              <a:rPr lang="en-US"/>
              <a:t>Distinct Focus: International Companies</a:t>
            </a:r>
            <a:endParaRPr/>
          </a:p>
          <a:p>
            <a:pPr indent="0" lvl="0" marL="0" rtl="0" algn="l">
              <a:spcBef>
                <a:spcPts val="0"/>
              </a:spcBef>
              <a:spcAft>
                <a:spcPts val="0"/>
              </a:spcAft>
              <a:buNone/>
            </a:pPr>
            <a:r>
              <a:rPr lang="en-US"/>
              <a:t>Driver:</a:t>
            </a:r>
            <a:endParaRPr/>
          </a:p>
          <a:p>
            <a:pPr indent="0" lvl="0" marL="0" rtl="0" algn="l">
              <a:spcBef>
                <a:spcPts val="0"/>
              </a:spcBef>
              <a:spcAft>
                <a:spcPts val="0"/>
              </a:spcAft>
              <a:buNone/>
            </a:pPr>
            <a:r>
              <a:rPr lang="en-US"/>
              <a:t>-- first half of this period --&gt; Falling Transportation Costs (Steam Engine/Railroads)</a:t>
            </a:r>
            <a:endParaRPr/>
          </a:p>
          <a:p>
            <a:pPr indent="0" lvl="0" marL="0" rtl="0" algn="l">
              <a:spcBef>
                <a:spcPts val="0"/>
              </a:spcBef>
              <a:spcAft>
                <a:spcPts val="0"/>
              </a:spcAft>
              <a:buNone/>
            </a:pPr>
            <a:r>
              <a:rPr lang="en-US"/>
              <a:t>-- second half of this period --&gt; Falling Telecommunication Costs (Telegraph, Telephone, Computer, Satellite, Fiber Optics, Internet)</a:t>
            </a:r>
            <a:endParaRPr/>
          </a:p>
          <a:p>
            <a:pPr indent="0" lvl="0" marL="0" rtl="0" algn="l">
              <a:spcBef>
                <a:spcPts val="0"/>
              </a:spcBef>
              <a:spcAft>
                <a:spcPts val="0"/>
              </a:spcAft>
              <a:buNone/>
            </a:pPr>
            <a:r>
              <a:rPr b="1" lang="en-US"/>
              <a:t>Globalization 3.0:</a:t>
            </a:r>
            <a:endParaRPr b="1"/>
          </a:p>
          <a:p>
            <a:pPr indent="0" lvl="0" marL="0" rtl="0" algn="l">
              <a:spcBef>
                <a:spcPts val="0"/>
              </a:spcBef>
              <a:spcAft>
                <a:spcPts val="0"/>
              </a:spcAft>
              <a:buNone/>
            </a:pPr>
            <a:r>
              <a:rPr lang="en-US"/>
              <a:t>Timeframe: 2000 to Present</a:t>
            </a:r>
            <a:endParaRPr/>
          </a:p>
          <a:p>
            <a:pPr indent="0" lvl="0" marL="0" rtl="0" algn="l">
              <a:spcBef>
                <a:spcPts val="0"/>
              </a:spcBef>
              <a:spcAft>
                <a:spcPts val="0"/>
              </a:spcAft>
              <a:buNone/>
            </a:pPr>
            <a:r>
              <a:rPr lang="en-US"/>
              <a:t>Distinct Focus: Groups and Individuals</a:t>
            </a:r>
            <a:endParaRPr/>
          </a:p>
          <a:p>
            <a:pPr indent="0" lvl="0" marL="0" rtl="0" algn="l">
              <a:spcBef>
                <a:spcPts val="0"/>
              </a:spcBef>
              <a:spcAft>
                <a:spcPts val="0"/>
              </a:spcAft>
              <a:buNone/>
            </a:pPr>
            <a:r>
              <a:rPr lang="en-US"/>
              <a:t>Driver:  Convergence of 10 forces (or Flatteners)</a:t>
            </a:r>
            <a:endParaRPr/>
          </a:p>
        </p:txBody>
      </p:sp>
      <p:sp>
        <p:nvSpPr>
          <p:cNvPr id="197" name="Google Shape;19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Thomas Friedman --&gt; Three eras of globalization:</a:t>
            </a:r>
            <a:endParaRPr b="1" u="sng"/>
          </a:p>
          <a:p>
            <a:pPr indent="0" lvl="0" marL="0" rtl="0" algn="l">
              <a:spcBef>
                <a:spcPts val="0"/>
              </a:spcBef>
              <a:spcAft>
                <a:spcPts val="0"/>
              </a:spcAft>
              <a:buNone/>
            </a:pPr>
            <a:r>
              <a:rPr b="1" lang="en-US"/>
              <a:t>Globalization 1.0:</a:t>
            </a:r>
            <a:endParaRPr b="1"/>
          </a:p>
          <a:p>
            <a:pPr indent="0" lvl="0" marL="0" rtl="0" algn="l">
              <a:spcBef>
                <a:spcPts val="0"/>
              </a:spcBef>
              <a:spcAft>
                <a:spcPts val="0"/>
              </a:spcAft>
              <a:buNone/>
            </a:pPr>
            <a:r>
              <a:rPr lang="en-US"/>
              <a:t>Timeframe: present</a:t>
            </a:r>
            <a:endParaRPr/>
          </a:p>
          <a:p>
            <a:pPr indent="0" lvl="0" marL="0" rtl="0" algn="l">
              <a:spcBef>
                <a:spcPts val="0"/>
              </a:spcBef>
              <a:spcAft>
                <a:spcPts val="0"/>
              </a:spcAft>
              <a:buNone/>
            </a:pPr>
            <a:r>
              <a:rPr lang="en-US"/>
              <a:t>Distinct Focus: Countries</a:t>
            </a:r>
            <a:endParaRPr/>
          </a:p>
          <a:p>
            <a:pPr indent="0" lvl="0" marL="0" rtl="0" algn="l">
              <a:spcBef>
                <a:spcPts val="0"/>
              </a:spcBef>
              <a:spcAft>
                <a:spcPts val="0"/>
              </a:spcAft>
              <a:buNone/>
            </a:pPr>
            <a:r>
              <a:rPr lang="en-US"/>
              <a:t>Driver:  Brute Force, Braun</a:t>
            </a:r>
            <a:endParaRPr/>
          </a:p>
          <a:p>
            <a:pPr indent="0" lvl="0" marL="0" rtl="0" algn="l">
              <a:spcBef>
                <a:spcPts val="0"/>
              </a:spcBef>
              <a:spcAft>
                <a:spcPts val="0"/>
              </a:spcAft>
              <a:buNone/>
            </a:pPr>
            <a:r>
              <a:rPr b="1" lang="en-US"/>
              <a:t>Globalization 2.0:</a:t>
            </a:r>
            <a:endParaRPr b="1"/>
          </a:p>
          <a:p>
            <a:pPr indent="0" lvl="0" marL="0" rtl="0" algn="l">
              <a:spcBef>
                <a:spcPts val="0"/>
              </a:spcBef>
              <a:spcAft>
                <a:spcPts val="0"/>
              </a:spcAft>
              <a:buNone/>
            </a:pPr>
            <a:r>
              <a:rPr lang="en-US"/>
              <a:t>Timeframe: 1800 to 2000</a:t>
            </a:r>
            <a:endParaRPr/>
          </a:p>
          <a:p>
            <a:pPr indent="0" lvl="0" marL="0" rtl="0" algn="l">
              <a:spcBef>
                <a:spcPts val="0"/>
              </a:spcBef>
              <a:spcAft>
                <a:spcPts val="0"/>
              </a:spcAft>
              <a:buNone/>
            </a:pPr>
            <a:r>
              <a:rPr lang="en-US"/>
              <a:t>Distinct Focus: International Companies</a:t>
            </a:r>
            <a:endParaRPr/>
          </a:p>
          <a:p>
            <a:pPr indent="0" lvl="0" marL="0" rtl="0" algn="l">
              <a:spcBef>
                <a:spcPts val="0"/>
              </a:spcBef>
              <a:spcAft>
                <a:spcPts val="0"/>
              </a:spcAft>
              <a:buNone/>
            </a:pPr>
            <a:r>
              <a:rPr lang="en-US"/>
              <a:t>Driver:</a:t>
            </a:r>
            <a:endParaRPr/>
          </a:p>
          <a:p>
            <a:pPr indent="0" lvl="0" marL="0" rtl="0" algn="l">
              <a:spcBef>
                <a:spcPts val="0"/>
              </a:spcBef>
              <a:spcAft>
                <a:spcPts val="0"/>
              </a:spcAft>
              <a:buNone/>
            </a:pPr>
            <a:r>
              <a:rPr lang="en-US"/>
              <a:t>-- first half of this period --&gt; Falling Transportation Costs (Steam Engine/Railroads)</a:t>
            </a:r>
            <a:endParaRPr/>
          </a:p>
          <a:p>
            <a:pPr indent="0" lvl="0" marL="0" rtl="0" algn="l">
              <a:spcBef>
                <a:spcPts val="0"/>
              </a:spcBef>
              <a:spcAft>
                <a:spcPts val="0"/>
              </a:spcAft>
              <a:buNone/>
            </a:pPr>
            <a:r>
              <a:rPr lang="en-US"/>
              <a:t>-- second half of this period --&gt; Falling Telecommunication Costs (Telegraph, Telephone, Computer, Satellite, Fiber Optics, Internet)</a:t>
            </a:r>
            <a:endParaRPr/>
          </a:p>
          <a:p>
            <a:pPr indent="0" lvl="0" marL="0" rtl="0" algn="l">
              <a:spcBef>
                <a:spcPts val="0"/>
              </a:spcBef>
              <a:spcAft>
                <a:spcPts val="0"/>
              </a:spcAft>
              <a:buNone/>
            </a:pPr>
            <a:r>
              <a:rPr b="1" lang="en-US"/>
              <a:t>Globalization 3.0:</a:t>
            </a:r>
            <a:endParaRPr b="1"/>
          </a:p>
          <a:p>
            <a:pPr indent="0" lvl="0" marL="0" rtl="0" algn="l">
              <a:spcBef>
                <a:spcPts val="0"/>
              </a:spcBef>
              <a:spcAft>
                <a:spcPts val="0"/>
              </a:spcAft>
              <a:buNone/>
            </a:pPr>
            <a:r>
              <a:rPr lang="en-US"/>
              <a:t>Timeframe: 2000 to Present</a:t>
            </a:r>
            <a:endParaRPr/>
          </a:p>
          <a:p>
            <a:pPr indent="0" lvl="0" marL="0" rtl="0" algn="l">
              <a:spcBef>
                <a:spcPts val="0"/>
              </a:spcBef>
              <a:spcAft>
                <a:spcPts val="0"/>
              </a:spcAft>
              <a:buNone/>
            </a:pPr>
            <a:r>
              <a:rPr lang="en-US"/>
              <a:t>Distinct Focus: Groups and Individuals</a:t>
            </a:r>
            <a:endParaRPr/>
          </a:p>
          <a:p>
            <a:pPr indent="0" lvl="0" marL="0" rtl="0" algn="l">
              <a:spcBef>
                <a:spcPts val="0"/>
              </a:spcBef>
              <a:spcAft>
                <a:spcPts val="0"/>
              </a:spcAft>
              <a:buNone/>
            </a:pPr>
            <a:r>
              <a:rPr lang="en-US"/>
              <a:t>Driver:  Convergence of 10 forces (or Flatteners)</a:t>
            </a:r>
            <a:endParaRPr/>
          </a:p>
        </p:txBody>
      </p:sp>
      <p:sp>
        <p:nvSpPr>
          <p:cNvPr id="204" name="Google Shape;20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Thomas Friedman --&gt; Three eras of globalization:</a:t>
            </a:r>
            <a:endParaRPr b="1" u="sng"/>
          </a:p>
          <a:p>
            <a:pPr indent="0" lvl="0" marL="0" rtl="0" algn="l">
              <a:spcBef>
                <a:spcPts val="0"/>
              </a:spcBef>
              <a:spcAft>
                <a:spcPts val="0"/>
              </a:spcAft>
              <a:buNone/>
            </a:pPr>
            <a:r>
              <a:rPr b="1" lang="en-US"/>
              <a:t>Globalization 1.0:</a:t>
            </a:r>
            <a:endParaRPr b="1"/>
          </a:p>
          <a:p>
            <a:pPr indent="0" lvl="0" marL="0" rtl="0" algn="l">
              <a:spcBef>
                <a:spcPts val="0"/>
              </a:spcBef>
              <a:spcAft>
                <a:spcPts val="0"/>
              </a:spcAft>
              <a:buNone/>
            </a:pPr>
            <a:r>
              <a:rPr lang="en-US"/>
              <a:t>Timeframe: present</a:t>
            </a:r>
            <a:endParaRPr/>
          </a:p>
          <a:p>
            <a:pPr indent="0" lvl="0" marL="0" rtl="0" algn="l">
              <a:spcBef>
                <a:spcPts val="0"/>
              </a:spcBef>
              <a:spcAft>
                <a:spcPts val="0"/>
              </a:spcAft>
              <a:buNone/>
            </a:pPr>
            <a:r>
              <a:rPr lang="en-US"/>
              <a:t>Distinct Focus: Countries</a:t>
            </a:r>
            <a:endParaRPr/>
          </a:p>
          <a:p>
            <a:pPr indent="0" lvl="0" marL="0" rtl="0" algn="l">
              <a:spcBef>
                <a:spcPts val="0"/>
              </a:spcBef>
              <a:spcAft>
                <a:spcPts val="0"/>
              </a:spcAft>
              <a:buNone/>
            </a:pPr>
            <a:r>
              <a:rPr lang="en-US"/>
              <a:t>Driver:  Brute Force, Braun</a:t>
            </a:r>
            <a:endParaRPr/>
          </a:p>
          <a:p>
            <a:pPr indent="0" lvl="0" marL="0" rtl="0" algn="l">
              <a:spcBef>
                <a:spcPts val="0"/>
              </a:spcBef>
              <a:spcAft>
                <a:spcPts val="0"/>
              </a:spcAft>
              <a:buNone/>
            </a:pPr>
            <a:r>
              <a:rPr b="1" lang="en-US"/>
              <a:t>Globalization 2.0:</a:t>
            </a:r>
            <a:endParaRPr b="1"/>
          </a:p>
          <a:p>
            <a:pPr indent="0" lvl="0" marL="0" rtl="0" algn="l">
              <a:spcBef>
                <a:spcPts val="0"/>
              </a:spcBef>
              <a:spcAft>
                <a:spcPts val="0"/>
              </a:spcAft>
              <a:buNone/>
            </a:pPr>
            <a:r>
              <a:rPr lang="en-US"/>
              <a:t>Timeframe: 1800 to 2000</a:t>
            </a:r>
            <a:endParaRPr/>
          </a:p>
          <a:p>
            <a:pPr indent="0" lvl="0" marL="0" rtl="0" algn="l">
              <a:spcBef>
                <a:spcPts val="0"/>
              </a:spcBef>
              <a:spcAft>
                <a:spcPts val="0"/>
              </a:spcAft>
              <a:buNone/>
            </a:pPr>
            <a:r>
              <a:rPr lang="en-US"/>
              <a:t>Distinct Focus: International Companies</a:t>
            </a:r>
            <a:endParaRPr/>
          </a:p>
          <a:p>
            <a:pPr indent="0" lvl="0" marL="0" rtl="0" algn="l">
              <a:spcBef>
                <a:spcPts val="0"/>
              </a:spcBef>
              <a:spcAft>
                <a:spcPts val="0"/>
              </a:spcAft>
              <a:buNone/>
            </a:pPr>
            <a:r>
              <a:rPr lang="en-US"/>
              <a:t>Driver:</a:t>
            </a:r>
            <a:endParaRPr/>
          </a:p>
          <a:p>
            <a:pPr indent="0" lvl="0" marL="0" rtl="0" algn="l">
              <a:spcBef>
                <a:spcPts val="0"/>
              </a:spcBef>
              <a:spcAft>
                <a:spcPts val="0"/>
              </a:spcAft>
              <a:buNone/>
            </a:pPr>
            <a:r>
              <a:rPr lang="en-US"/>
              <a:t>-- first half of this period --&gt; Falling Transportation Costs (Steam Engine/Railroads)</a:t>
            </a:r>
            <a:endParaRPr/>
          </a:p>
          <a:p>
            <a:pPr indent="0" lvl="0" marL="0" rtl="0" algn="l">
              <a:spcBef>
                <a:spcPts val="0"/>
              </a:spcBef>
              <a:spcAft>
                <a:spcPts val="0"/>
              </a:spcAft>
              <a:buNone/>
            </a:pPr>
            <a:r>
              <a:rPr lang="en-US"/>
              <a:t>-- second half of this period --&gt; Falling Telecommunication Costs (Telegraph, Telephone, Computer, Satellite, Fiber Optics, Internet)</a:t>
            </a:r>
            <a:endParaRPr/>
          </a:p>
          <a:p>
            <a:pPr indent="0" lvl="0" marL="0" rtl="0" algn="l">
              <a:spcBef>
                <a:spcPts val="0"/>
              </a:spcBef>
              <a:spcAft>
                <a:spcPts val="0"/>
              </a:spcAft>
              <a:buNone/>
            </a:pPr>
            <a:r>
              <a:rPr b="1" lang="en-US"/>
              <a:t>Globalization 3.0:</a:t>
            </a:r>
            <a:endParaRPr b="1"/>
          </a:p>
          <a:p>
            <a:pPr indent="0" lvl="0" marL="0" rtl="0" algn="l">
              <a:spcBef>
                <a:spcPts val="0"/>
              </a:spcBef>
              <a:spcAft>
                <a:spcPts val="0"/>
              </a:spcAft>
              <a:buNone/>
            </a:pPr>
            <a:r>
              <a:rPr lang="en-US"/>
              <a:t>Timeframe: 2000 to Present</a:t>
            </a:r>
            <a:endParaRPr/>
          </a:p>
          <a:p>
            <a:pPr indent="0" lvl="0" marL="0" rtl="0" algn="l">
              <a:spcBef>
                <a:spcPts val="0"/>
              </a:spcBef>
              <a:spcAft>
                <a:spcPts val="0"/>
              </a:spcAft>
              <a:buNone/>
            </a:pPr>
            <a:r>
              <a:rPr lang="en-US"/>
              <a:t>Distinct Focus: Groups and Individuals</a:t>
            </a:r>
            <a:endParaRPr/>
          </a:p>
          <a:p>
            <a:pPr indent="0" lvl="0" marL="0" rtl="0" algn="l">
              <a:spcBef>
                <a:spcPts val="0"/>
              </a:spcBef>
              <a:spcAft>
                <a:spcPts val="0"/>
              </a:spcAft>
              <a:buNone/>
            </a:pPr>
            <a:r>
              <a:rPr lang="en-US"/>
              <a:t>Driver:  Convergence of 10 forces (or Flatteners)</a:t>
            </a:r>
            <a:endParaRPr/>
          </a:p>
        </p:txBody>
      </p:sp>
      <p:sp>
        <p:nvSpPr>
          <p:cNvPr id="217" name="Google Shape;217;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b="1" lang="en-US"/>
              <a:t>Fall of the Berlin Wall on November 9, 1989: </a:t>
            </a:r>
            <a:endParaRPr b="1"/>
          </a:p>
          <a:p>
            <a:pPr indent="-228600" lvl="0" marL="228600" rtl="0" algn="l">
              <a:spcBef>
                <a:spcPts val="0"/>
              </a:spcBef>
              <a:spcAft>
                <a:spcPts val="0"/>
              </a:spcAft>
              <a:buClr>
                <a:schemeClr val="dk1"/>
              </a:buClr>
              <a:buSzPts val="1200"/>
              <a:buFont typeface="Arial"/>
              <a:buChar char="•"/>
            </a:pPr>
            <a:r>
              <a:rPr lang="en-US"/>
              <a:t>Shifted the world toward free-market economies and away from centrally planned economies.</a:t>
            </a:r>
            <a:endParaRPr/>
          </a:p>
          <a:p>
            <a:pPr indent="-228600" lvl="0" marL="228600" rtl="0" algn="l">
              <a:spcBef>
                <a:spcPts val="0"/>
              </a:spcBef>
              <a:spcAft>
                <a:spcPts val="0"/>
              </a:spcAft>
              <a:buClr>
                <a:schemeClr val="dk1"/>
              </a:buClr>
              <a:buSzPts val="1200"/>
              <a:buFont typeface="Arial"/>
              <a:buChar char="•"/>
            </a:pPr>
            <a:r>
              <a:rPr lang="en-US"/>
              <a:t>Led to the emergence of the European Union and early thinking about the world as a single, global market.</a:t>
            </a:r>
            <a:endParaRPr/>
          </a:p>
          <a:p>
            <a:pPr indent="0" lvl="0" marL="0" rtl="0" algn="l">
              <a:spcBef>
                <a:spcPts val="0"/>
              </a:spcBef>
              <a:spcAft>
                <a:spcPts val="0"/>
              </a:spcAft>
              <a:buClr>
                <a:schemeClr val="dk1"/>
              </a:buClr>
              <a:buSzPts val="1200"/>
              <a:buFont typeface="Arial"/>
              <a:buNone/>
            </a:pPr>
            <a:r>
              <a:rPr b="1" lang="en-US"/>
              <a:t>Netscape goes public on August 9, 1995:</a:t>
            </a:r>
            <a:endParaRPr b="1"/>
          </a:p>
          <a:p>
            <a:pPr indent="-228600" lvl="0" marL="228600" rtl="0" algn="l">
              <a:spcBef>
                <a:spcPts val="0"/>
              </a:spcBef>
              <a:spcAft>
                <a:spcPts val="0"/>
              </a:spcAft>
              <a:buClr>
                <a:schemeClr val="dk1"/>
              </a:buClr>
              <a:buSzPts val="1200"/>
              <a:buFont typeface="Arial"/>
              <a:buChar char="•"/>
            </a:pPr>
            <a:r>
              <a:rPr lang="en-US"/>
              <a:t>Popularized the Internet and the World Wide Web.</a:t>
            </a:r>
            <a:endParaRPr/>
          </a:p>
          <a:p>
            <a:pPr indent="0" lvl="0" marL="0" rtl="0" algn="l">
              <a:spcBef>
                <a:spcPts val="0"/>
              </a:spcBef>
              <a:spcAft>
                <a:spcPts val="0"/>
              </a:spcAft>
              <a:buClr>
                <a:schemeClr val="dk1"/>
              </a:buClr>
              <a:buSzPts val="1200"/>
              <a:buFont typeface="Arial"/>
              <a:buNone/>
            </a:pPr>
            <a:r>
              <a:rPr b="1" lang="en-US"/>
              <a:t>Development of workflow software:</a:t>
            </a:r>
            <a:endParaRPr b="1"/>
          </a:p>
          <a:p>
            <a:pPr indent="-228600" lvl="0" marL="228600" rtl="0" algn="l">
              <a:spcBef>
                <a:spcPts val="0"/>
              </a:spcBef>
              <a:spcAft>
                <a:spcPts val="0"/>
              </a:spcAft>
              <a:buClr>
                <a:schemeClr val="dk1"/>
              </a:buClr>
              <a:buSzPts val="1200"/>
              <a:buFont typeface="Arial"/>
              <a:buChar char="•"/>
            </a:pPr>
            <a:r>
              <a:rPr lang="en-US"/>
              <a:t>Enabled computer applications to work with one another without human intervention.</a:t>
            </a:r>
            <a:endParaRPr/>
          </a:p>
          <a:p>
            <a:pPr indent="-228600" lvl="0" marL="228600" rtl="0" algn="l">
              <a:spcBef>
                <a:spcPts val="0"/>
              </a:spcBef>
              <a:spcAft>
                <a:spcPts val="0"/>
              </a:spcAft>
              <a:buClr>
                <a:schemeClr val="dk1"/>
              </a:buClr>
              <a:buSzPts val="1200"/>
              <a:buFont typeface="Arial"/>
              <a:buChar char="•"/>
            </a:pPr>
            <a:r>
              <a:rPr lang="en-US"/>
              <a:t>Enabled faster, closer collaboration and coordination among employees, regardless of their location.</a:t>
            </a:r>
            <a:endParaRPr/>
          </a:p>
          <a:p>
            <a:pPr indent="0" lvl="0" marL="0" rtl="0" algn="l">
              <a:spcBef>
                <a:spcPts val="0"/>
              </a:spcBef>
              <a:spcAft>
                <a:spcPts val="0"/>
              </a:spcAft>
              <a:buClr>
                <a:schemeClr val="dk1"/>
              </a:buClr>
              <a:buSzPts val="1200"/>
              <a:buFont typeface="Arial"/>
              <a:buNone/>
            </a:pPr>
            <a:r>
              <a:rPr b="1" lang="en-US"/>
              <a:t>Uploading:</a:t>
            </a:r>
            <a:endParaRPr b="1"/>
          </a:p>
          <a:p>
            <a:pPr indent="-228600" lvl="0" marL="228600" rtl="0" algn="l">
              <a:spcBef>
                <a:spcPts val="0"/>
              </a:spcBef>
              <a:spcAft>
                <a:spcPts val="0"/>
              </a:spcAft>
              <a:buClr>
                <a:schemeClr val="dk1"/>
              </a:buClr>
              <a:buSzPts val="1200"/>
              <a:buFont typeface="Arial"/>
              <a:buChar char="•"/>
            </a:pPr>
            <a:r>
              <a:rPr lang="en-US"/>
              <a:t>Empowered all Internet users to create content and put it on the Web.</a:t>
            </a:r>
            <a:endParaRPr/>
          </a:p>
          <a:p>
            <a:pPr indent="-228600" lvl="0" marL="228600" rtl="0" algn="l">
              <a:spcBef>
                <a:spcPts val="0"/>
              </a:spcBef>
              <a:spcAft>
                <a:spcPts val="0"/>
              </a:spcAft>
              <a:buClr>
                <a:schemeClr val="dk1"/>
              </a:buClr>
              <a:buSzPts val="1200"/>
              <a:buFont typeface="Arial"/>
              <a:buChar char="•"/>
            </a:pPr>
            <a:r>
              <a:rPr lang="en-US"/>
              <a:t>Led the transition from a passive approach to content to an active, participatory, collaborative approach.</a:t>
            </a:r>
            <a:endParaRPr/>
          </a:p>
          <a:p>
            <a:pPr indent="0" lvl="0" marL="0" rtl="0" algn="l">
              <a:spcBef>
                <a:spcPts val="0"/>
              </a:spcBef>
              <a:spcAft>
                <a:spcPts val="0"/>
              </a:spcAft>
              <a:buClr>
                <a:schemeClr val="dk1"/>
              </a:buClr>
              <a:buSzPts val="1200"/>
              <a:buFont typeface="Arial"/>
              <a:buNone/>
            </a:pPr>
            <a:r>
              <a:rPr b="1" lang="en-US"/>
              <a:t>Outsourcing:</a:t>
            </a:r>
            <a:endParaRPr b="1"/>
          </a:p>
          <a:p>
            <a:pPr indent="-228600" lvl="0" marL="228600" rtl="0" algn="l">
              <a:spcBef>
                <a:spcPts val="0"/>
              </a:spcBef>
              <a:spcAft>
                <a:spcPts val="0"/>
              </a:spcAft>
              <a:buClr>
                <a:schemeClr val="dk1"/>
              </a:buClr>
              <a:buSzPts val="1200"/>
              <a:buFont typeface="Arial"/>
              <a:buChar char="•"/>
            </a:pPr>
            <a:r>
              <a:rPr lang="en-US"/>
              <a:t>Contracting with an outside company to perform a specific function that your company was doing itself and then integrating their work back into your operation; for example, moving customer call centers to India.</a:t>
            </a:r>
            <a:endParaRPr/>
          </a:p>
          <a:p>
            <a:pPr indent="0" lvl="0" marL="0" rtl="0" algn="l">
              <a:spcBef>
                <a:spcPts val="0"/>
              </a:spcBef>
              <a:spcAft>
                <a:spcPts val="0"/>
              </a:spcAft>
              <a:buClr>
                <a:schemeClr val="dk1"/>
              </a:buClr>
              <a:buSzPts val="1200"/>
              <a:buFont typeface="Arial"/>
              <a:buNone/>
            </a:pPr>
            <a:r>
              <a:rPr b="1" lang="en-US"/>
              <a:t>Offshoring:</a:t>
            </a:r>
            <a:endParaRPr b="1"/>
          </a:p>
          <a:p>
            <a:pPr indent="-228600" lvl="0" marL="228600" rtl="0" algn="l">
              <a:spcBef>
                <a:spcPts val="0"/>
              </a:spcBef>
              <a:spcAft>
                <a:spcPts val="0"/>
              </a:spcAft>
              <a:buClr>
                <a:schemeClr val="dk1"/>
              </a:buClr>
              <a:buSzPts val="1200"/>
              <a:buFont typeface="Arial"/>
              <a:buChar char="•"/>
            </a:pPr>
            <a:r>
              <a:rPr lang="en-US"/>
              <a:t>Relocating an entire operation, or certain tasks, to another country; for example, moving an entire manufacturing operation to China.</a:t>
            </a:r>
            <a:endParaRPr/>
          </a:p>
          <a:p>
            <a:pPr indent="0" lvl="0" marL="0" rtl="0" algn="l">
              <a:spcBef>
                <a:spcPts val="0"/>
              </a:spcBef>
              <a:spcAft>
                <a:spcPts val="0"/>
              </a:spcAft>
              <a:buClr>
                <a:schemeClr val="dk1"/>
              </a:buClr>
              <a:buSzPts val="1200"/>
              <a:buFont typeface="Arial"/>
              <a:buNone/>
            </a:pPr>
            <a:r>
              <a:rPr b="1" lang="en-US"/>
              <a:t>Supply chaining:</a:t>
            </a:r>
            <a:endParaRPr b="1"/>
          </a:p>
          <a:p>
            <a:pPr indent="-228600" lvl="0" marL="228600" rtl="0" algn="l">
              <a:spcBef>
                <a:spcPts val="0"/>
              </a:spcBef>
              <a:spcAft>
                <a:spcPts val="0"/>
              </a:spcAft>
              <a:buClr>
                <a:schemeClr val="dk1"/>
              </a:buClr>
              <a:buSzPts val="1200"/>
              <a:buFont typeface="Arial"/>
              <a:buChar char="•"/>
            </a:pPr>
            <a:r>
              <a:rPr lang="en-US"/>
              <a:t>Technological revolution led to the creation of networks composed of companies, their suppliers, and their customers, all of which could collaborate and share information for increased efficiency.</a:t>
            </a:r>
            <a:endParaRPr/>
          </a:p>
          <a:p>
            <a:pPr indent="0" lvl="0" marL="0" rtl="0" algn="l">
              <a:spcBef>
                <a:spcPts val="0"/>
              </a:spcBef>
              <a:spcAft>
                <a:spcPts val="0"/>
              </a:spcAft>
              <a:buClr>
                <a:schemeClr val="dk1"/>
              </a:buClr>
              <a:buSzPts val="1200"/>
              <a:buFont typeface="Arial"/>
              <a:buNone/>
            </a:pPr>
            <a:r>
              <a:rPr b="1" lang="en-US"/>
              <a:t>Insourcing:</a:t>
            </a:r>
            <a:endParaRPr b="1"/>
          </a:p>
          <a:p>
            <a:pPr indent="-228600" lvl="0" marL="228600" rtl="0" algn="l">
              <a:spcBef>
                <a:spcPts val="0"/>
              </a:spcBef>
              <a:spcAft>
                <a:spcPts val="0"/>
              </a:spcAft>
              <a:buClr>
                <a:schemeClr val="dk1"/>
              </a:buClr>
              <a:buSzPts val="1200"/>
              <a:buFont typeface="Arial"/>
              <a:buChar char="•"/>
            </a:pPr>
            <a:r>
              <a:rPr lang="en-US"/>
              <a:t>Delegating operations or jobs within a business to another company that specializes in those operations; for example, Dell hires FedEx to “take over” Dell’s logistics process.</a:t>
            </a:r>
            <a:endParaRPr/>
          </a:p>
          <a:p>
            <a:pPr indent="0" lvl="0" marL="0" rtl="0" algn="l">
              <a:spcBef>
                <a:spcPts val="0"/>
              </a:spcBef>
              <a:spcAft>
                <a:spcPts val="0"/>
              </a:spcAft>
              <a:buClr>
                <a:schemeClr val="dk1"/>
              </a:buClr>
              <a:buSzPts val="1200"/>
              <a:buFont typeface="Arial"/>
              <a:buNone/>
            </a:pPr>
            <a:r>
              <a:rPr b="1" lang="en-US"/>
              <a:t>Informing:</a:t>
            </a:r>
            <a:endParaRPr b="1"/>
          </a:p>
          <a:p>
            <a:pPr indent="-228600" lvl="0" marL="228600" rtl="0" algn="l">
              <a:spcBef>
                <a:spcPts val="0"/>
              </a:spcBef>
              <a:spcAft>
                <a:spcPts val="0"/>
              </a:spcAft>
              <a:buClr>
                <a:schemeClr val="dk1"/>
              </a:buClr>
              <a:buSzPts val="1200"/>
              <a:buFont typeface="Arial"/>
              <a:buChar char="•"/>
            </a:pPr>
            <a:r>
              <a:rPr lang="en-US"/>
              <a:t>The ability to search for information, best illustrated by search engines.</a:t>
            </a:r>
            <a:endParaRPr/>
          </a:p>
          <a:p>
            <a:pPr indent="0" lvl="0" marL="0" rtl="0" algn="l">
              <a:spcBef>
                <a:spcPts val="0"/>
              </a:spcBef>
              <a:spcAft>
                <a:spcPts val="0"/>
              </a:spcAft>
              <a:buClr>
                <a:schemeClr val="dk1"/>
              </a:buClr>
              <a:buSzPts val="1200"/>
              <a:buFont typeface="Arial"/>
              <a:buNone/>
            </a:pPr>
            <a:r>
              <a:rPr b="1" lang="en-US"/>
              <a:t>The Steroids (computing, instant messaging and fi le sharing, wireless technologies, Voice over Internet Protocol, videoconferencing, and computer graphics):</a:t>
            </a:r>
            <a:endParaRPr b="1"/>
          </a:p>
          <a:p>
            <a:pPr indent="-228600" lvl="0" marL="228600" rtl="0" algn="l">
              <a:spcBef>
                <a:spcPts val="0"/>
              </a:spcBef>
              <a:spcAft>
                <a:spcPts val="0"/>
              </a:spcAft>
              <a:buClr>
                <a:schemeClr val="dk1"/>
              </a:buClr>
              <a:buSzPts val="1200"/>
              <a:buFont typeface="Arial"/>
              <a:buChar char="•"/>
            </a:pPr>
            <a:r>
              <a:rPr lang="en-US"/>
              <a:t>Technologies that amplify the other flatteners.</a:t>
            </a:r>
            <a:endParaRPr/>
          </a:p>
          <a:p>
            <a:pPr indent="-228600" lvl="0" marL="228600" rtl="0" algn="l">
              <a:spcBef>
                <a:spcPts val="0"/>
              </a:spcBef>
              <a:spcAft>
                <a:spcPts val="0"/>
              </a:spcAft>
              <a:buClr>
                <a:schemeClr val="dk1"/>
              </a:buClr>
              <a:buSzPts val="1200"/>
              <a:buFont typeface="Arial"/>
              <a:buChar char="•"/>
            </a:pPr>
            <a:r>
              <a:rPr lang="en-US"/>
              <a:t>Enable all forms of computing and collaboration to be digital, mobile, and personal.</a:t>
            </a:r>
            <a:endParaRPr/>
          </a:p>
        </p:txBody>
      </p:sp>
      <p:sp>
        <p:nvSpPr>
          <p:cNvPr id="224" name="Google Shape;224;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b="1" lang="en-US"/>
              <a:t>Fall of the Berlin Wall on November 9, 1989: </a:t>
            </a:r>
            <a:endParaRPr b="1"/>
          </a:p>
          <a:p>
            <a:pPr indent="-228600" lvl="0" marL="228600" rtl="0" algn="l">
              <a:spcBef>
                <a:spcPts val="0"/>
              </a:spcBef>
              <a:spcAft>
                <a:spcPts val="0"/>
              </a:spcAft>
              <a:buClr>
                <a:schemeClr val="dk1"/>
              </a:buClr>
              <a:buSzPts val="1200"/>
              <a:buFont typeface="Arial"/>
              <a:buChar char="•"/>
            </a:pPr>
            <a:r>
              <a:rPr lang="en-US"/>
              <a:t>Shifted the world toward free-market economies and away from centrally planned economies.</a:t>
            </a:r>
            <a:endParaRPr/>
          </a:p>
          <a:p>
            <a:pPr indent="-228600" lvl="0" marL="228600" rtl="0" algn="l">
              <a:spcBef>
                <a:spcPts val="0"/>
              </a:spcBef>
              <a:spcAft>
                <a:spcPts val="0"/>
              </a:spcAft>
              <a:buClr>
                <a:schemeClr val="dk1"/>
              </a:buClr>
              <a:buSzPts val="1200"/>
              <a:buFont typeface="Arial"/>
              <a:buChar char="•"/>
            </a:pPr>
            <a:r>
              <a:rPr lang="en-US"/>
              <a:t>Led to the emergence of the European Union and early thinking about the world as a single, global market.</a:t>
            </a:r>
            <a:endParaRPr/>
          </a:p>
          <a:p>
            <a:pPr indent="0" lvl="0" marL="0" rtl="0" algn="l">
              <a:spcBef>
                <a:spcPts val="0"/>
              </a:spcBef>
              <a:spcAft>
                <a:spcPts val="0"/>
              </a:spcAft>
              <a:buClr>
                <a:schemeClr val="dk1"/>
              </a:buClr>
              <a:buSzPts val="1200"/>
              <a:buFont typeface="Arial"/>
              <a:buNone/>
            </a:pPr>
            <a:r>
              <a:rPr b="1" lang="en-US"/>
              <a:t>Netscape goes public on August 9, 1995:</a:t>
            </a:r>
            <a:endParaRPr b="1"/>
          </a:p>
          <a:p>
            <a:pPr indent="-228600" lvl="0" marL="228600" rtl="0" algn="l">
              <a:spcBef>
                <a:spcPts val="0"/>
              </a:spcBef>
              <a:spcAft>
                <a:spcPts val="0"/>
              </a:spcAft>
              <a:buClr>
                <a:schemeClr val="dk1"/>
              </a:buClr>
              <a:buSzPts val="1200"/>
              <a:buFont typeface="Arial"/>
              <a:buChar char="•"/>
            </a:pPr>
            <a:r>
              <a:rPr lang="en-US"/>
              <a:t>Popularized the Internet and the World Wide Web.</a:t>
            </a:r>
            <a:endParaRPr/>
          </a:p>
          <a:p>
            <a:pPr indent="0" lvl="0" marL="0" rtl="0" algn="l">
              <a:spcBef>
                <a:spcPts val="0"/>
              </a:spcBef>
              <a:spcAft>
                <a:spcPts val="0"/>
              </a:spcAft>
              <a:buClr>
                <a:schemeClr val="dk1"/>
              </a:buClr>
              <a:buSzPts val="1200"/>
              <a:buFont typeface="Arial"/>
              <a:buNone/>
            </a:pPr>
            <a:r>
              <a:rPr b="1" lang="en-US"/>
              <a:t>Development of workflow software:</a:t>
            </a:r>
            <a:endParaRPr b="1"/>
          </a:p>
          <a:p>
            <a:pPr indent="-228600" lvl="0" marL="228600" rtl="0" algn="l">
              <a:spcBef>
                <a:spcPts val="0"/>
              </a:spcBef>
              <a:spcAft>
                <a:spcPts val="0"/>
              </a:spcAft>
              <a:buClr>
                <a:schemeClr val="dk1"/>
              </a:buClr>
              <a:buSzPts val="1200"/>
              <a:buFont typeface="Arial"/>
              <a:buChar char="•"/>
            </a:pPr>
            <a:r>
              <a:rPr lang="en-US"/>
              <a:t>Enabled computer applications to work with one another without human intervention.</a:t>
            </a:r>
            <a:endParaRPr/>
          </a:p>
          <a:p>
            <a:pPr indent="-228600" lvl="0" marL="228600" rtl="0" algn="l">
              <a:spcBef>
                <a:spcPts val="0"/>
              </a:spcBef>
              <a:spcAft>
                <a:spcPts val="0"/>
              </a:spcAft>
              <a:buClr>
                <a:schemeClr val="dk1"/>
              </a:buClr>
              <a:buSzPts val="1200"/>
              <a:buFont typeface="Arial"/>
              <a:buChar char="•"/>
            </a:pPr>
            <a:r>
              <a:rPr lang="en-US"/>
              <a:t>Enabled faster, closer collaboration and coordination among employees, regardless of their location.</a:t>
            </a:r>
            <a:endParaRPr/>
          </a:p>
          <a:p>
            <a:pPr indent="0" lvl="0" marL="0" rtl="0" algn="l">
              <a:spcBef>
                <a:spcPts val="0"/>
              </a:spcBef>
              <a:spcAft>
                <a:spcPts val="0"/>
              </a:spcAft>
              <a:buClr>
                <a:schemeClr val="dk1"/>
              </a:buClr>
              <a:buSzPts val="1200"/>
              <a:buFont typeface="Arial"/>
              <a:buNone/>
            </a:pPr>
            <a:r>
              <a:rPr b="1" lang="en-US"/>
              <a:t>Uploading:</a:t>
            </a:r>
            <a:endParaRPr b="1"/>
          </a:p>
          <a:p>
            <a:pPr indent="-228600" lvl="0" marL="228600" rtl="0" algn="l">
              <a:spcBef>
                <a:spcPts val="0"/>
              </a:spcBef>
              <a:spcAft>
                <a:spcPts val="0"/>
              </a:spcAft>
              <a:buClr>
                <a:schemeClr val="dk1"/>
              </a:buClr>
              <a:buSzPts val="1200"/>
              <a:buFont typeface="Arial"/>
              <a:buChar char="•"/>
            </a:pPr>
            <a:r>
              <a:rPr lang="en-US"/>
              <a:t>Empowered all Internet users to create content and put it on the Web.</a:t>
            </a:r>
            <a:endParaRPr/>
          </a:p>
          <a:p>
            <a:pPr indent="-228600" lvl="0" marL="228600" rtl="0" algn="l">
              <a:spcBef>
                <a:spcPts val="0"/>
              </a:spcBef>
              <a:spcAft>
                <a:spcPts val="0"/>
              </a:spcAft>
              <a:buClr>
                <a:schemeClr val="dk1"/>
              </a:buClr>
              <a:buSzPts val="1200"/>
              <a:buFont typeface="Arial"/>
              <a:buChar char="•"/>
            </a:pPr>
            <a:r>
              <a:rPr lang="en-US"/>
              <a:t>Led the transition from a passive approach to content to an active, participatory, collaborative approach.</a:t>
            </a:r>
            <a:endParaRPr/>
          </a:p>
          <a:p>
            <a:pPr indent="0" lvl="0" marL="0" rtl="0" algn="l">
              <a:spcBef>
                <a:spcPts val="0"/>
              </a:spcBef>
              <a:spcAft>
                <a:spcPts val="0"/>
              </a:spcAft>
              <a:buClr>
                <a:schemeClr val="dk1"/>
              </a:buClr>
              <a:buSzPts val="1200"/>
              <a:buFont typeface="Arial"/>
              <a:buNone/>
            </a:pPr>
            <a:r>
              <a:rPr b="1" lang="en-US"/>
              <a:t>Outsourcing:</a:t>
            </a:r>
            <a:endParaRPr b="1"/>
          </a:p>
          <a:p>
            <a:pPr indent="-228600" lvl="0" marL="228600" rtl="0" algn="l">
              <a:spcBef>
                <a:spcPts val="0"/>
              </a:spcBef>
              <a:spcAft>
                <a:spcPts val="0"/>
              </a:spcAft>
              <a:buClr>
                <a:schemeClr val="dk1"/>
              </a:buClr>
              <a:buSzPts val="1200"/>
              <a:buFont typeface="Arial"/>
              <a:buChar char="•"/>
            </a:pPr>
            <a:r>
              <a:rPr lang="en-US"/>
              <a:t>Contracting with an outside company to perform a specifi c function that your company was doing itself and then integrating their work back into your operation; for example, moving customer call centers to India.</a:t>
            </a:r>
            <a:endParaRPr/>
          </a:p>
          <a:p>
            <a:pPr indent="0" lvl="0" marL="0" rtl="0" algn="l">
              <a:spcBef>
                <a:spcPts val="0"/>
              </a:spcBef>
              <a:spcAft>
                <a:spcPts val="0"/>
              </a:spcAft>
              <a:buClr>
                <a:schemeClr val="dk1"/>
              </a:buClr>
              <a:buSzPts val="1200"/>
              <a:buFont typeface="Arial"/>
              <a:buNone/>
            </a:pPr>
            <a:r>
              <a:rPr b="1" lang="en-US"/>
              <a:t>Offshoring:</a:t>
            </a:r>
            <a:endParaRPr b="1"/>
          </a:p>
          <a:p>
            <a:pPr indent="-228600" lvl="0" marL="228600" rtl="0" algn="l">
              <a:spcBef>
                <a:spcPts val="0"/>
              </a:spcBef>
              <a:spcAft>
                <a:spcPts val="0"/>
              </a:spcAft>
              <a:buClr>
                <a:schemeClr val="dk1"/>
              </a:buClr>
              <a:buSzPts val="1200"/>
              <a:buFont typeface="Arial"/>
              <a:buChar char="•"/>
            </a:pPr>
            <a:r>
              <a:rPr lang="en-US"/>
              <a:t>Relocating an entire operation, or certain tasks, to another country; for example, moving an entire manufacturing operation to China.</a:t>
            </a:r>
            <a:endParaRPr/>
          </a:p>
          <a:p>
            <a:pPr indent="0" lvl="0" marL="0" rtl="0" algn="l">
              <a:spcBef>
                <a:spcPts val="0"/>
              </a:spcBef>
              <a:spcAft>
                <a:spcPts val="0"/>
              </a:spcAft>
              <a:buClr>
                <a:schemeClr val="dk1"/>
              </a:buClr>
              <a:buSzPts val="1200"/>
              <a:buFont typeface="Arial"/>
              <a:buNone/>
            </a:pPr>
            <a:r>
              <a:rPr b="1" lang="en-US"/>
              <a:t>Supply chaining:</a:t>
            </a:r>
            <a:endParaRPr b="1"/>
          </a:p>
          <a:p>
            <a:pPr indent="-228600" lvl="0" marL="228600" rtl="0" algn="l">
              <a:spcBef>
                <a:spcPts val="0"/>
              </a:spcBef>
              <a:spcAft>
                <a:spcPts val="0"/>
              </a:spcAft>
              <a:buClr>
                <a:schemeClr val="dk1"/>
              </a:buClr>
              <a:buSzPts val="1200"/>
              <a:buFont typeface="Arial"/>
              <a:buChar char="•"/>
            </a:pPr>
            <a:r>
              <a:rPr lang="en-US"/>
              <a:t>Technological revolution led to the creation of networks composed of companies, their suppliers, and their customers, all of which could collaborate and share information for increased efficiency.</a:t>
            </a:r>
            <a:endParaRPr/>
          </a:p>
          <a:p>
            <a:pPr indent="0" lvl="0" marL="0" rtl="0" algn="l">
              <a:spcBef>
                <a:spcPts val="0"/>
              </a:spcBef>
              <a:spcAft>
                <a:spcPts val="0"/>
              </a:spcAft>
              <a:buClr>
                <a:schemeClr val="dk1"/>
              </a:buClr>
              <a:buSzPts val="1200"/>
              <a:buFont typeface="Arial"/>
              <a:buNone/>
            </a:pPr>
            <a:r>
              <a:rPr b="1" lang="en-US"/>
              <a:t>Insourcing:</a:t>
            </a:r>
            <a:endParaRPr b="1"/>
          </a:p>
          <a:p>
            <a:pPr indent="-228600" lvl="0" marL="228600" rtl="0" algn="l">
              <a:spcBef>
                <a:spcPts val="0"/>
              </a:spcBef>
              <a:spcAft>
                <a:spcPts val="0"/>
              </a:spcAft>
              <a:buClr>
                <a:schemeClr val="dk1"/>
              </a:buClr>
              <a:buSzPts val="1200"/>
              <a:buFont typeface="Arial"/>
              <a:buChar char="•"/>
            </a:pPr>
            <a:r>
              <a:rPr lang="en-US"/>
              <a:t>Delegating operations or jobs within a business to another company that specializes in those operations; for example, Dell hires FedEx to “take over” Dell’s logistics process.</a:t>
            </a:r>
            <a:endParaRPr/>
          </a:p>
          <a:p>
            <a:pPr indent="0" lvl="0" marL="0" rtl="0" algn="l">
              <a:spcBef>
                <a:spcPts val="0"/>
              </a:spcBef>
              <a:spcAft>
                <a:spcPts val="0"/>
              </a:spcAft>
              <a:buClr>
                <a:schemeClr val="dk1"/>
              </a:buClr>
              <a:buSzPts val="1200"/>
              <a:buFont typeface="Arial"/>
              <a:buNone/>
            </a:pPr>
            <a:r>
              <a:rPr b="1" lang="en-US"/>
              <a:t>Informing:</a:t>
            </a:r>
            <a:endParaRPr b="1"/>
          </a:p>
          <a:p>
            <a:pPr indent="-228600" lvl="0" marL="228600" rtl="0" algn="l">
              <a:spcBef>
                <a:spcPts val="0"/>
              </a:spcBef>
              <a:spcAft>
                <a:spcPts val="0"/>
              </a:spcAft>
              <a:buClr>
                <a:schemeClr val="dk1"/>
              </a:buClr>
              <a:buSzPts val="1200"/>
              <a:buFont typeface="Arial"/>
              <a:buChar char="•"/>
            </a:pPr>
            <a:r>
              <a:rPr lang="en-US"/>
              <a:t>The ability to search for information, best illustrated by search engines.</a:t>
            </a:r>
            <a:endParaRPr/>
          </a:p>
          <a:p>
            <a:pPr indent="0" lvl="0" marL="0" rtl="0" algn="l">
              <a:spcBef>
                <a:spcPts val="0"/>
              </a:spcBef>
              <a:spcAft>
                <a:spcPts val="0"/>
              </a:spcAft>
              <a:buClr>
                <a:schemeClr val="dk1"/>
              </a:buClr>
              <a:buSzPts val="1200"/>
              <a:buFont typeface="Arial"/>
              <a:buNone/>
            </a:pPr>
            <a:r>
              <a:rPr b="1" lang="en-US"/>
              <a:t>The Steroids (computing, instant messaging and fi le sharing, wireless technologies, Voice over Internet Protocol, videoconferencing, and computer graphics):</a:t>
            </a:r>
            <a:endParaRPr b="1"/>
          </a:p>
          <a:p>
            <a:pPr indent="-228600" lvl="0" marL="228600" rtl="0" algn="l">
              <a:spcBef>
                <a:spcPts val="0"/>
              </a:spcBef>
              <a:spcAft>
                <a:spcPts val="0"/>
              </a:spcAft>
              <a:buClr>
                <a:schemeClr val="dk1"/>
              </a:buClr>
              <a:buSzPts val="1200"/>
              <a:buFont typeface="Arial"/>
              <a:buChar char="•"/>
            </a:pPr>
            <a:r>
              <a:rPr lang="en-US"/>
              <a:t>Technologies that amplify the other flatteners.</a:t>
            </a:r>
            <a:endParaRPr/>
          </a:p>
          <a:p>
            <a:pPr indent="-228600" lvl="0" marL="228600" rtl="0" algn="l">
              <a:spcBef>
                <a:spcPts val="0"/>
              </a:spcBef>
              <a:spcAft>
                <a:spcPts val="0"/>
              </a:spcAft>
              <a:buClr>
                <a:schemeClr val="dk1"/>
              </a:buClr>
              <a:buSzPts val="1200"/>
              <a:buFont typeface="Arial"/>
              <a:buChar char="•"/>
            </a:pPr>
            <a:r>
              <a:rPr lang="en-US"/>
              <a:t>Enable all forms of computing and collaboration to be digital, mobile, and personal.</a:t>
            </a:r>
            <a:endParaRPr/>
          </a:p>
        </p:txBody>
      </p:sp>
      <p:sp>
        <p:nvSpPr>
          <p:cNvPr id="231" name="Google Shape;23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b="1" lang="en-US"/>
              <a:t>Fall of the Berlin Wall on November 9, 1989: </a:t>
            </a:r>
            <a:endParaRPr b="1"/>
          </a:p>
          <a:p>
            <a:pPr indent="-228600" lvl="0" marL="228600" rtl="0" algn="l">
              <a:spcBef>
                <a:spcPts val="0"/>
              </a:spcBef>
              <a:spcAft>
                <a:spcPts val="0"/>
              </a:spcAft>
              <a:buClr>
                <a:schemeClr val="dk1"/>
              </a:buClr>
              <a:buSzPts val="1200"/>
              <a:buFont typeface="Arial"/>
              <a:buChar char="•"/>
            </a:pPr>
            <a:r>
              <a:rPr lang="en-US"/>
              <a:t>Shifted the world toward free-market economies and away from centrally planned economies.</a:t>
            </a:r>
            <a:endParaRPr/>
          </a:p>
          <a:p>
            <a:pPr indent="-228600" lvl="0" marL="228600" rtl="0" algn="l">
              <a:spcBef>
                <a:spcPts val="0"/>
              </a:spcBef>
              <a:spcAft>
                <a:spcPts val="0"/>
              </a:spcAft>
              <a:buClr>
                <a:schemeClr val="dk1"/>
              </a:buClr>
              <a:buSzPts val="1200"/>
              <a:buFont typeface="Arial"/>
              <a:buChar char="•"/>
            </a:pPr>
            <a:r>
              <a:rPr lang="en-US"/>
              <a:t>Led to the emergence of the European Union and early thinking about the world as a single, global market.</a:t>
            </a:r>
            <a:endParaRPr/>
          </a:p>
          <a:p>
            <a:pPr indent="0" lvl="0" marL="0" rtl="0" algn="l">
              <a:spcBef>
                <a:spcPts val="0"/>
              </a:spcBef>
              <a:spcAft>
                <a:spcPts val="0"/>
              </a:spcAft>
              <a:buClr>
                <a:schemeClr val="dk1"/>
              </a:buClr>
              <a:buSzPts val="1200"/>
              <a:buFont typeface="Arial"/>
              <a:buNone/>
            </a:pPr>
            <a:r>
              <a:rPr b="1" lang="en-US"/>
              <a:t>Netscape goes public on August 9, 1995:</a:t>
            </a:r>
            <a:endParaRPr b="1"/>
          </a:p>
          <a:p>
            <a:pPr indent="-228600" lvl="0" marL="228600" rtl="0" algn="l">
              <a:spcBef>
                <a:spcPts val="0"/>
              </a:spcBef>
              <a:spcAft>
                <a:spcPts val="0"/>
              </a:spcAft>
              <a:buClr>
                <a:schemeClr val="dk1"/>
              </a:buClr>
              <a:buSzPts val="1200"/>
              <a:buFont typeface="Arial"/>
              <a:buChar char="•"/>
            </a:pPr>
            <a:r>
              <a:rPr lang="en-US"/>
              <a:t>Popularized the Internet and the World Wide Web.</a:t>
            </a:r>
            <a:endParaRPr/>
          </a:p>
          <a:p>
            <a:pPr indent="0" lvl="0" marL="0" rtl="0" algn="l">
              <a:spcBef>
                <a:spcPts val="0"/>
              </a:spcBef>
              <a:spcAft>
                <a:spcPts val="0"/>
              </a:spcAft>
              <a:buClr>
                <a:schemeClr val="dk1"/>
              </a:buClr>
              <a:buSzPts val="1200"/>
              <a:buFont typeface="Arial"/>
              <a:buNone/>
            </a:pPr>
            <a:r>
              <a:rPr b="1" lang="en-US"/>
              <a:t>Development of workflow software:</a:t>
            </a:r>
            <a:endParaRPr b="1"/>
          </a:p>
          <a:p>
            <a:pPr indent="-228600" lvl="0" marL="228600" rtl="0" algn="l">
              <a:spcBef>
                <a:spcPts val="0"/>
              </a:spcBef>
              <a:spcAft>
                <a:spcPts val="0"/>
              </a:spcAft>
              <a:buClr>
                <a:schemeClr val="dk1"/>
              </a:buClr>
              <a:buSzPts val="1200"/>
              <a:buFont typeface="Arial"/>
              <a:buChar char="•"/>
            </a:pPr>
            <a:r>
              <a:rPr lang="en-US"/>
              <a:t>Enabled computer applications to work with one another without human intervention.</a:t>
            </a:r>
            <a:endParaRPr/>
          </a:p>
          <a:p>
            <a:pPr indent="-228600" lvl="0" marL="228600" rtl="0" algn="l">
              <a:spcBef>
                <a:spcPts val="0"/>
              </a:spcBef>
              <a:spcAft>
                <a:spcPts val="0"/>
              </a:spcAft>
              <a:buClr>
                <a:schemeClr val="dk1"/>
              </a:buClr>
              <a:buSzPts val="1200"/>
              <a:buFont typeface="Arial"/>
              <a:buChar char="•"/>
            </a:pPr>
            <a:r>
              <a:rPr lang="en-US"/>
              <a:t>Enabled faster, closer collaboration and coordination among employees, regardless of their location.</a:t>
            </a:r>
            <a:endParaRPr/>
          </a:p>
          <a:p>
            <a:pPr indent="0" lvl="0" marL="0" rtl="0" algn="l">
              <a:spcBef>
                <a:spcPts val="0"/>
              </a:spcBef>
              <a:spcAft>
                <a:spcPts val="0"/>
              </a:spcAft>
              <a:buClr>
                <a:schemeClr val="dk1"/>
              </a:buClr>
              <a:buSzPts val="1200"/>
              <a:buFont typeface="Arial"/>
              <a:buNone/>
            </a:pPr>
            <a:r>
              <a:rPr b="1" lang="en-US"/>
              <a:t>Uploading:</a:t>
            </a:r>
            <a:endParaRPr b="1"/>
          </a:p>
          <a:p>
            <a:pPr indent="-228600" lvl="0" marL="228600" rtl="0" algn="l">
              <a:spcBef>
                <a:spcPts val="0"/>
              </a:spcBef>
              <a:spcAft>
                <a:spcPts val="0"/>
              </a:spcAft>
              <a:buClr>
                <a:schemeClr val="dk1"/>
              </a:buClr>
              <a:buSzPts val="1200"/>
              <a:buFont typeface="Arial"/>
              <a:buChar char="•"/>
            </a:pPr>
            <a:r>
              <a:rPr lang="en-US"/>
              <a:t>Empowered all Internet users to create content and put it on the Web.</a:t>
            </a:r>
            <a:endParaRPr/>
          </a:p>
          <a:p>
            <a:pPr indent="-228600" lvl="0" marL="228600" rtl="0" algn="l">
              <a:spcBef>
                <a:spcPts val="0"/>
              </a:spcBef>
              <a:spcAft>
                <a:spcPts val="0"/>
              </a:spcAft>
              <a:buClr>
                <a:schemeClr val="dk1"/>
              </a:buClr>
              <a:buSzPts val="1200"/>
              <a:buFont typeface="Arial"/>
              <a:buChar char="•"/>
            </a:pPr>
            <a:r>
              <a:rPr lang="en-US"/>
              <a:t>Led the transition from a passive approach to content to an active, participatory, collaborative approach.</a:t>
            </a:r>
            <a:endParaRPr/>
          </a:p>
          <a:p>
            <a:pPr indent="0" lvl="0" marL="0" rtl="0" algn="l">
              <a:spcBef>
                <a:spcPts val="0"/>
              </a:spcBef>
              <a:spcAft>
                <a:spcPts val="0"/>
              </a:spcAft>
              <a:buClr>
                <a:schemeClr val="dk1"/>
              </a:buClr>
              <a:buSzPts val="1200"/>
              <a:buFont typeface="Arial"/>
              <a:buNone/>
            </a:pPr>
            <a:r>
              <a:rPr b="1" lang="en-US"/>
              <a:t>Outsourcing:</a:t>
            </a:r>
            <a:endParaRPr b="1"/>
          </a:p>
          <a:p>
            <a:pPr indent="-228600" lvl="0" marL="228600" rtl="0" algn="l">
              <a:spcBef>
                <a:spcPts val="0"/>
              </a:spcBef>
              <a:spcAft>
                <a:spcPts val="0"/>
              </a:spcAft>
              <a:buClr>
                <a:schemeClr val="dk1"/>
              </a:buClr>
              <a:buSzPts val="1200"/>
              <a:buFont typeface="Arial"/>
              <a:buChar char="•"/>
            </a:pPr>
            <a:r>
              <a:rPr lang="en-US"/>
              <a:t>Contracting with an outside company to perform a specifi c function that your company was doing itself and then integrating their work back into your operation; for example, moving customer call centers to India.</a:t>
            </a:r>
            <a:endParaRPr/>
          </a:p>
          <a:p>
            <a:pPr indent="0" lvl="0" marL="0" rtl="0" algn="l">
              <a:spcBef>
                <a:spcPts val="0"/>
              </a:spcBef>
              <a:spcAft>
                <a:spcPts val="0"/>
              </a:spcAft>
              <a:buClr>
                <a:schemeClr val="dk1"/>
              </a:buClr>
              <a:buSzPts val="1200"/>
              <a:buFont typeface="Arial"/>
              <a:buNone/>
            </a:pPr>
            <a:r>
              <a:rPr b="1" lang="en-US"/>
              <a:t>Offshoring:</a:t>
            </a:r>
            <a:endParaRPr b="1"/>
          </a:p>
          <a:p>
            <a:pPr indent="-228600" lvl="0" marL="228600" rtl="0" algn="l">
              <a:spcBef>
                <a:spcPts val="0"/>
              </a:spcBef>
              <a:spcAft>
                <a:spcPts val="0"/>
              </a:spcAft>
              <a:buClr>
                <a:schemeClr val="dk1"/>
              </a:buClr>
              <a:buSzPts val="1200"/>
              <a:buFont typeface="Arial"/>
              <a:buChar char="•"/>
            </a:pPr>
            <a:r>
              <a:rPr lang="en-US"/>
              <a:t>Relocating an entire operation, or certain tasks, to another country; for example, moving an entire manufacturing operation to China.</a:t>
            </a:r>
            <a:endParaRPr/>
          </a:p>
          <a:p>
            <a:pPr indent="0" lvl="0" marL="0" rtl="0" algn="l">
              <a:spcBef>
                <a:spcPts val="0"/>
              </a:spcBef>
              <a:spcAft>
                <a:spcPts val="0"/>
              </a:spcAft>
              <a:buClr>
                <a:schemeClr val="dk1"/>
              </a:buClr>
              <a:buSzPts val="1200"/>
              <a:buFont typeface="Arial"/>
              <a:buNone/>
            </a:pPr>
            <a:r>
              <a:rPr b="1" lang="en-US"/>
              <a:t>Supply chaining:</a:t>
            </a:r>
            <a:endParaRPr b="1"/>
          </a:p>
          <a:p>
            <a:pPr indent="-228600" lvl="0" marL="228600" rtl="0" algn="l">
              <a:spcBef>
                <a:spcPts val="0"/>
              </a:spcBef>
              <a:spcAft>
                <a:spcPts val="0"/>
              </a:spcAft>
              <a:buClr>
                <a:schemeClr val="dk1"/>
              </a:buClr>
              <a:buSzPts val="1200"/>
              <a:buFont typeface="Arial"/>
              <a:buChar char="•"/>
            </a:pPr>
            <a:r>
              <a:rPr lang="en-US"/>
              <a:t>Technological revolution led to the creation of networks composed of companies, their suppliers, and their customers, all of which could collaborate and share information for increased efficiency.</a:t>
            </a:r>
            <a:endParaRPr/>
          </a:p>
          <a:p>
            <a:pPr indent="0" lvl="0" marL="0" rtl="0" algn="l">
              <a:spcBef>
                <a:spcPts val="0"/>
              </a:spcBef>
              <a:spcAft>
                <a:spcPts val="0"/>
              </a:spcAft>
              <a:buClr>
                <a:schemeClr val="dk1"/>
              </a:buClr>
              <a:buSzPts val="1200"/>
              <a:buFont typeface="Arial"/>
              <a:buNone/>
            </a:pPr>
            <a:r>
              <a:rPr b="1" lang="en-US"/>
              <a:t>Insourcing:</a:t>
            </a:r>
            <a:endParaRPr b="1"/>
          </a:p>
          <a:p>
            <a:pPr indent="-228600" lvl="0" marL="228600" rtl="0" algn="l">
              <a:spcBef>
                <a:spcPts val="0"/>
              </a:spcBef>
              <a:spcAft>
                <a:spcPts val="0"/>
              </a:spcAft>
              <a:buClr>
                <a:schemeClr val="dk1"/>
              </a:buClr>
              <a:buSzPts val="1200"/>
              <a:buFont typeface="Arial"/>
              <a:buChar char="•"/>
            </a:pPr>
            <a:r>
              <a:rPr lang="en-US"/>
              <a:t>Delegating operations or jobs within a business to another company that specializes in those operations; for example, Dell hires FedEx to “take over” Dell’s logistics process.</a:t>
            </a:r>
            <a:endParaRPr/>
          </a:p>
          <a:p>
            <a:pPr indent="0" lvl="0" marL="0" rtl="0" algn="l">
              <a:spcBef>
                <a:spcPts val="0"/>
              </a:spcBef>
              <a:spcAft>
                <a:spcPts val="0"/>
              </a:spcAft>
              <a:buClr>
                <a:schemeClr val="dk1"/>
              </a:buClr>
              <a:buSzPts val="1200"/>
              <a:buFont typeface="Arial"/>
              <a:buNone/>
            </a:pPr>
            <a:r>
              <a:rPr b="1" lang="en-US"/>
              <a:t>Informing:</a:t>
            </a:r>
            <a:endParaRPr b="1"/>
          </a:p>
          <a:p>
            <a:pPr indent="-228600" lvl="0" marL="228600" rtl="0" algn="l">
              <a:spcBef>
                <a:spcPts val="0"/>
              </a:spcBef>
              <a:spcAft>
                <a:spcPts val="0"/>
              </a:spcAft>
              <a:buClr>
                <a:schemeClr val="dk1"/>
              </a:buClr>
              <a:buSzPts val="1200"/>
              <a:buFont typeface="Arial"/>
              <a:buChar char="•"/>
            </a:pPr>
            <a:r>
              <a:rPr lang="en-US"/>
              <a:t>The ability to search for information, best illustrated by search engines.</a:t>
            </a:r>
            <a:endParaRPr/>
          </a:p>
          <a:p>
            <a:pPr indent="0" lvl="0" marL="0" rtl="0" algn="l">
              <a:spcBef>
                <a:spcPts val="0"/>
              </a:spcBef>
              <a:spcAft>
                <a:spcPts val="0"/>
              </a:spcAft>
              <a:buClr>
                <a:schemeClr val="dk1"/>
              </a:buClr>
              <a:buSzPts val="1200"/>
              <a:buFont typeface="Arial"/>
              <a:buNone/>
            </a:pPr>
            <a:r>
              <a:rPr b="1" lang="en-US"/>
              <a:t>The Steroids (computing, instant messaging and fi le sharing, wireless technologies, Voice over Internet Protocol, videoconferencing, and computer graphics):</a:t>
            </a:r>
            <a:endParaRPr b="1"/>
          </a:p>
          <a:p>
            <a:pPr indent="-228600" lvl="0" marL="228600" rtl="0" algn="l">
              <a:spcBef>
                <a:spcPts val="0"/>
              </a:spcBef>
              <a:spcAft>
                <a:spcPts val="0"/>
              </a:spcAft>
              <a:buClr>
                <a:schemeClr val="dk1"/>
              </a:buClr>
              <a:buSzPts val="1200"/>
              <a:buFont typeface="Arial"/>
              <a:buChar char="•"/>
            </a:pPr>
            <a:r>
              <a:rPr lang="en-US"/>
              <a:t>Technologies that amplify the other flatteners.</a:t>
            </a:r>
            <a:endParaRPr/>
          </a:p>
          <a:p>
            <a:pPr indent="-228600" lvl="0" marL="228600" rtl="0" algn="l">
              <a:spcBef>
                <a:spcPts val="0"/>
              </a:spcBef>
              <a:spcAft>
                <a:spcPts val="0"/>
              </a:spcAft>
              <a:buClr>
                <a:schemeClr val="dk1"/>
              </a:buClr>
              <a:buSzPts val="1200"/>
              <a:buFont typeface="Arial"/>
              <a:buChar char="•"/>
            </a:pPr>
            <a:r>
              <a:rPr lang="en-US"/>
              <a:t>Enable all forms of computing and collaboration to be digital, mobile, and personal.</a:t>
            </a:r>
            <a:endParaRPr/>
          </a:p>
        </p:txBody>
      </p:sp>
      <p:sp>
        <p:nvSpPr>
          <p:cNvPr id="238" name="Google Shape;23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b="1" lang="en-US"/>
              <a:t>Fall of the Berlin Wall on November 9, 1989: </a:t>
            </a:r>
            <a:endParaRPr b="1"/>
          </a:p>
          <a:p>
            <a:pPr indent="-228600" lvl="0" marL="228600" rtl="0" algn="l">
              <a:spcBef>
                <a:spcPts val="0"/>
              </a:spcBef>
              <a:spcAft>
                <a:spcPts val="0"/>
              </a:spcAft>
              <a:buClr>
                <a:schemeClr val="dk1"/>
              </a:buClr>
              <a:buSzPts val="1200"/>
              <a:buFont typeface="Arial"/>
              <a:buChar char="•"/>
            </a:pPr>
            <a:r>
              <a:rPr lang="en-US"/>
              <a:t>Shifted the world toward free-market economies and away from centrally planned economies.</a:t>
            </a:r>
            <a:endParaRPr/>
          </a:p>
          <a:p>
            <a:pPr indent="-228600" lvl="0" marL="228600" rtl="0" algn="l">
              <a:spcBef>
                <a:spcPts val="0"/>
              </a:spcBef>
              <a:spcAft>
                <a:spcPts val="0"/>
              </a:spcAft>
              <a:buClr>
                <a:schemeClr val="dk1"/>
              </a:buClr>
              <a:buSzPts val="1200"/>
              <a:buFont typeface="Arial"/>
              <a:buChar char="•"/>
            </a:pPr>
            <a:r>
              <a:rPr lang="en-US"/>
              <a:t>Led to the emergence of the European Union and early thinking about the world as a single, global market.</a:t>
            </a:r>
            <a:endParaRPr/>
          </a:p>
          <a:p>
            <a:pPr indent="0" lvl="0" marL="0" rtl="0" algn="l">
              <a:spcBef>
                <a:spcPts val="0"/>
              </a:spcBef>
              <a:spcAft>
                <a:spcPts val="0"/>
              </a:spcAft>
              <a:buClr>
                <a:schemeClr val="dk1"/>
              </a:buClr>
              <a:buSzPts val="1200"/>
              <a:buFont typeface="Arial"/>
              <a:buNone/>
            </a:pPr>
            <a:r>
              <a:rPr b="1" lang="en-US"/>
              <a:t>Netscape goes public on August 9, 1995:</a:t>
            </a:r>
            <a:endParaRPr b="1"/>
          </a:p>
          <a:p>
            <a:pPr indent="-228600" lvl="0" marL="228600" rtl="0" algn="l">
              <a:spcBef>
                <a:spcPts val="0"/>
              </a:spcBef>
              <a:spcAft>
                <a:spcPts val="0"/>
              </a:spcAft>
              <a:buClr>
                <a:schemeClr val="dk1"/>
              </a:buClr>
              <a:buSzPts val="1200"/>
              <a:buFont typeface="Arial"/>
              <a:buChar char="•"/>
            </a:pPr>
            <a:r>
              <a:rPr lang="en-US"/>
              <a:t>Popularized the Internet and the World Wide Web.</a:t>
            </a:r>
            <a:endParaRPr/>
          </a:p>
          <a:p>
            <a:pPr indent="0" lvl="0" marL="0" rtl="0" algn="l">
              <a:spcBef>
                <a:spcPts val="0"/>
              </a:spcBef>
              <a:spcAft>
                <a:spcPts val="0"/>
              </a:spcAft>
              <a:buClr>
                <a:schemeClr val="dk1"/>
              </a:buClr>
              <a:buSzPts val="1200"/>
              <a:buFont typeface="Arial"/>
              <a:buNone/>
            </a:pPr>
            <a:r>
              <a:rPr b="1" lang="en-US"/>
              <a:t>Development of workflow software:</a:t>
            </a:r>
            <a:endParaRPr b="1"/>
          </a:p>
          <a:p>
            <a:pPr indent="-228600" lvl="0" marL="228600" rtl="0" algn="l">
              <a:spcBef>
                <a:spcPts val="0"/>
              </a:spcBef>
              <a:spcAft>
                <a:spcPts val="0"/>
              </a:spcAft>
              <a:buClr>
                <a:schemeClr val="dk1"/>
              </a:buClr>
              <a:buSzPts val="1200"/>
              <a:buFont typeface="Arial"/>
              <a:buChar char="•"/>
            </a:pPr>
            <a:r>
              <a:rPr lang="en-US"/>
              <a:t>Enabled computer applications to work with one another without human intervention.</a:t>
            </a:r>
            <a:endParaRPr/>
          </a:p>
          <a:p>
            <a:pPr indent="-228600" lvl="0" marL="228600" rtl="0" algn="l">
              <a:spcBef>
                <a:spcPts val="0"/>
              </a:spcBef>
              <a:spcAft>
                <a:spcPts val="0"/>
              </a:spcAft>
              <a:buClr>
                <a:schemeClr val="dk1"/>
              </a:buClr>
              <a:buSzPts val="1200"/>
              <a:buFont typeface="Arial"/>
              <a:buChar char="•"/>
            </a:pPr>
            <a:r>
              <a:rPr lang="en-US"/>
              <a:t>Enabled faster, closer collaboration and coordination among employees, regardless of their location.</a:t>
            </a:r>
            <a:endParaRPr/>
          </a:p>
          <a:p>
            <a:pPr indent="0" lvl="0" marL="0" rtl="0" algn="l">
              <a:spcBef>
                <a:spcPts val="0"/>
              </a:spcBef>
              <a:spcAft>
                <a:spcPts val="0"/>
              </a:spcAft>
              <a:buClr>
                <a:schemeClr val="dk1"/>
              </a:buClr>
              <a:buSzPts val="1200"/>
              <a:buFont typeface="Arial"/>
              <a:buNone/>
            </a:pPr>
            <a:r>
              <a:rPr b="1" lang="en-US"/>
              <a:t>Uploading:</a:t>
            </a:r>
            <a:endParaRPr b="1"/>
          </a:p>
          <a:p>
            <a:pPr indent="-228600" lvl="0" marL="228600" rtl="0" algn="l">
              <a:spcBef>
                <a:spcPts val="0"/>
              </a:spcBef>
              <a:spcAft>
                <a:spcPts val="0"/>
              </a:spcAft>
              <a:buClr>
                <a:schemeClr val="dk1"/>
              </a:buClr>
              <a:buSzPts val="1200"/>
              <a:buFont typeface="Arial"/>
              <a:buChar char="•"/>
            </a:pPr>
            <a:r>
              <a:rPr lang="en-US"/>
              <a:t>Empowered all Internet users to create content and put it on the Web.</a:t>
            </a:r>
            <a:endParaRPr/>
          </a:p>
          <a:p>
            <a:pPr indent="-228600" lvl="0" marL="228600" rtl="0" algn="l">
              <a:spcBef>
                <a:spcPts val="0"/>
              </a:spcBef>
              <a:spcAft>
                <a:spcPts val="0"/>
              </a:spcAft>
              <a:buClr>
                <a:schemeClr val="dk1"/>
              </a:buClr>
              <a:buSzPts val="1200"/>
              <a:buFont typeface="Arial"/>
              <a:buChar char="•"/>
            </a:pPr>
            <a:r>
              <a:rPr lang="en-US"/>
              <a:t>Led the transition from a passive approach to content to an active, participatory, collaborative approach.</a:t>
            </a:r>
            <a:endParaRPr/>
          </a:p>
          <a:p>
            <a:pPr indent="0" lvl="0" marL="0" rtl="0" algn="l">
              <a:spcBef>
                <a:spcPts val="0"/>
              </a:spcBef>
              <a:spcAft>
                <a:spcPts val="0"/>
              </a:spcAft>
              <a:buClr>
                <a:schemeClr val="dk1"/>
              </a:buClr>
              <a:buSzPts val="1200"/>
              <a:buFont typeface="Arial"/>
              <a:buNone/>
            </a:pPr>
            <a:r>
              <a:rPr b="1" lang="en-US"/>
              <a:t>Outsourcing:</a:t>
            </a:r>
            <a:endParaRPr b="1"/>
          </a:p>
          <a:p>
            <a:pPr indent="-228600" lvl="0" marL="228600" rtl="0" algn="l">
              <a:spcBef>
                <a:spcPts val="0"/>
              </a:spcBef>
              <a:spcAft>
                <a:spcPts val="0"/>
              </a:spcAft>
              <a:buClr>
                <a:schemeClr val="dk1"/>
              </a:buClr>
              <a:buSzPts val="1200"/>
              <a:buFont typeface="Arial"/>
              <a:buChar char="•"/>
            </a:pPr>
            <a:r>
              <a:rPr lang="en-US"/>
              <a:t>Contracting with an outside company to perform a specifi c function that your company was doing itself and then integrating their work back into your operation; for example, moving customer call centers to India.</a:t>
            </a:r>
            <a:endParaRPr/>
          </a:p>
          <a:p>
            <a:pPr indent="0" lvl="0" marL="0" rtl="0" algn="l">
              <a:spcBef>
                <a:spcPts val="0"/>
              </a:spcBef>
              <a:spcAft>
                <a:spcPts val="0"/>
              </a:spcAft>
              <a:buClr>
                <a:schemeClr val="dk1"/>
              </a:buClr>
              <a:buSzPts val="1200"/>
              <a:buFont typeface="Arial"/>
              <a:buNone/>
            </a:pPr>
            <a:r>
              <a:rPr b="1" lang="en-US"/>
              <a:t>Offshoring:</a:t>
            </a:r>
            <a:endParaRPr b="1"/>
          </a:p>
          <a:p>
            <a:pPr indent="-228600" lvl="0" marL="228600" rtl="0" algn="l">
              <a:spcBef>
                <a:spcPts val="0"/>
              </a:spcBef>
              <a:spcAft>
                <a:spcPts val="0"/>
              </a:spcAft>
              <a:buClr>
                <a:schemeClr val="dk1"/>
              </a:buClr>
              <a:buSzPts val="1200"/>
              <a:buFont typeface="Arial"/>
              <a:buChar char="•"/>
            </a:pPr>
            <a:r>
              <a:rPr lang="en-US"/>
              <a:t>Relocating an entire operation, or certain tasks, to another country; for example, moving an entire manufacturing operation to China.</a:t>
            </a:r>
            <a:endParaRPr/>
          </a:p>
          <a:p>
            <a:pPr indent="0" lvl="0" marL="0" rtl="0" algn="l">
              <a:spcBef>
                <a:spcPts val="0"/>
              </a:spcBef>
              <a:spcAft>
                <a:spcPts val="0"/>
              </a:spcAft>
              <a:buClr>
                <a:schemeClr val="dk1"/>
              </a:buClr>
              <a:buSzPts val="1200"/>
              <a:buFont typeface="Arial"/>
              <a:buNone/>
            </a:pPr>
            <a:r>
              <a:rPr b="1" lang="en-US"/>
              <a:t>Supply chaining:</a:t>
            </a:r>
            <a:endParaRPr b="1"/>
          </a:p>
          <a:p>
            <a:pPr indent="-228600" lvl="0" marL="228600" rtl="0" algn="l">
              <a:spcBef>
                <a:spcPts val="0"/>
              </a:spcBef>
              <a:spcAft>
                <a:spcPts val="0"/>
              </a:spcAft>
              <a:buClr>
                <a:schemeClr val="dk1"/>
              </a:buClr>
              <a:buSzPts val="1200"/>
              <a:buFont typeface="Arial"/>
              <a:buChar char="•"/>
            </a:pPr>
            <a:r>
              <a:rPr lang="en-US"/>
              <a:t>Technological revolution led to the creation of networks composed of companies, their suppliers, and their customers, all of which could collaborate and share information for increased efficiency.</a:t>
            </a:r>
            <a:endParaRPr/>
          </a:p>
          <a:p>
            <a:pPr indent="0" lvl="0" marL="0" rtl="0" algn="l">
              <a:spcBef>
                <a:spcPts val="0"/>
              </a:spcBef>
              <a:spcAft>
                <a:spcPts val="0"/>
              </a:spcAft>
              <a:buClr>
                <a:schemeClr val="dk1"/>
              </a:buClr>
              <a:buSzPts val="1200"/>
              <a:buFont typeface="Arial"/>
              <a:buNone/>
            </a:pPr>
            <a:r>
              <a:rPr b="1" lang="en-US"/>
              <a:t>Insourcing:</a:t>
            </a:r>
            <a:endParaRPr b="1"/>
          </a:p>
          <a:p>
            <a:pPr indent="-228600" lvl="0" marL="228600" rtl="0" algn="l">
              <a:spcBef>
                <a:spcPts val="0"/>
              </a:spcBef>
              <a:spcAft>
                <a:spcPts val="0"/>
              </a:spcAft>
              <a:buClr>
                <a:schemeClr val="dk1"/>
              </a:buClr>
              <a:buSzPts val="1200"/>
              <a:buFont typeface="Arial"/>
              <a:buChar char="•"/>
            </a:pPr>
            <a:r>
              <a:rPr lang="en-US"/>
              <a:t>Delegating operations or jobs within a business to another company that specializes in those operations; for example, Dell hires FedEx to “take over” Dell’s logistics process.</a:t>
            </a:r>
            <a:endParaRPr/>
          </a:p>
          <a:p>
            <a:pPr indent="0" lvl="0" marL="0" rtl="0" algn="l">
              <a:spcBef>
                <a:spcPts val="0"/>
              </a:spcBef>
              <a:spcAft>
                <a:spcPts val="0"/>
              </a:spcAft>
              <a:buClr>
                <a:schemeClr val="dk1"/>
              </a:buClr>
              <a:buSzPts val="1200"/>
              <a:buFont typeface="Arial"/>
              <a:buNone/>
            </a:pPr>
            <a:r>
              <a:rPr b="1" lang="en-US"/>
              <a:t>Informing:</a:t>
            </a:r>
            <a:endParaRPr b="1"/>
          </a:p>
          <a:p>
            <a:pPr indent="-228600" lvl="0" marL="228600" rtl="0" algn="l">
              <a:spcBef>
                <a:spcPts val="0"/>
              </a:spcBef>
              <a:spcAft>
                <a:spcPts val="0"/>
              </a:spcAft>
              <a:buClr>
                <a:schemeClr val="dk1"/>
              </a:buClr>
              <a:buSzPts val="1200"/>
              <a:buFont typeface="Arial"/>
              <a:buChar char="•"/>
            </a:pPr>
            <a:r>
              <a:rPr lang="en-US"/>
              <a:t>The ability to search for information, best illustrated by search engines.</a:t>
            </a:r>
            <a:endParaRPr/>
          </a:p>
          <a:p>
            <a:pPr indent="0" lvl="0" marL="0" rtl="0" algn="l">
              <a:spcBef>
                <a:spcPts val="0"/>
              </a:spcBef>
              <a:spcAft>
                <a:spcPts val="0"/>
              </a:spcAft>
              <a:buClr>
                <a:schemeClr val="dk1"/>
              </a:buClr>
              <a:buSzPts val="1200"/>
              <a:buFont typeface="Arial"/>
              <a:buNone/>
            </a:pPr>
            <a:r>
              <a:rPr b="1" lang="en-US"/>
              <a:t>The Steroids (computing, instant messaging and fi le sharing, wireless technologies, Voice over Internet Protocol, videoconferencing, and computer graphics):</a:t>
            </a:r>
            <a:endParaRPr b="1"/>
          </a:p>
          <a:p>
            <a:pPr indent="-228600" lvl="0" marL="228600" rtl="0" algn="l">
              <a:spcBef>
                <a:spcPts val="0"/>
              </a:spcBef>
              <a:spcAft>
                <a:spcPts val="0"/>
              </a:spcAft>
              <a:buClr>
                <a:schemeClr val="dk1"/>
              </a:buClr>
              <a:buSzPts val="1200"/>
              <a:buFont typeface="Arial"/>
              <a:buChar char="•"/>
            </a:pPr>
            <a:r>
              <a:rPr lang="en-US"/>
              <a:t>Technologies that amplify the other flatteners.</a:t>
            </a:r>
            <a:endParaRPr/>
          </a:p>
          <a:p>
            <a:pPr indent="-228600" lvl="0" marL="228600" rtl="0" algn="l">
              <a:spcBef>
                <a:spcPts val="0"/>
              </a:spcBef>
              <a:spcAft>
                <a:spcPts val="0"/>
              </a:spcAft>
              <a:buClr>
                <a:schemeClr val="dk1"/>
              </a:buClr>
              <a:buSzPts val="1200"/>
              <a:buFont typeface="Arial"/>
              <a:buChar char="•"/>
            </a:pPr>
            <a:r>
              <a:rPr lang="en-US"/>
              <a:t>Enable all forms of computing and collaboration to be digital, mobile, and personal.</a:t>
            </a:r>
            <a:endParaRPr/>
          </a:p>
        </p:txBody>
      </p:sp>
      <p:sp>
        <p:nvSpPr>
          <p:cNvPr id="245" name="Google Shape;24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Technological Innovation and Obsolescence: </a:t>
            </a:r>
            <a:r>
              <a:rPr lang="en-US"/>
              <a:t>Few and improved technologies rapidly create or support substitutes for products, alternative service options, and superb quality. As a result, today’s state-of-the-art products may be obsolete tomorrow.</a:t>
            </a:r>
            <a:endParaRPr/>
          </a:p>
          <a:p>
            <a:pPr indent="0" lvl="0" marL="0" rtl="0" algn="l">
              <a:spcBef>
                <a:spcPts val="0"/>
              </a:spcBef>
              <a:spcAft>
                <a:spcPts val="0"/>
              </a:spcAft>
              <a:buNone/>
            </a:pPr>
            <a:r>
              <a:rPr b="1" lang="en-US"/>
              <a:t>Information Overload: </a:t>
            </a:r>
            <a:r>
              <a:rPr lang="en-US"/>
              <a:t>Internet and other telecommunications networks are bringing a flood of information to managers. To make decisions effectively and efficiently, managers must be able to access, navigate, and utilize these vast stores of data, information, and knowledge.</a:t>
            </a:r>
            <a:endParaRPr/>
          </a:p>
        </p:txBody>
      </p:sp>
      <p:sp>
        <p:nvSpPr>
          <p:cNvPr id="258" name="Google Shape;258;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Social Responsibility: </a:t>
            </a:r>
            <a:r>
              <a:rPr lang="en-US"/>
              <a:t>Social issues that affect businesses and individuals range from the state of the physical environment, to company and individual philanthropy, to education. Some corporations and individuals are willing to spend time and/or money to address various social problems. These efforts are known as organizational social responsibility or individual social responsibility.</a:t>
            </a:r>
            <a:endParaRPr/>
          </a:p>
          <a:p>
            <a:pPr indent="0" lvl="0" marL="0" rtl="0" algn="l">
              <a:spcBef>
                <a:spcPts val="0"/>
              </a:spcBef>
              <a:spcAft>
                <a:spcPts val="0"/>
              </a:spcAft>
              <a:buNone/>
            </a:pPr>
            <a:r>
              <a:rPr b="1" lang="en-US"/>
              <a:t>Compliance with Government Regulations: </a:t>
            </a:r>
            <a:r>
              <a:rPr lang="en-US"/>
              <a:t>government regulations regarding health, safety, environmental protection, and equal opportunity. Businesses tend to view government regulations as expensive constraints on their activities. In general, government deregulation intensifies competition. In the wake of 9/11 and numerous corporate scandals, the U.S. government passed many new laws, including the Sarbanes–Oxley Act, the USA PATRIOT Act, the Gramm–Leach–Bliley Act, and the Health Insurance Portability and Accountability Act (HIPAA).</a:t>
            </a:r>
            <a:endParaRPr/>
          </a:p>
          <a:p>
            <a:pPr indent="0" lvl="0" marL="0" rtl="0" algn="l">
              <a:spcBef>
                <a:spcPts val="0"/>
              </a:spcBef>
              <a:spcAft>
                <a:spcPts val="0"/>
              </a:spcAft>
              <a:buNone/>
            </a:pPr>
            <a:r>
              <a:rPr b="1" lang="en-US"/>
              <a:t>Protection Against Terrorist Attacks: </a:t>
            </a:r>
            <a:r>
              <a:rPr lang="en-US"/>
              <a:t>Since September 11, 2001, organizations have been under increased pressure to protect themselves against terrorist attacks. In addition, employees who are in the military reserves have been called up for active duty, creating personnel problems. Information technology can help protect businesses by providing security systems and possibly identifying patterns of behavior associated with terrorist activities, including cyberattacks.</a:t>
            </a:r>
            <a:endParaRPr/>
          </a:p>
          <a:p>
            <a:pPr indent="0" lvl="0" marL="0" rtl="0" algn="l">
              <a:spcBef>
                <a:spcPts val="0"/>
              </a:spcBef>
              <a:spcAft>
                <a:spcPts val="0"/>
              </a:spcAft>
              <a:buNone/>
            </a:pPr>
            <a:r>
              <a:rPr b="1" lang="en-US"/>
              <a:t>Ethical Issues: </a:t>
            </a:r>
            <a:r>
              <a:rPr lang="en-US"/>
              <a:t>Ethics relates to general standards of right and wrong. Information ethics relates specifically to standards of right and wrong in information processing practices. Ethical issues are very important because, if handled poorly, they can damage an organization’s image and destroy its employees’ morale.</a:t>
            </a:r>
            <a:endParaRPr/>
          </a:p>
        </p:txBody>
      </p:sp>
      <p:sp>
        <p:nvSpPr>
          <p:cNvPr id="284" name="Google Shape;28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Social Responsibility: </a:t>
            </a:r>
            <a:r>
              <a:rPr lang="en-US"/>
              <a:t>Social issues that affect businesses and individuals range from the state of the physical environment, to company and individual philanthropy, to education. Some corporations and individuals are willing to spend time and/or money to address various social problems. These efforts are known as organizational social responsibility or individual social responsibility.</a:t>
            </a:r>
            <a:endParaRPr/>
          </a:p>
          <a:p>
            <a:pPr indent="0" lvl="0" marL="0" rtl="0" algn="l">
              <a:spcBef>
                <a:spcPts val="0"/>
              </a:spcBef>
              <a:spcAft>
                <a:spcPts val="0"/>
              </a:spcAft>
              <a:buNone/>
            </a:pPr>
            <a:r>
              <a:rPr b="1" lang="en-US"/>
              <a:t>Compliance with Government Regulations: </a:t>
            </a:r>
            <a:r>
              <a:rPr lang="en-US"/>
              <a:t>government regulations regarding health, safety, environmental protection, and equal opportunity. Businesses tend to view government regulations as expensive constraints on their activities. In general, government deregulation intensifies competition. In the wake of 9/11 and numerous corporate scandals, the U.S. government passed many new laws, including the Sarbanes–Oxley Act, the USA PATRIOT Act, the Gramm–Leach–Bliley Act, and the Health Insurance Portability and Accountability Act (HIPAA).</a:t>
            </a:r>
            <a:endParaRPr/>
          </a:p>
          <a:p>
            <a:pPr indent="0" lvl="0" marL="0" rtl="0" algn="l">
              <a:spcBef>
                <a:spcPts val="0"/>
              </a:spcBef>
              <a:spcAft>
                <a:spcPts val="0"/>
              </a:spcAft>
              <a:buNone/>
            </a:pPr>
            <a:r>
              <a:rPr b="1" lang="en-US"/>
              <a:t>Protection Against Terrorist Attacks: </a:t>
            </a:r>
            <a:r>
              <a:rPr lang="en-US"/>
              <a:t>Since September 11, 2001, organizations have been under increased pressure to protect themselves against terrorist attacks. In addition, employees who are in the military reserves have been called up for active duty, creating personnel problems. Information technology can help protect businesses by providing security systems and possibly identifying patterns of behavior associated with terrorist activities, including cyberattacks.</a:t>
            </a:r>
            <a:endParaRPr/>
          </a:p>
          <a:p>
            <a:pPr indent="0" lvl="0" marL="0" rtl="0" algn="l">
              <a:spcBef>
                <a:spcPts val="0"/>
              </a:spcBef>
              <a:spcAft>
                <a:spcPts val="0"/>
              </a:spcAft>
              <a:buNone/>
            </a:pPr>
            <a:r>
              <a:rPr b="1" lang="en-US"/>
              <a:t>Ethical Issues: </a:t>
            </a:r>
            <a:r>
              <a:rPr lang="en-US"/>
              <a:t>Ethics relates to general standards of right and wrong. Information ethics relates specifically to standards of right and wrong in information processing practices. Ethical issues are very important because, if handled poorly, they can damage an organization’s image and destroy its employees’ morale.</a:t>
            </a:r>
            <a:endParaRPr/>
          </a:p>
        </p:txBody>
      </p:sp>
      <p:sp>
        <p:nvSpPr>
          <p:cNvPr id="291" name="Google Shape;29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IT is instrumental in organizational efforts to “go green” in three areas:</a:t>
            </a:r>
            <a:endParaRPr b="1"/>
          </a:p>
          <a:p>
            <a:pPr indent="-228600" lvl="0" marL="228600" rtl="0" algn="l">
              <a:spcBef>
                <a:spcPts val="0"/>
              </a:spcBef>
              <a:spcAft>
                <a:spcPts val="0"/>
              </a:spcAft>
              <a:buClr>
                <a:schemeClr val="dk1"/>
              </a:buClr>
              <a:buSzPts val="1200"/>
              <a:buFont typeface="Calibri"/>
              <a:buAutoNum type="arabicPeriod"/>
            </a:pPr>
            <a:r>
              <a:rPr lang="en-US"/>
              <a:t>Facilities design and management</a:t>
            </a:r>
            <a:endParaRPr/>
          </a:p>
          <a:p>
            <a:pPr indent="-228600" lvl="0" marL="228600" rtl="0" algn="l">
              <a:spcBef>
                <a:spcPts val="0"/>
              </a:spcBef>
              <a:spcAft>
                <a:spcPts val="0"/>
              </a:spcAft>
              <a:buClr>
                <a:schemeClr val="dk1"/>
              </a:buClr>
              <a:buSzPts val="1200"/>
              <a:buFont typeface="Calibri"/>
              <a:buAutoNum type="arabicPeriod"/>
            </a:pPr>
            <a:r>
              <a:rPr lang="en-US"/>
              <a:t>Carbon management</a:t>
            </a:r>
            <a:endParaRPr/>
          </a:p>
          <a:p>
            <a:pPr indent="-228600" lvl="0" marL="228600" rtl="0" algn="l">
              <a:spcBef>
                <a:spcPts val="0"/>
              </a:spcBef>
              <a:spcAft>
                <a:spcPts val="0"/>
              </a:spcAft>
              <a:buClr>
                <a:schemeClr val="dk1"/>
              </a:buClr>
              <a:buSzPts val="1200"/>
              <a:buFont typeface="Calibri"/>
              <a:buAutoNum type="arabicPeriod"/>
            </a:pPr>
            <a:r>
              <a:rPr lang="en-US"/>
              <a:t>International and U.S. environmental laws</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a:t>Digital Divide: </a:t>
            </a:r>
            <a:r>
              <a:rPr lang="en-US"/>
              <a:t>refers to the wide gap between those individuals who have access to information and communications technology and those who do not.</a:t>
            </a:r>
            <a:endParaRPr/>
          </a:p>
        </p:txBody>
      </p:sp>
      <p:sp>
        <p:nvSpPr>
          <p:cNvPr id="298" name="Google Shape;298;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Strategic Systems: </a:t>
            </a:r>
            <a:r>
              <a:rPr lang="en-US"/>
              <a:t>provide organizations with advantages that enable them to increase their market share and/or profits, to better negotiate with suppliers, and to prevent competitors from entering their markets.</a:t>
            </a:r>
            <a:endParaRPr/>
          </a:p>
          <a:p>
            <a:pPr indent="0" lvl="0" marL="0" rtl="0" algn="l">
              <a:spcBef>
                <a:spcPts val="0"/>
              </a:spcBef>
              <a:spcAft>
                <a:spcPts val="0"/>
              </a:spcAft>
              <a:buNone/>
            </a:pPr>
            <a:r>
              <a:rPr b="1" lang="en-US"/>
              <a:t>Customer Focus: </a:t>
            </a:r>
            <a:r>
              <a:rPr lang="en-US"/>
              <a:t>Organizational attempts to provide superb customer service can make the difference between attracting and retaining customers versus losing them to competitors. Numerous IT tools and business processes have been designed to keep customers happy.</a:t>
            </a:r>
            <a:endParaRPr/>
          </a:p>
          <a:p>
            <a:pPr indent="0" lvl="0" marL="0" rtl="0" algn="l">
              <a:spcBef>
                <a:spcPts val="0"/>
              </a:spcBef>
              <a:spcAft>
                <a:spcPts val="0"/>
              </a:spcAft>
              <a:buNone/>
            </a:pPr>
            <a:r>
              <a:rPr b="1" lang="en-US"/>
              <a:t>Make-to-Order: </a:t>
            </a:r>
            <a:r>
              <a:rPr lang="en-US"/>
              <a:t>a strategy of producing customized (made to individual specifications) products and services.</a:t>
            </a:r>
            <a:endParaRPr/>
          </a:p>
          <a:p>
            <a:pPr indent="0" lvl="0" marL="0" rtl="0" algn="l">
              <a:spcBef>
                <a:spcPts val="0"/>
              </a:spcBef>
              <a:spcAft>
                <a:spcPts val="0"/>
              </a:spcAft>
              <a:buNone/>
            </a:pPr>
            <a:r>
              <a:rPr b="1" lang="en-US"/>
              <a:t>Mass Customization: </a:t>
            </a:r>
            <a:r>
              <a:rPr lang="en-US"/>
              <a:t>a company produces a large quantity of items, but it customizes them to match the needs and preferences of individual customers. Mass customization is essentially an attempt to perform make-to-order on a large scale (Example: Bodymetrics &lt;www.bodymetrics.com&gt;).</a:t>
            </a:r>
            <a:endParaRPr/>
          </a:p>
          <a:p>
            <a:pPr indent="0" lvl="0" marL="0" rtl="0" algn="l">
              <a:spcBef>
                <a:spcPts val="0"/>
              </a:spcBef>
              <a:spcAft>
                <a:spcPts val="0"/>
              </a:spcAft>
              <a:buNone/>
            </a:pPr>
            <a:r>
              <a:rPr b="1" lang="en-US"/>
              <a:t>E-Business and E-Commerce: </a:t>
            </a:r>
            <a:r>
              <a:rPr lang="en-US"/>
              <a:t>Conducting business electronically is an essential strategy for companies that are competing in today’s business environment.</a:t>
            </a:r>
            <a:endParaRPr/>
          </a:p>
          <a:p>
            <a:pPr indent="0" lvl="0" marL="0" rtl="0" algn="l">
              <a:spcBef>
                <a:spcPts val="0"/>
              </a:spcBef>
              <a:spcAft>
                <a:spcPts val="0"/>
              </a:spcAft>
              <a:buNone/>
            </a:pPr>
            <a:r>
              <a:rPr b="1" lang="en-US"/>
              <a:t>Electronic commerce (EC or e-commerce): </a:t>
            </a:r>
            <a:r>
              <a:rPr lang="en-US"/>
              <a:t>describes the process of buying, selling, transferring, or exchanging products, services, or information via computer networks, including the Internet.</a:t>
            </a:r>
            <a:endParaRPr/>
          </a:p>
          <a:p>
            <a:pPr indent="0" lvl="0" marL="0" rtl="0" algn="l">
              <a:spcBef>
                <a:spcPts val="0"/>
              </a:spcBef>
              <a:spcAft>
                <a:spcPts val="0"/>
              </a:spcAft>
              <a:buNone/>
            </a:pPr>
            <a:r>
              <a:rPr b="1" lang="en-US"/>
              <a:t>E-business: </a:t>
            </a:r>
            <a:r>
              <a:rPr lang="en-US"/>
              <a:t>a somewhat broader concept than EC that includes servicing customers, collaborating with business partners, and performing electronic transactions within an organization.</a:t>
            </a:r>
            <a:endParaRPr/>
          </a:p>
        </p:txBody>
      </p:sp>
      <p:sp>
        <p:nvSpPr>
          <p:cNvPr id="305" name="Google Shape;30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Strategic Systems: </a:t>
            </a:r>
            <a:r>
              <a:rPr lang="en-US"/>
              <a:t>provide organizations with advantages that enable them to increase their market share and/or profits, to better negotiate with suppliers, and to prevent competitors from entering their markets.</a:t>
            </a:r>
            <a:endParaRPr/>
          </a:p>
          <a:p>
            <a:pPr indent="0" lvl="0" marL="0" rtl="0" algn="l">
              <a:spcBef>
                <a:spcPts val="0"/>
              </a:spcBef>
              <a:spcAft>
                <a:spcPts val="0"/>
              </a:spcAft>
              <a:buNone/>
            </a:pPr>
            <a:r>
              <a:rPr b="1" lang="en-US"/>
              <a:t>Customer Focus: </a:t>
            </a:r>
            <a:r>
              <a:rPr lang="en-US"/>
              <a:t>Organizational attempts to provide superb customer service can make the difference between attracting and retaining customers versus losing them to competitors. Numerous IT tools and business processes have been designed to keep customers happy.</a:t>
            </a:r>
            <a:endParaRPr/>
          </a:p>
          <a:p>
            <a:pPr indent="0" lvl="0" marL="0" rtl="0" algn="l">
              <a:spcBef>
                <a:spcPts val="0"/>
              </a:spcBef>
              <a:spcAft>
                <a:spcPts val="0"/>
              </a:spcAft>
              <a:buNone/>
            </a:pPr>
            <a:r>
              <a:rPr b="1" lang="en-US"/>
              <a:t>Make-to-Order: </a:t>
            </a:r>
            <a:r>
              <a:rPr lang="en-US"/>
              <a:t>a strategy of producing customized (made to individual specifications) products and services.</a:t>
            </a:r>
            <a:endParaRPr/>
          </a:p>
          <a:p>
            <a:pPr indent="0" lvl="0" marL="0" rtl="0" algn="l">
              <a:spcBef>
                <a:spcPts val="0"/>
              </a:spcBef>
              <a:spcAft>
                <a:spcPts val="0"/>
              </a:spcAft>
              <a:buNone/>
            </a:pPr>
            <a:r>
              <a:rPr b="1" lang="en-US"/>
              <a:t>Mass Customization: </a:t>
            </a:r>
            <a:r>
              <a:rPr lang="en-US"/>
              <a:t>a company produces a large quantity of items, but it customizes them to match the needs and preferences of individual customers. Mass customization is essentially an attempt to perform make-to-order on a large scale (Example: Bodymetrics &lt;www.bodymetrics.com&gt;).</a:t>
            </a:r>
            <a:endParaRPr/>
          </a:p>
          <a:p>
            <a:pPr indent="0" lvl="0" marL="0" rtl="0" algn="l">
              <a:spcBef>
                <a:spcPts val="0"/>
              </a:spcBef>
              <a:spcAft>
                <a:spcPts val="0"/>
              </a:spcAft>
              <a:buNone/>
            </a:pPr>
            <a:r>
              <a:rPr b="1" lang="en-US"/>
              <a:t>E-Business and E-Commerce: </a:t>
            </a:r>
            <a:r>
              <a:rPr lang="en-US"/>
              <a:t>Conducting business electronically is an essential strategy for companies that are competing in today’s business environment.</a:t>
            </a:r>
            <a:endParaRPr/>
          </a:p>
          <a:p>
            <a:pPr indent="0" lvl="0" marL="0" rtl="0" algn="l">
              <a:spcBef>
                <a:spcPts val="0"/>
              </a:spcBef>
              <a:spcAft>
                <a:spcPts val="0"/>
              </a:spcAft>
              <a:buNone/>
            </a:pPr>
            <a:r>
              <a:rPr b="1" lang="en-US"/>
              <a:t>Electronic commerce (EC or e-commerce): </a:t>
            </a:r>
            <a:r>
              <a:rPr lang="en-US"/>
              <a:t>describes the process of buying, selling, transferring, or exchanging products, services, or information via computer networks, including the Internet.</a:t>
            </a:r>
            <a:endParaRPr/>
          </a:p>
          <a:p>
            <a:pPr indent="0" lvl="0" marL="0" rtl="0" algn="l">
              <a:spcBef>
                <a:spcPts val="0"/>
              </a:spcBef>
              <a:spcAft>
                <a:spcPts val="0"/>
              </a:spcAft>
              <a:buNone/>
            </a:pPr>
            <a:r>
              <a:rPr b="1" lang="en-US"/>
              <a:t>E-business: </a:t>
            </a:r>
            <a:r>
              <a:rPr lang="en-US"/>
              <a:t>a somewhat broader concept than EC that includes servicing customers, collaborating with business partners, and performing electronic transactions within an organization.</a:t>
            </a:r>
            <a:endParaRPr/>
          </a:p>
        </p:txBody>
      </p:sp>
      <p:sp>
        <p:nvSpPr>
          <p:cNvPr id="312" name="Google Shape;31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Threat of Entry of New Competitors: </a:t>
            </a:r>
            <a:r>
              <a:rPr lang="en-US"/>
              <a:t>The threat that new competitors will enter your market is high when entry is easy and low when there are significant barriers to entry.</a:t>
            </a:r>
            <a:endParaRPr/>
          </a:p>
          <a:p>
            <a:pPr indent="0" lvl="0" marL="0" rtl="0" algn="l">
              <a:spcBef>
                <a:spcPts val="0"/>
              </a:spcBef>
              <a:spcAft>
                <a:spcPts val="0"/>
              </a:spcAft>
              <a:buNone/>
            </a:pPr>
            <a:r>
              <a:rPr b="1" lang="en-US"/>
              <a:t>Bargaining Power of Suppliers:</a:t>
            </a:r>
            <a:r>
              <a:rPr lang="en-US"/>
              <a:t> Supplier power is high when buyers have few choices from whom to buy and low when buyers have many choices.</a:t>
            </a:r>
            <a:endParaRPr/>
          </a:p>
          <a:p>
            <a:pPr indent="0" lvl="0" marL="0" rtl="0" algn="l">
              <a:spcBef>
                <a:spcPts val="0"/>
              </a:spcBef>
              <a:spcAft>
                <a:spcPts val="0"/>
              </a:spcAft>
              <a:buNone/>
            </a:pPr>
            <a:r>
              <a:rPr b="1" lang="en-US"/>
              <a:t>Bargaining Power of Customers (Buyers): </a:t>
            </a:r>
            <a:r>
              <a:rPr lang="en-US"/>
              <a:t>Buyer power is high when buyers have many choices from whom to buy and low when buyers have few choices.</a:t>
            </a:r>
            <a:endParaRPr/>
          </a:p>
          <a:p>
            <a:pPr indent="0" lvl="0" marL="0" rtl="0" algn="l">
              <a:spcBef>
                <a:spcPts val="0"/>
              </a:spcBef>
              <a:spcAft>
                <a:spcPts val="0"/>
              </a:spcAft>
              <a:buNone/>
            </a:pPr>
            <a:r>
              <a:rPr b="1" lang="en-US"/>
              <a:t>Threat of Substitute Products or Services: </a:t>
            </a:r>
            <a:r>
              <a:rPr lang="en-US"/>
              <a:t>If there are many alternatives to an organization’s products or services, then the threat of substitutes is high. If there are few alternatives, then the threat is low.</a:t>
            </a:r>
            <a:endParaRPr/>
          </a:p>
          <a:p>
            <a:pPr indent="0" lvl="0" marL="0" rtl="0" algn="l">
              <a:spcBef>
                <a:spcPts val="0"/>
              </a:spcBef>
              <a:spcAft>
                <a:spcPts val="0"/>
              </a:spcAft>
              <a:buNone/>
            </a:pPr>
            <a:r>
              <a:rPr b="1" lang="en-US"/>
              <a:t>Rivalry Among Existing Firms: </a:t>
            </a:r>
            <a:r>
              <a:rPr lang="en-US"/>
              <a:t>The threat from rivalry is high when there is intense competition among many firms in an industry. The threat is low when the competition is among fewer firms and is not as intense.</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b="1" lang="en-US"/>
              <a:t>Barrier to Entry: </a:t>
            </a:r>
            <a:r>
              <a:rPr lang="en-US"/>
              <a:t>a product or service feature that customers have learned to expect from organizations in a certain industry. A competing organization must offer this feature in order to survive in the marketplace (e.g., legal requirements such as admission to the bar to practice law).</a:t>
            </a:r>
            <a:endParaRPr/>
          </a:p>
          <a:p>
            <a:pPr indent="0" lvl="0" marL="0" rtl="0" algn="l">
              <a:spcBef>
                <a:spcPts val="0"/>
              </a:spcBef>
              <a:spcAft>
                <a:spcPts val="0"/>
              </a:spcAft>
              <a:buNone/>
            </a:pPr>
            <a:r>
              <a:rPr b="1" lang="en-US"/>
              <a:t>Switching Costs: </a:t>
            </a:r>
            <a:r>
              <a:rPr lang="en-US"/>
              <a:t>the costs, in money and time, imposed by a decision to buy elsewhere (e.g., contracts with smartphone providers).</a:t>
            </a:r>
            <a:endParaRPr/>
          </a:p>
        </p:txBody>
      </p:sp>
      <p:sp>
        <p:nvSpPr>
          <p:cNvPr id="332" name="Google Shape;332;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Value Chain: </a:t>
            </a:r>
            <a:r>
              <a:rPr lang="en-US"/>
              <a:t>a sequence of activities through which the organization’s inputs, whatever they are, are transformed into more valuable outputs, whatever they are.</a:t>
            </a:r>
            <a:endParaRPr/>
          </a:p>
          <a:p>
            <a:pPr indent="0" lvl="0" marL="0" rtl="0" algn="l">
              <a:spcBef>
                <a:spcPts val="0"/>
              </a:spcBef>
              <a:spcAft>
                <a:spcPts val="0"/>
              </a:spcAft>
              <a:buNone/>
            </a:pPr>
            <a:r>
              <a:rPr b="1" lang="en-US"/>
              <a:t>Value System: </a:t>
            </a:r>
            <a:r>
              <a:rPr lang="en-US"/>
              <a:t>includes the suppliers that provide the inputs necessary to the firm along with their value chains. After the firm creates products, these products pass through the value chains of distributors (which also have their own value chains), all the way to the customers. All parts of these chains are included in the value system.</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b="1" lang="en-US"/>
              <a:t>Two Categories of Organization Activities in the Value Chain:</a:t>
            </a:r>
            <a:endParaRPr b="1"/>
          </a:p>
          <a:p>
            <a:pPr indent="0" lvl="0" marL="0" rtl="0" algn="l">
              <a:spcBef>
                <a:spcPts val="0"/>
              </a:spcBef>
              <a:spcAft>
                <a:spcPts val="0"/>
              </a:spcAft>
              <a:buNone/>
            </a:pPr>
            <a:r>
              <a:rPr b="1" i="1" lang="en-US"/>
              <a:t>Primary Activities: </a:t>
            </a:r>
            <a:r>
              <a:rPr lang="en-US"/>
              <a:t>relate to the production and distribution of the firm’s products and services. These activities create value for which customers are willing to pay.</a:t>
            </a:r>
            <a:endParaRPr/>
          </a:p>
          <a:p>
            <a:pPr indent="0" lvl="0" marL="0" rtl="0" algn="l">
              <a:spcBef>
                <a:spcPts val="0"/>
              </a:spcBef>
              <a:spcAft>
                <a:spcPts val="0"/>
              </a:spcAft>
              <a:buNone/>
            </a:pPr>
            <a:r>
              <a:rPr b="1" i="1" lang="en-US"/>
              <a:t>Support activities: </a:t>
            </a:r>
            <a:r>
              <a:rPr lang="en-US"/>
              <a:t>contribute to the firm’s competitive advantage by supporting the primary activities, but do not add value directly to the firm’s products or services.</a:t>
            </a:r>
            <a:endParaRPr/>
          </a:p>
          <a:p>
            <a:pPr indent="0" lvl="0" marL="0" rtl="0" algn="l">
              <a:spcBef>
                <a:spcPts val="0"/>
              </a:spcBef>
              <a:spcAft>
                <a:spcPts val="0"/>
              </a:spcAft>
              <a:buNone/>
            </a:pPr>
            <a:r>
              <a:t/>
            </a:r>
            <a:endParaRPr/>
          </a:p>
        </p:txBody>
      </p:sp>
      <p:sp>
        <p:nvSpPr>
          <p:cNvPr id="346" name="Google Shape;346;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Value Chain: </a:t>
            </a:r>
            <a:r>
              <a:rPr lang="en-US"/>
              <a:t>a sequence of activities through which the organization’s inputs, whatever they are, are transformed into more valuable outputs, whatever they are.</a:t>
            </a:r>
            <a:endParaRPr/>
          </a:p>
          <a:p>
            <a:pPr indent="0" lvl="0" marL="0" rtl="0" algn="l">
              <a:spcBef>
                <a:spcPts val="0"/>
              </a:spcBef>
              <a:spcAft>
                <a:spcPts val="0"/>
              </a:spcAft>
              <a:buNone/>
            </a:pPr>
            <a:r>
              <a:rPr b="1" lang="en-US"/>
              <a:t>Value System: </a:t>
            </a:r>
            <a:r>
              <a:rPr lang="en-US"/>
              <a:t>includes the suppliers that provide the inputs necessary to the firm along with their value chains. After the firm creates products, these products pass through the value chains of distributors (which also have their own value chains), all the way to the customers. All parts of these chains are included in the value system.</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b="1" lang="en-US"/>
              <a:t>Two Categories of Organization Activities in the Value Chain:</a:t>
            </a:r>
            <a:endParaRPr b="1"/>
          </a:p>
          <a:p>
            <a:pPr indent="0" lvl="0" marL="0" rtl="0" algn="l">
              <a:spcBef>
                <a:spcPts val="0"/>
              </a:spcBef>
              <a:spcAft>
                <a:spcPts val="0"/>
              </a:spcAft>
              <a:buNone/>
            </a:pPr>
            <a:r>
              <a:rPr b="1" i="1" lang="en-US"/>
              <a:t>Primary Activities: </a:t>
            </a:r>
            <a:r>
              <a:rPr lang="en-US"/>
              <a:t>relate to the production and distribution of the firm’s products and services. These activities create value for which customers are willing to pay.</a:t>
            </a:r>
            <a:endParaRPr/>
          </a:p>
          <a:p>
            <a:pPr indent="0" lvl="0" marL="0" rtl="0" algn="l">
              <a:spcBef>
                <a:spcPts val="0"/>
              </a:spcBef>
              <a:spcAft>
                <a:spcPts val="0"/>
              </a:spcAft>
              <a:buNone/>
            </a:pPr>
            <a:r>
              <a:rPr b="1" i="1" lang="en-US"/>
              <a:t>Support activities: </a:t>
            </a:r>
            <a:r>
              <a:rPr lang="en-US"/>
              <a:t>contribute to the firm’s competitive advantage by supporting the primary activities, but do not add value directly to the firm’s products or services.</a:t>
            </a:r>
            <a:endParaRPr/>
          </a:p>
          <a:p>
            <a:pPr indent="0" lvl="0" marL="0" rtl="0" algn="l">
              <a:spcBef>
                <a:spcPts val="0"/>
              </a:spcBef>
              <a:spcAft>
                <a:spcPts val="0"/>
              </a:spcAft>
              <a:buNone/>
            </a:pPr>
            <a:r>
              <a:t/>
            </a:r>
            <a:endParaRPr/>
          </a:p>
        </p:txBody>
      </p:sp>
      <p:sp>
        <p:nvSpPr>
          <p:cNvPr id="353" name="Google Shape;353;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Value Chain: </a:t>
            </a:r>
            <a:r>
              <a:rPr lang="en-US"/>
              <a:t>a sequence of activities through which the organization’s inputs, whatever they are, are transformed into more valuable outputs, whatever they are.</a:t>
            </a:r>
            <a:endParaRPr/>
          </a:p>
          <a:p>
            <a:pPr indent="0" lvl="0" marL="0" rtl="0" algn="l">
              <a:spcBef>
                <a:spcPts val="0"/>
              </a:spcBef>
              <a:spcAft>
                <a:spcPts val="0"/>
              </a:spcAft>
              <a:buNone/>
            </a:pPr>
            <a:r>
              <a:rPr b="1" lang="en-US"/>
              <a:t>Value System: </a:t>
            </a:r>
            <a:r>
              <a:rPr lang="en-US"/>
              <a:t>includes the suppliers that provide the inputs necessary to the firm along with their value chains. After the firm creates products, these products pass through the value chains of distributors (which also have their own value chains), all the way to the customers. All parts of these chains are included in the value system.</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b="1" lang="en-US"/>
              <a:t>Two Categories of Organization Activities in the Value Chain:</a:t>
            </a:r>
            <a:endParaRPr b="1"/>
          </a:p>
          <a:p>
            <a:pPr indent="0" lvl="0" marL="0" rtl="0" algn="l">
              <a:spcBef>
                <a:spcPts val="0"/>
              </a:spcBef>
              <a:spcAft>
                <a:spcPts val="0"/>
              </a:spcAft>
              <a:buNone/>
            </a:pPr>
            <a:r>
              <a:rPr b="1" i="1" lang="en-US"/>
              <a:t>Primary Activities: </a:t>
            </a:r>
            <a:r>
              <a:rPr lang="en-US"/>
              <a:t>relate to the production and distribution of the firm’s products and services. These activities create value for which customers are willing to pay.</a:t>
            </a:r>
            <a:endParaRPr/>
          </a:p>
          <a:p>
            <a:pPr indent="0" lvl="0" marL="0" rtl="0" algn="l">
              <a:spcBef>
                <a:spcPts val="0"/>
              </a:spcBef>
              <a:spcAft>
                <a:spcPts val="0"/>
              </a:spcAft>
              <a:buNone/>
            </a:pPr>
            <a:r>
              <a:rPr b="1" i="1" lang="en-US"/>
              <a:t>Support activities: </a:t>
            </a:r>
            <a:r>
              <a:rPr lang="en-US"/>
              <a:t>contribute to the firm’s competitive advantage by supporting the primary activities, but do not add value directly to the firm’s products or services.</a:t>
            </a:r>
            <a:endParaRPr/>
          </a:p>
          <a:p>
            <a:pPr indent="0" lvl="0" marL="0" rtl="0" algn="l">
              <a:spcBef>
                <a:spcPts val="0"/>
              </a:spcBef>
              <a:spcAft>
                <a:spcPts val="0"/>
              </a:spcAft>
              <a:buNone/>
            </a:pPr>
            <a:r>
              <a:t/>
            </a:r>
            <a:endParaRPr/>
          </a:p>
        </p:txBody>
      </p:sp>
      <p:sp>
        <p:nvSpPr>
          <p:cNvPr id="360" name="Google Shape;360;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Five Sequenced Primary Activities of Typical Manufacturing Companies:</a:t>
            </a:r>
            <a:endParaRPr b="1"/>
          </a:p>
          <a:p>
            <a:pPr indent="-228600" lvl="0" marL="228600" rtl="0" algn="l">
              <a:spcBef>
                <a:spcPts val="0"/>
              </a:spcBef>
              <a:spcAft>
                <a:spcPts val="0"/>
              </a:spcAft>
              <a:buClr>
                <a:schemeClr val="dk1"/>
              </a:buClr>
              <a:buSzPts val="1200"/>
              <a:buFont typeface="Calibri"/>
              <a:buAutoNum type="arabicPeriod"/>
            </a:pPr>
            <a:r>
              <a:rPr lang="en-US"/>
              <a:t>Inbound logistics (inputs)</a:t>
            </a:r>
            <a:endParaRPr/>
          </a:p>
          <a:p>
            <a:pPr indent="-228600" lvl="0" marL="228600" rtl="0" algn="l">
              <a:spcBef>
                <a:spcPts val="0"/>
              </a:spcBef>
              <a:spcAft>
                <a:spcPts val="0"/>
              </a:spcAft>
              <a:buClr>
                <a:schemeClr val="dk1"/>
              </a:buClr>
              <a:buSzPts val="1200"/>
              <a:buFont typeface="Calibri"/>
              <a:buAutoNum type="arabicPeriod"/>
            </a:pPr>
            <a:r>
              <a:rPr lang="en-US"/>
              <a:t>Operations (manufacturing and testing)</a:t>
            </a:r>
            <a:endParaRPr/>
          </a:p>
          <a:p>
            <a:pPr indent="-228600" lvl="0" marL="228600" rtl="0" algn="l">
              <a:spcBef>
                <a:spcPts val="0"/>
              </a:spcBef>
              <a:spcAft>
                <a:spcPts val="0"/>
              </a:spcAft>
              <a:buClr>
                <a:schemeClr val="dk1"/>
              </a:buClr>
              <a:buSzPts val="1200"/>
              <a:buFont typeface="Calibri"/>
              <a:buAutoNum type="arabicPeriod"/>
            </a:pPr>
            <a:r>
              <a:rPr lang="en-US"/>
              <a:t>Outbound logistics (storage and distribution)</a:t>
            </a:r>
            <a:endParaRPr/>
          </a:p>
          <a:p>
            <a:pPr indent="-228600" lvl="0" marL="228600" rtl="0" algn="l">
              <a:spcBef>
                <a:spcPts val="0"/>
              </a:spcBef>
              <a:spcAft>
                <a:spcPts val="0"/>
              </a:spcAft>
              <a:buClr>
                <a:schemeClr val="dk1"/>
              </a:buClr>
              <a:buSzPts val="1200"/>
              <a:buFont typeface="Calibri"/>
              <a:buAutoNum type="arabicPeriod"/>
            </a:pPr>
            <a:r>
              <a:rPr lang="en-US"/>
              <a:t>Marketing and sales</a:t>
            </a:r>
            <a:endParaRPr/>
          </a:p>
          <a:p>
            <a:pPr indent="-228600" lvl="0" marL="228600" rtl="0" algn="l">
              <a:spcBef>
                <a:spcPts val="0"/>
              </a:spcBef>
              <a:spcAft>
                <a:spcPts val="0"/>
              </a:spcAft>
              <a:buClr>
                <a:schemeClr val="dk1"/>
              </a:buClr>
              <a:buSzPts val="1200"/>
              <a:buFont typeface="Calibri"/>
              <a:buAutoNum type="arabicPeriod"/>
            </a:pPr>
            <a:r>
              <a:rPr lang="en-US"/>
              <a:t>Services</a:t>
            </a:r>
            <a:endParaRPr/>
          </a:p>
        </p:txBody>
      </p:sp>
      <p:sp>
        <p:nvSpPr>
          <p:cNvPr id="367" name="Google Shape;367;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Value Chain Support Activities Typically Include:</a:t>
            </a:r>
            <a:endParaRPr b="1"/>
          </a:p>
          <a:p>
            <a:pPr indent="-171450" lvl="0" marL="171450" rtl="0" algn="l">
              <a:spcBef>
                <a:spcPts val="0"/>
              </a:spcBef>
              <a:spcAft>
                <a:spcPts val="0"/>
              </a:spcAft>
              <a:buClr>
                <a:schemeClr val="dk1"/>
              </a:buClr>
              <a:buSzPts val="1200"/>
              <a:buFont typeface="Arial"/>
              <a:buChar char="•"/>
            </a:pPr>
            <a:r>
              <a:rPr lang="en-US"/>
              <a:t>The firm’s infrastructure (accounting, finance, management)</a:t>
            </a:r>
            <a:endParaRPr/>
          </a:p>
          <a:p>
            <a:pPr indent="-171450" lvl="0" marL="171450" rtl="0" algn="l">
              <a:spcBef>
                <a:spcPts val="0"/>
              </a:spcBef>
              <a:spcAft>
                <a:spcPts val="0"/>
              </a:spcAft>
              <a:buClr>
                <a:schemeClr val="dk1"/>
              </a:buClr>
              <a:buSzPts val="1200"/>
              <a:buFont typeface="Arial"/>
              <a:buChar char="•"/>
            </a:pPr>
            <a:r>
              <a:rPr lang="en-US"/>
              <a:t>Human resources management</a:t>
            </a:r>
            <a:endParaRPr/>
          </a:p>
          <a:p>
            <a:pPr indent="-171450" lvl="0" marL="171450" rtl="0" algn="l">
              <a:spcBef>
                <a:spcPts val="0"/>
              </a:spcBef>
              <a:spcAft>
                <a:spcPts val="0"/>
              </a:spcAft>
              <a:buClr>
                <a:schemeClr val="dk1"/>
              </a:buClr>
              <a:buSzPts val="1200"/>
              <a:buFont typeface="Arial"/>
              <a:buChar char="•"/>
            </a:pPr>
            <a:r>
              <a:rPr lang="en-US"/>
              <a:t>Product and technology development (R&amp;D)</a:t>
            </a:r>
            <a:endParaRPr/>
          </a:p>
          <a:p>
            <a:pPr indent="-171450" lvl="0" marL="171450" rtl="0" algn="l">
              <a:spcBef>
                <a:spcPts val="0"/>
              </a:spcBef>
              <a:spcAft>
                <a:spcPts val="0"/>
              </a:spcAft>
              <a:buClr>
                <a:schemeClr val="dk1"/>
              </a:buClr>
              <a:buSzPts val="1200"/>
              <a:buFont typeface="Arial"/>
              <a:buChar char="•"/>
            </a:pPr>
            <a:r>
              <a:rPr lang="en-US"/>
              <a:t>Procurement</a:t>
            </a:r>
            <a:endParaRPr/>
          </a:p>
        </p:txBody>
      </p:sp>
      <p:sp>
        <p:nvSpPr>
          <p:cNvPr id="374" name="Google Shape;374;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Competitive Advantage Strategies:</a:t>
            </a:r>
            <a:endParaRPr b="1" u="sng"/>
          </a:p>
          <a:p>
            <a:pPr indent="-228600" lvl="0" marL="228600" rtl="0" algn="l">
              <a:spcBef>
                <a:spcPts val="0"/>
              </a:spcBef>
              <a:spcAft>
                <a:spcPts val="0"/>
              </a:spcAft>
              <a:buClr>
                <a:schemeClr val="dk1"/>
              </a:buClr>
              <a:buSzPts val="1200"/>
              <a:buFont typeface="Calibri"/>
              <a:buAutoNum type="arabicPeriod"/>
            </a:pPr>
            <a:r>
              <a:rPr b="1" lang="en-US"/>
              <a:t>Cost leadership strategy: </a:t>
            </a:r>
            <a:r>
              <a:rPr lang="en-US"/>
              <a:t>Produce products and/or services at the lowest cost in the industry (e.g., Walmart’s automatic inventory replenishment system).</a:t>
            </a:r>
            <a:endParaRPr/>
          </a:p>
          <a:p>
            <a:pPr indent="-228600" lvl="0" marL="228600" rtl="0" algn="l">
              <a:spcBef>
                <a:spcPts val="0"/>
              </a:spcBef>
              <a:spcAft>
                <a:spcPts val="0"/>
              </a:spcAft>
              <a:buClr>
                <a:schemeClr val="dk1"/>
              </a:buClr>
              <a:buSzPts val="1200"/>
              <a:buFont typeface="Calibri"/>
              <a:buAutoNum type="arabicPeriod"/>
            </a:pPr>
            <a:r>
              <a:rPr b="1" lang="en-US"/>
              <a:t>Differentiation Strategy: </a:t>
            </a:r>
            <a:r>
              <a:rPr lang="en-US"/>
              <a:t>Offering different products, services, or product features than your competitors (e.g., Southwest Airlines has differentiated itself as a low-cost, short-haul, express airline).</a:t>
            </a:r>
            <a:endParaRPr/>
          </a:p>
          <a:p>
            <a:pPr indent="-228600" lvl="0" marL="228600" rtl="0" algn="l">
              <a:spcBef>
                <a:spcPts val="0"/>
              </a:spcBef>
              <a:spcAft>
                <a:spcPts val="0"/>
              </a:spcAft>
              <a:buClr>
                <a:schemeClr val="dk1"/>
              </a:buClr>
              <a:buSzPts val="1200"/>
              <a:buFont typeface="Calibri"/>
              <a:buAutoNum type="arabicPeriod"/>
            </a:pPr>
            <a:r>
              <a:rPr b="1" lang="en-US"/>
              <a:t>Innovation Strategy: </a:t>
            </a:r>
            <a:r>
              <a:rPr lang="en-US"/>
              <a:t>Introduce new products and services, add new features to existing products and services, or develop new ways to produce them (Classic Example: the first introduction of automated teller machines (ATMs) by Citibank).</a:t>
            </a:r>
            <a:endParaRPr/>
          </a:p>
          <a:p>
            <a:pPr indent="-228600" lvl="0" marL="228600" rtl="0" algn="l">
              <a:spcBef>
                <a:spcPts val="0"/>
              </a:spcBef>
              <a:spcAft>
                <a:spcPts val="0"/>
              </a:spcAft>
              <a:buClr>
                <a:schemeClr val="dk1"/>
              </a:buClr>
              <a:buSzPts val="1200"/>
              <a:buFont typeface="Calibri"/>
              <a:buAutoNum type="arabicPeriod"/>
            </a:pPr>
            <a:r>
              <a:rPr b="1" lang="en-US"/>
              <a:t>Operational Effectiveness Strategy: </a:t>
            </a:r>
            <a:r>
              <a:rPr lang="en-US"/>
              <a:t>Improve the manner in which a firm executes its internal business processes so that it performs these activities more effectively than its rivals. Such improvements increase quality, productivity, and employee and customer satisfaction while decreasing time to market.</a:t>
            </a:r>
            <a:endParaRPr/>
          </a:p>
          <a:p>
            <a:pPr indent="-228600" lvl="0" marL="228600" rtl="0" algn="l">
              <a:spcBef>
                <a:spcPts val="0"/>
              </a:spcBef>
              <a:spcAft>
                <a:spcPts val="0"/>
              </a:spcAft>
              <a:buClr>
                <a:schemeClr val="dk1"/>
              </a:buClr>
              <a:buSzPts val="1200"/>
              <a:buFont typeface="Calibri"/>
              <a:buAutoNum type="arabicPeriod"/>
            </a:pPr>
            <a:r>
              <a:rPr b="1" lang="en-US"/>
              <a:t>Customer Orientation Strategy: </a:t>
            </a:r>
            <a:r>
              <a:rPr lang="en-US"/>
              <a:t>Concentrate on making customers happy. Web-based systems are particularly effective in this area because they can create a personalized, one-to-one relationship with each customer.</a:t>
            </a:r>
            <a:endParaRPr/>
          </a:p>
          <a:p>
            <a:pPr indent="0" lvl="0" marL="0" rtl="0" algn="l">
              <a:spcBef>
                <a:spcPts val="0"/>
              </a:spcBef>
              <a:spcAft>
                <a:spcPts val="0"/>
              </a:spcAft>
              <a:buNone/>
            </a:pPr>
            <a:r>
              <a:t/>
            </a:r>
            <a:endParaRPr/>
          </a:p>
        </p:txBody>
      </p:sp>
      <p:sp>
        <p:nvSpPr>
          <p:cNvPr id="387" name="Google Shape;387;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Competitive Advantage Strategies:</a:t>
            </a:r>
            <a:endParaRPr b="1" u="sng"/>
          </a:p>
          <a:p>
            <a:pPr indent="-228600" lvl="0" marL="228600" rtl="0" algn="l">
              <a:spcBef>
                <a:spcPts val="0"/>
              </a:spcBef>
              <a:spcAft>
                <a:spcPts val="0"/>
              </a:spcAft>
              <a:buClr>
                <a:schemeClr val="dk1"/>
              </a:buClr>
              <a:buSzPts val="1200"/>
              <a:buFont typeface="Calibri"/>
              <a:buAutoNum type="arabicPeriod"/>
            </a:pPr>
            <a:r>
              <a:rPr b="1" lang="en-US"/>
              <a:t>Cost leadership strategy: </a:t>
            </a:r>
            <a:r>
              <a:rPr lang="en-US"/>
              <a:t>Produce products and/or services at the lowest cost in the industry (e.g., Walmart’s automatic inventory replenishment system).</a:t>
            </a:r>
            <a:endParaRPr/>
          </a:p>
          <a:p>
            <a:pPr indent="-228600" lvl="0" marL="228600" rtl="0" algn="l">
              <a:spcBef>
                <a:spcPts val="0"/>
              </a:spcBef>
              <a:spcAft>
                <a:spcPts val="0"/>
              </a:spcAft>
              <a:buClr>
                <a:schemeClr val="dk1"/>
              </a:buClr>
              <a:buSzPts val="1200"/>
              <a:buFont typeface="Calibri"/>
              <a:buAutoNum type="arabicPeriod"/>
            </a:pPr>
            <a:r>
              <a:rPr b="1" lang="en-US"/>
              <a:t>Differentiation Strategy: </a:t>
            </a:r>
            <a:r>
              <a:rPr lang="en-US"/>
              <a:t>Offering different products, services, or product features than your competitors (e.g., Southwest Airlines has differentiated itself as a low-cost, short-haul, express airline).</a:t>
            </a:r>
            <a:endParaRPr/>
          </a:p>
          <a:p>
            <a:pPr indent="-228600" lvl="0" marL="228600" rtl="0" algn="l">
              <a:spcBef>
                <a:spcPts val="0"/>
              </a:spcBef>
              <a:spcAft>
                <a:spcPts val="0"/>
              </a:spcAft>
              <a:buClr>
                <a:schemeClr val="dk1"/>
              </a:buClr>
              <a:buSzPts val="1200"/>
              <a:buFont typeface="Calibri"/>
              <a:buAutoNum type="arabicPeriod"/>
            </a:pPr>
            <a:r>
              <a:rPr b="1" lang="en-US"/>
              <a:t>Innovation Strategy: </a:t>
            </a:r>
            <a:r>
              <a:rPr lang="en-US"/>
              <a:t>Introduce new products and services, add new features to existing products and services, or develop new ways to produce them (Classic Example: the first introduction of automated teller machines (ATMs) by Citibank).</a:t>
            </a:r>
            <a:endParaRPr/>
          </a:p>
          <a:p>
            <a:pPr indent="-228600" lvl="0" marL="228600" rtl="0" algn="l">
              <a:spcBef>
                <a:spcPts val="0"/>
              </a:spcBef>
              <a:spcAft>
                <a:spcPts val="0"/>
              </a:spcAft>
              <a:buClr>
                <a:schemeClr val="dk1"/>
              </a:buClr>
              <a:buSzPts val="1200"/>
              <a:buFont typeface="Calibri"/>
              <a:buAutoNum type="arabicPeriod"/>
            </a:pPr>
            <a:r>
              <a:rPr b="1" lang="en-US"/>
              <a:t>Operational Effectiveness Strategy: </a:t>
            </a:r>
            <a:r>
              <a:rPr lang="en-US"/>
              <a:t>Improve the manner in which a firm executes its internal business processes so that it performs these activities more effectively than its rivals. Such improvements increase quality, productivity, and employee and customer satisfaction while decreasing time to market.</a:t>
            </a:r>
            <a:endParaRPr/>
          </a:p>
          <a:p>
            <a:pPr indent="-228600" lvl="0" marL="228600" rtl="0" algn="l">
              <a:spcBef>
                <a:spcPts val="0"/>
              </a:spcBef>
              <a:spcAft>
                <a:spcPts val="0"/>
              </a:spcAft>
              <a:buClr>
                <a:schemeClr val="dk1"/>
              </a:buClr>
              <a:buSzPts val="1200"/>
              <a:buFont typeface="Calibri"/>
              <a:buAutoNum type="arabicPeriod"/>
            </a:pPr>
            <a:r>
              <a:rPr b="1" lang="en-US"/>
              <a:t>Customer Orientation Strategy: </a:t>
            </a:r>
            <a:r>
              <a:rPr lang="en-US"/>
              <a:t>Concentrate on making customers happy. Web-based systems are particularly effective in this area because they can create a personalized, one-to-one relationship with each customer.</a:t>
            </a:r>
            <a:endParaRPr/>
          </a:p>
          <a:p>
            <a:pPr indent="0" lvl="0" marL="0" rtl="0" algn="l">
              <a:spcBef>
                <a:spcPts val="0"/>
              </a:spcBef>
              <a:spcAft>
                <a:spcPts val="0"/>
              </a:spcAft>
              <a:buNone/>
            </a:pPr>
            <a:r>
              <a:t/>
            </a:r>
            <a:endParaRPr/>
          </a:p>
        </p:txBody>
      </p:sp>
      <p:sp>
        <p:nvSpPr>
          <p:cNvPr id="400" name="Google Shape;400;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Competitive Advantage Strategies:</a:t>
            </a:r>
            <a:endParaRPr b="1" u="sng"/>
          </a:p>
          <a:p>
            <a:pPr indent="-228600" lvl="0" marL="228600" rtl="0" algn="l">
              <a:spcBef>
                <a:spcPts val="0"/>
              </a:spcBef>
              <a:spcAft>
                <a:spcPts val="0"/>
              </a:spcAft>
              <a:buClr>
                <a:schemeClr val="dk1"/>
              </a:buClr>
              <a:buSzPts val="1200"/>
              <a:buFont typeface="Calibri"/>
              <a:buAutoNum type="arabicPeriod"/>
            </a:pPr>
            <a:r>
              <a:rPr b="1" lang="en-US"/>
              <a:t>Cost leadership strategy: </a:t>
            </a:r>
            <a:r>
              <a:rPr lang="en-US"/>
              <a:t>Produce products and/or services at the lowest cost in the industry (e.g., Walmart’s automatic inventory replenishment system).</a:t>
            </a:r>
            <a:endParaRPr/>
          </a:p>
          <a:p>
            <a:pPr indent="-228600" lvl="0" marL="228600" rtl="0" algn="l">
              <a:spcBef>
                <a:spcPts val="0"/>
              </a:spcBef>
              <a:spcAft>
                <a:spcPts val="0"/>
              </a:spcAft>
              <a:buClr>
                <a:schemeClr val="dk1"/>
              </a:buClr>
              <a:buSzPts val="1200"/>
              <a:buFont typeface="Calibri"/>
              <a:buAutoNum type="arabicPeriod"/>
            </a:pPr>
            <a:r>
              <a:rPr b="1" lang="en-US"/>
              <a:t>Differentiation Strategy: </a:t>
            </a:r>
            <a:r>
              <a:rPr lang="en-US"/>
              <a:t>Offering different products, services, or product features than your competitors (e.g., Southwest Airlines has differentiated itself as a low-cost, short-haul, express airline).</a:t>
            </a:r>
            <a:endParaRPr/>
          </a:p>
          <a:p>
            <a:pPr indent="-228600" lvl="0" marL="228600" rtl="0" algn="l">
              <a:spcBef>
                <a:spcPts val="0"/>
              </a:spcBef>
              <a:spcAft>
                <a:spcPts val="0"/>
              </a:spcAft>
              <a:buClr>
                <a:schemeClr val="dk1"/>
              </a:buClr>
              <a:buSzPts val="1200"/>
              <a:buFont typeface="Calibri"/>
              <a:buAutoNum type="arabicPeriod"/>
            </a:pPr>
            <a:r>
              <a:rPr b="1" lang="en-US"/>
              <a:t>Innovation Strategy: </a:t>
            </a:r>
            <a:r>
              <a:rPr lang="en-US"/>
              <a:t>Introduce new products and services, add new features to existing products and services, or develop new ways to produce them (Classic Example: the first introduction of automated teller machines (ATMs) by Citibank).</a:t>
            </a:r>
            <a:endParaRPr/>
          </a:p>
          <a:p>
            <a:pPr indent="-228600" lvl="0" marL="228600" rtl="0" algn="l">
              <a:spcBef>
                <a:spcPts val="0"/>
              </a:spcBef>
              <a:spcAft>
                <a:spcPts val="0"/>
              </a:spcAft>
              <a:buClr>
                <a:schemeClr val="dk1"/>
              </a:buClr>
              <a:buSzPts val="1200"/>
              <a:buFont typeface="Calibri"/>
              <a:buAutoNum type="arabicPeriod"/>
            </a:pPr>
            <a:r>
              <a:rPr b="1" lang="en-US"/>
              <a:t>Operational Effectiveness Strategy: </a:t>
            </a:r>
            <a:r>
              <a:rPr lang="en-US"/>
              <a:t>Improve the manner in which a firm executes its internal business processes so that it performs these activities more effectively than its rivals. Such improvements increase quality, productivity, and employee and customer satisfaction while decreasing time to market.</a:t>
            </a:r>
            <a:endParaRPr/>
          </a:p>
          <a:p>
            <a:pPr indent="-228600" lvl="0" marL="228600" rtl="0" algn="l">
              <a:spcBef>
                <a:spcPts val="0"/>
              </a:spcBef>
              <a:spcAft>
                <a:spcPts val="0"/>
              </a:spcAft>
              <a:buClr>
                <a:schemeClr val="dk1"/>
              </a:buClr>
              <a:buSzPts val="1200"/>
              <a:buFont typeface="Calibri"/>
              <a:buAutoNum type="arabicPeriod"/>
            </a:pPr>
            <a:r>
              <a:rPr b="1" lang="en-US"/>
              <a:t>Customer Orientation Strategy: </a:t>
            </a:r>
            <a:r>
              <a:rPr lang="en-US"/>
              <a:t>Concentrate on making customers happy. Web-based systems are particularly effective in this area because they can create a personalized, one-to-one relationship with each customer.</a:t>
            </a:r>
            <a:endParaRPr/>
          </a:p>
          <a:p>
            <a:pPr indent="0" lvl="0" marL="0" rtl="0" algn="l">
              <a:spcBef>
                <a:spcPts val="0"/>
              </a:spcBef>
              <a:spcAft>
                <a:spcPts val="0"/>
              </a:spcAft>
              <a:buNone/>
            </a:pPr>
            <a:r>
              <a:t/>
            </a:r>
            <a:endParaRPr/>
          </a:p>
        </p:txBody>
      </p:sp>
      <p:sp>
        <p:nvSpPr>
          <p:cNvPr id="407" name="Google Shape;40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Business–Information Technology Alignment: </a:t>
            </a:r>
            <a:r>
              <a:rPr lang="en-US"/>
              <a:t>IT function directly supports the business objectives of the organization through the tight integration of the IT function with the organization’s strategy, mission, and goals.</a:t>
            </a:r>
            <a:endParaRPr/>
          </a:p>
          <a:p>
            <a:pPr indent="0" lvl="0" marL="0" rtl="0" algn="l">
              <a:spcBef>
                <a:spcPts val="0"/>
              </a:spcBef>
              <a:spcAft>
                <a:spcPts val="0"/>
              </a:spcAft>
              <a:buNone/>
            </a:pPr>
            <a:r>
              <a:t/>
            </a:r>
            <a:endParaRPr/>
          </a:p>
        </p:txBody>
      </p:sp>
      <p:sp>
        <p:nvSpPr>
          <p:cNvPr id="414" name="Google Shape;41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Six Characteristics of Excellent Business-IT Alignment:</a:t>
            </a:r>
            <a:endParaRPr b="1"/>
          </a:p>
          <a:p>
            <a:pPr indent="-228600" lvl="0" marL="228600" rtl="0" algn="l">
              <a:spcBef>
                <a:spcPts val="0"/>
              </a:spcBef>
              <a:spcAft>
                <a:spcPts val="0"/>
              </a:spcAft>
              <a:buClr>
                <a:schemeClr val="dk1"/>
              </a:buClr>
              <a:buSzPts val="1200"/>
              <a:buFont typeface="Calibri"/>
              <a:buAutoNum type="arabicPeriod"/>
            </a:pPr>
            <a:r>
              <a:rPr lang="en-US"/>
              <a:t>Organizations view IT as an engine of innovation that continually transforms the business, often creating new revenue streams.</a:t>
            </a:r>
            <a:endParaRPr/>
          </a:p>
          <a:p>
            <a:pPr indent="-228600" lvl="0" marL="228600" rtl="0" algn="l">
              <a:spcBef>
                <a:spcPts val="0"/>
              </a:spcBef>
              <a:spcAft>
                <a:spcPts val="0"/>
              </a:spcAft>
              <a:buClr>
                <a:schemeClr val="dk1"/>
              </a:buClr>
              <a:buSzPts val="1200"/>
              <a:buFont typeface="Calibri"/>
              <a:buAutoNum type="arabicPeriod"/>
            </a:pPr>
            <a:r>
              <a:rPr lang="en-US"/>
              <a:t>Organizations view their internal and external customers and their customer service function as supremely important.</a:t>
            </a:r>
            <a:endParaRPr/>
          </a:p>
          <a:p>
            <a:pPr indent="-228600" lvl="0" marL="228600" rtl="0" algn="l">
              <a:spcBef>
                <a:spcPts val="0"/>
              </a:spcBef>
              <a:spcAft>
                <a:spcPts val="0"/>
              </a:spcAft>
              <a:buClr>
                <a:schemeClr val="dk1"/>
              </a:buClr>
              <a:buSzPts val="1200"/>
              <a:buFont typeface="Calibri"/>
              <a:buAutoNum type="arabicPeriod"/>
            </a:pPr>
            <a:r>
              <a:rPr lang="en-US"/>
              <a:t>Organizations rotate business and IT professionals across departments and job functions.</a:t>
            </a:r>
            <a:endParaRPr/>
          </a:p>
          <a:p>
            <a:pPr indent="-228600" lvl="0" marL="228600" rtl="0" algn="l">
              <a:spcBef>
                <a:spcPts val="0"/>
              </a:spcBef>
              <a:spcAft>
                <a:spcPts val="0"/>
              </a:spcAft>
              <a:buClr>
                <a:schemeClr val="dk1"/>
              </a:buClr>
              <a:buSzPts val="1200"/>
              <a:buFont typeface="Calibri"/>
              <a:buAutoNum type="arabicPeriod"/>
            </a:pPr>
            <a:r>
              <a:rPr lang="en-US"/>
              <a:t>Organizations provide overarching goals that are completely clear to each IT and business employee.</a:t>
            </a:r>
            <a:endParaRPr/>
          </a:p>
          <a:p>
            <a:pPr indent="-228600" lvl="0" marL="228600" rtl="0" algn="l">
              <a:spcBef>
                <a:spcPts val="0"/>
              </a:spcBef>
              <a:spcAft>
                <a:spcPts val="0"/>
              </a:spcAft>
              <a:buClr>
                <a:schemeClr val="dk1"/>
              </a:buClr>
              <a:buSzPts val="1200"/>
              <a:buFont typeface="Calibri"/>
              <a:buAutoNum type="arabicPeriod"/>
            </a:pPr>
            <a:r>
              <a:rPr lang="en-US"/>
              <a:t>Organizations ensure that IT employees understand how the company makes (or loses) money.</a:t>
            </a:r>
            <a:endParaRPr/>
          </a:p>
          <a:p>
            <a:pPr indent="-228600" lvl="0" marL="228600" rtl="0" algn="l">
              <a:spcBef>
                <a:spcPts val="0"/>
              </a:spcBef>
              <a:spcAft>
                <a:spcPts val="0"/>
              </a:spcAft>
              <a:buClr>
                <a:schemeClr val="dk1"/>
              </a:buClr>
              <a:buSzPts val="1200"/>
              <a:buFont typeface="Calibri"/>
              <a:buAutoNum type="arabicPeriod"/>
            </a:pPr>
            <a:r>
              <a:rPr lang="en-US"/>
              <a:t>Organizations create a vibrant and inclusive company culture.</a:t>
            </a:r>
            <a:endParaRPr/>
          </a:p>
          <a:p>
            <a:pPr indent="0" lvl="0" marL="0" rtl="0" algn="l">
              <a:spcBef>
                <a:spcPts val="0"/>
              </a:spcBef>
              <a:spcAft>
                <a:spcPts val="0"/>
              </a:spcAft>
              <a:buNone/>
            </a:pPr>
            <a:r>
              <a:t/>
            </a:r>
            <a:endParaRPr/>
          </a:p>
        </p:txBody>
      </p:sp>
      <p:sp>
        <p:nvSpPr>
          <p:cNvPr id="421" name="Google Shape;42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Six Characteristics of Excellent Business-IT Alignment:</a:t>
            </a:r>
            <a:endParaRPr b="1"/>
          </a:p>
          <a:p>
            <a:pPr indent="-228600" lvl="0" marL="228600" rtl="0" algn="l">
              <a:spcBef>
                <a:spcPts val="0"/>
              </a:spcBef>
              <a:spcAft>
                <a:spcPts val="0"/>
              </a:spcAft>
              <a:buClr>
                <a:schemeClr val="dk1"/>
              </a:buClr>
              <a:buSzPts val="1200"/>
              <a:buFont typeface="Calibri"/>
              <a:buAutoNum type="arabicPeriod"/>
            </a:pPr>
            <a:r>
              <a:rPr lang="en-US"/>
              <a:t>Organizations view IT as an engine of innovation that continually transforms the business, often creating new revenue streams.</a:t>
            </a:r>
            <a:endParaRPr/>
          </a:p>
          <a:p>
            <a:pPr indent="-228600" lvl="0" marL="228600" rtl="0" algn="l">
              <a:spcBef>
                <a:spcPts val="0"/>
              </a:spcBef>
              <a:spcAft>
                <a:spcPts val="0"/>
              </a:spcAft>
              <a:buClr>
                <a:schemeClr val="dk1"/>
              </a:buClr>
              <a:buSzPts val="1200"/>
              <a:buFont typeface="Calibri"/>
              <a:buAutoNum type="arabicPeriod"/>
            </a:pPr>
            <a:r>
              <a:rPr lang="en-US"/>
              <a:t>Organizations view their internal and external customers and their customer service function as supremely important.</a:t>
            </a:r>
            <a:endParaRPr/>
          </a:p>
          <a:p>
            <a:pPr indent="-228600" lvl="0" marL="228600" rtl="0" algn="l">
              <a:spcBef>
                <a:spcPts val="0"/>
              </a:spcBef>
              <a:spcAft>
                <a:spcPts val="0"/>
              </a:spcAft>
              <a:buClr>
                <a:schemeClr val="dk1"/>
              </a:buClr>
              <a:buSzPts val="1200"/>
              <a:buFont typeface="Calibri"/>
              <a:buAutoNum type="arabicPeriod"/>
            </a:pPr>
            <a:r>
              <a:rPr lang="en-US"/>
              <a:t>Organizations rotate business and IT professionals across departments and job functions.</a:t>
            </a:r>
            <a:endParaRPr/>
          </a:p>
          <a:p>
            <a:pPr indent="-228600" lvl="0" marL="228600" rtl="0" algn="l">
              <a:spcBef>
                <a:spcPts val="0"/>
              </a:spcBef>
              <a:spcAft>
                <a:spcPts val="0"/>
              </a:spcAft>
              <a:buClr>
                <a:schemeClr val="dk1"/>
              </a:buClr>
              <a:buSzPts val="1200"/>
              <a:buFont typeface="Calibri"/>
              <a:buAutoNum type="arabicPeriod"/>
            </a:pPr>
            <a:r>
              <a:rPr lang="en-US"/>
              <a:t>Organizations provide overarching goals that are completely clear to each IT and business employee.</a:t>
            </a:r>
            <a:endParaRPr/>
          </a:p>
          <a:p>
            <a:pPr indent="-228600" lvl="0" marL="228600" rtl="0" algn="l">
              <a:spcBef>
                <a:spcPts val="0"/>
              </a:spcBef>
              <a:spcAft>
                <a:spcPts val="0"/>
              </a:spcAft>
              <a:buClr>
                <a:schemeClr val="dk1"/>
              </a:buClr>
              <a:buSzPts val="1200"/>
              <a:buFont typeface="Calibri"/>
              <a:buAutoNum type="arabicPeriod"/>
            </a:pPr>
            <a:r>
              <a:rPr lang="en-US"/>
              <a:t>Organizations ensure that IT employees understand how the company makes (or loses) money.</a:t>
            </a:r>
            <a:endParaRPr/>
          </a:p>
          <a:p>
            <a:pPr indent="-228600" lvl="0" marL="228600" rtl="0" algn="l">
              <a:spcBef>
                <a:spcPts val="0"/>
              </a:spcBef>
              <a:spcAft>
                <a:spcPts val="0"/>
              </a:spcAft>
              <a:buClr>
                <a:schemeClr val="dk1"/>
              </a:buClr>
              <a:buSzPts val="1200"/>
              <a:buFont typeface="Calibri"/>
              <a:buAutoNum type="arabicPeriod"/>
            </a:pPr>
            <a:r>
              <a:rPr lang="en-US"/>
              <a:t>Organizations create a vibrant and inclusive company culture.</a:t>
            </a:r>
            <a:endParaRPr/>
          </a:p>
          <a:p>
            <a:pPr indent="0" lvl="0" marL="0" rtl="0" algn="l">
              <a:spcBef>
                <a:spcPts val="0"/>
              </a:spcBef>
              <a:spcAft>
                <a:spcPts val="0"/>
              </a:spcAft>
              <a:buNone/>
            </a:pPr>
            <a:r>
              <a:t/>
            </a:r>
            <a:endParaRPr/>
          </a:p>
        </p:txBody>
      </p:sp>
      <p:sp>
        <p:nvSpPr>
          <p:cNvPr id="428" name="Google Shape;428;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Six Characteristics of Excellent Business-IT Alignment:</a:t>
            </a:r>
            <a:endParaRPr b="1"/>
          </a:p>
          <a:p>
            <a:pPr indent="-228600" lvl="0" marL="228600" rtl="0" algn="l">
              <a:spcBef>
                <a:spcPts val="0"/>
              </a:spcBef>
              <a:spcAft>
                <a:spcPts val="0"/>
              </a:spcAft>
              <a:buClr>
                <a:schemeClr val="dk1"/>
              </a:buClr>
              <a:buSzPts val="1200"/>
              <a:buFont typeface="Calibri"/>
              <a:buAutoNum type="arabicPeriod"/>
            </a:pPr>
            <a:r>
              <a:rPr lang="en-US"/>
              <a:t>Organizations view IT as an engine of innovation that continually transforms the business, often creating new revenue streams.</a:t>
            </a:r>
            <a:endParaRPr/>
          </a:p>
          <a:p>
            <a:pPr indent="-228600" lvl="0" marL="228600" rtl="0" algn="l">
              <a:spcBef>
                <a:spcPts val="0"/>
              </a:spcBef>
              <a:spcAft>
                <a:spcPts val="0"/>
              </a:spcAft>
              <a:buClr>
                <a:schemeClr val="dk1"/>
              </a:buClr>
              <a:buSzPts val="1200"/>
              <a:buFont typeface="Calibri"/>
              <a:buAutoNum type="arabicPeriod"/>
            </a:pPr>
            <a:r>
              <a:rPr lang="en-US"/>
              <a:t>Organizations view their internal and external customers and their customer service function as supremely important.</a:t>
            </a:r>
            <a:endParaRPr/>
          </a:p>
          <a:p>
            <a:pPr indent="-228600" lvl="0" marL="228600" rtl="0" algn="l">
              <a:spcBef>
                <a:spcPts val="0"/>
              </a:spcBef>
              <a:spcAft>
                <a:spcPts val="0"/>
              </a:spcAft>
              <a:buClr>
                <a:schemeClr val="dk1"/>
              </a:buClr>
              <a:buSzPts val="1200"/>
              <a:buFont typeface="Calibri"/>
              <a:buAutoNum type="arabicPeriod"/>
            </a:pPr>
            <a:r>
              <a:rPr lang="en-US"/>
              <a:t>Organizations rotate business and IT professionals across departments and job functions.</a:t>
            </a:r>
            <a:endParaRPr/>
          </a:p>
          <a:p>
            <a:pPr indent="-228600" lvl="0" marL="228600" rtl="0" algn="l">
              <a:spcBef>
                <a:spcPts val="0"/>
              </a:spcBef>
              <a:spcAft>
                <a:spcPts val="0"/>
              </a:spcAft>
              <a:buClr>
                <a:schemeClr val="dk1"/>
              </a:buClr>
              <a:buSzPts val="1200"/>
              <a:buFont typeface="Calibri"/>
              <a:buAutoNum type="arabicPeriod"/>
            </a:pPr>
            <a:r>
              <a:rPr lang="en-US"/>
              <a:t>Organizations provide overarching goals that are completely clear to each IT and business employee.</a:t>
            </a:r>
            <a:endParaRPr/>
          </a:p>
          <a:p>
            <a:pPr indent="-228600" lvl="0" marL="228600" rtl="0" algn="l">
              <a:spcBef>
                <a:spcPts val="0"/>
              </a:spcBef>
              <a:spcAft>
                <a:spcPts val="0"/>
              </a:spcAft>
              <a:buClr>
                <a:schemeClr val="dk1"/>
              </a:buClr>
              <a:buSzPts val="1200"/>
              <a:buFont typeface="Calibri"/>
              <a:buAutoNum type="arabicPeriod"/>
            </a:pPr>
            <a:r>
              <a:rPr lang="en-US"/>
              <a:t>Organizations ensure that IT employees understand how the company makes (or loses) money.</a:t>
            </a:r>
            <a:endParaRPr/>
          </a:p>
          <a:p>
            <a:pPr indent="-228600" lvl="0" marL="228600" rtl="0" algn="l">
              <a:spcBef>
                <a:spcPts val="0"/>
              </a:spcBef>
              <a:spcAft>
                <a:spcPts val="0"/>
              </a:spcAft>
              <a:buClr>
                <a:schemeClr val="dk1"/>
              </a:buClr>
              <a:buSzPts val="1200"/>
              <a:buFont typeface="Calibri"/>
              <a:buAutoNum type="arabicPeriod"/>
            </a:pPr>
            <a:r>
              <a:rPr lang="en-US"/>
              <a:t>Organizations create a vibrant and inclusive company culture.</a:t>
            </a:r>
            <a:endParaRPr/>
          </a:p>
          <a:p>
            <a:pPr indent="0" lvl="0" marL="0" rtl="0" algn="l">
              <a:spcBef>
                <a:spcPts val="0"/>
              </a:spcBef>
              <a:spcAft>
                <a:spcPts val="0"/>
              </a:spcAft>
              <a:buNone/>
            </a:pPr>
            <a:r>
              <a:t/>
            </a:r>
            <a:endParaRPr/>
          </a:p>
        </p:txBody>
      </p:sp>
      <p:sp>
        <p:nvSpPr>
          <p:cNvPr id="435" name="Google Shape;43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Title">
  <p:cSld name="Chapter Title">
    <p:spTree>
      <p:nvGrpSpPr>
        <p:cNvPr id="15" name="Shape 15"/>
        <p:cNvGrpSpPr/>
        <p:nvPr/>
      </p:nvGrpSpPr>
      <p:grpSpPr>
        <a:xfrm>
          <a:off x="0" y="0"/>
          <a:ext cx="0" cy="0"/>
          <a:chOff x="0" y="0"/>
          <a:chExt cx="0" cy="0"/>
        </a:xfrm>
      </p:grpSpPr>
      <p:pic>
        <p:nvPicPr>
          <p:cNvPr id="16" name="Google Shape;16;p46"/>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7" name="Google Shape;17;p46"/>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aramond"/>
              <a:ea typeface="Garamond"/>
              <a:cs typeface="Garamond"/>
              <a:sym typeface="Garamond"/>
            </a:endParaRPr>
          </a:p>
        </p:txBody>
      </p:sp>
      <p:sp>
        <p:nvSpPr>
          <p:cNvPr id="18" name="Google Shape;18;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46"/>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46"/>
          <p:cNvSpPr txBox="1"/>
          <p:nvPr/>
        </p:nvSpPr>
        <p:spPr>
          <a:xfrm>
            <a:off x="685800" y="2133600"/>
            <a:ext cx="23622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8888"/>
              </a:lnSpc>
              <a:spcBef>
                <a:spcPts val="0"/>
              </a:spcBef>
              <a:spcAft>
                <a:spcPts val="0"/>
              </a:spcAft>
              <a:buClr>
                <a:srgbClr val="7F7F7F"/>
              </a:buClr>
              <a:buSzPts val="3600"/>
              <a:buFont typeface="Arial"/>
              <a:buNone/>
            </a:pPr>
            <a:r>
              <a:rPr b="0" i="0" lang="en-US" sz="3600" u="none" cap="none" strike="noStrike">
                <a:solidFill>
                  <a:srgbClr val="7F7F7F"/>
                </a:solidFill>
                <a:latin typeface="Verdana"/>
                <a:ea typeface="Verdana"/>
                <a:cs typeface="Verdana"/>
                <a:sym typeface="Verdana"/>
              </a:rPr>
              <a:t>CHAPTER</a:t>
            </a:r>
            <a:endParaRPr b="0" i="0" sz="3600" u="none" cap="none" strike="noStrike">
              <a:solidFill>
                <a:srgbClr val="7F7F7F"/>
              </a:solidFill>
              <a:latin typeface="Verdana"/>
              <a:ea typeface="Verdana"/>
              <a:cs typeface="Verdana"/>
              <a:sym typeface="Verdana"/>
            </a:endParaRPr>
          </a:p>
        </p:txBody>
      </p:sp>
      <p:cxnSp>
        <p:nvCxnSpPr>
          <p:cNvPr id="21" name="Google Shape;21;p46"/>
          <p:cNvCxnSpPr/>
          <p:nvPr/>
        </p:nvCxnSpPr>
        <p:spPr>
          <a:xfrm rot="10800000">
            <a:off x="3048000" y="3352800"/>
            <a:ext cx="1143000" cy="0"/>
          </a:xfrm>
          <a:prstGeom prst="straightConnector1">
            <a:avLst/>
          </a:prstGeom>
          <a:noFill/>
          <a:ln cap="flat" cmpd="sng" w="38100">
            <a:solidFill>
              <a:srgbClr val="BFBFBF"/>
            </a:solidFill>
            <a:prstDash val="solid"/>
            <a:round/>
            <a:headEnd len="sm" w="sm" type="none"/>
            <a:tailEnd len="sm" w="sm" type="none"/>
          </a:ln>
        </p:spPr>
      </p:cxnSp>
      <p:sp>
        <p:nvSpPr>
          <p:cNvPr id="22" name="Google Shape;22;p46"/>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Outline" type="obj">
  <p:cSld name="OBJECT">
    <p:spTree>
      <p:nvGrpSpPr>
        <p:cNvPr id="23" name="Shape 23"/>
        <p:cNvGrpSpPr/>
        <p:nvPr/>
      </p:nvGrpSpPr>
      <p:grpSpPr>
        <a:xfrm>
          <a:off x="0" y="0"/>
          <a:ext cx="0" cy="0"/>
          <a:chOff x="0" y="0"/>
          <a:chExt cx="0" cy="0"/>
        </a:xfrm>
      </p:grpSpPr>
      <p:sp>
        <p:nvSpPr>
          <p:cNvPr id="24" name="Google Shape;24;p47"/>
          <p:cNvSpPr/>
          <p:nvPr/>
        </p:nvSpPr>
        <p:spPr>
          <a:xfrm>
            <a:off x="6781800" y="6362700"/>
            <a:ext cx="2362200" cy="342900"/>
          </a:xfrm>
          <a:prstGeom prst="rect">
            <a:avLst/>
          </a:prstGeom>
          <a:solidFill>
            <a:srgbClr val="00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25" name="Google Shape;25;p47"/>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0CCFF"/>
              </a:buClr>
              <a:buSzPts val="4400"/>
              <a:buFont typeface="Verdana"/>
              <a:buNone/>
              <a:defRPr b="0" sz="4400">
                <a:solidFill>
                  <a:srgbClr val="00CCFF"/>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7"/>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00B0F0"/>
              </a:buClr>
              <a:buSzPts val="3200"/>
              <a:buFont typeface="Georgia"/>
              <a:buAutoNum type="arabicPeriod"/>
              <a:defRPr>
                <a:latin typeface="Verdana"/>
                <a:ea typeface="Verdana"/>
                <a:cs typeface="Verdana"/>
                <a:sym typeface="Verdana"/>
              </a:defRPr>
            </a:lvl1pPr>
            <a:lvl2pPr indent="-406400" lvl="1" marL="914400" algn="l">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7" name="Google Shape;2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28" name="Google Shape;28;p47"/>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29" name="Google Shape;29;p47"/>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2">
  <p:cSld name="Topic Level2">
    <p:spTree>
      <p:nvGrpSpPr>
        <p:cNvPr id="30" name="Shape 30"/>
        <p:cNvGrpSpPr/>
        <p:nvPr/>
      </p:nvGrpSpPr>
      <p:grpSpPr>
        <a:xfrm>
          <a:off x="0" y="0"/>
          <a:ext cx="0" cy="0"/>
          <a:chOff x="0" y="0"/>
          <a:chExt cx="0" cy="0"/>
        </a:xfrm>
      </p:grpSpPr>
      <p:sp>
        <p:nvSpPr>
          <p:cNvPr id="31" name="Google Shape;31;p48"/>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32" name="Google Shape;32;p48"/>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33" name="Google Shape;33;p48"/>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34" name="Google Shape;34;p48"/>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5" name="Google Shape;35;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48"/>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lvl1pPr indent="-228600" lvl="0" marL="457200" algn="ctr">
              <a:spcBef>
                <a:spcPts val="1440"/>
              </a:spcBef>
              <a:spcAft>
                <a:spcPts val="0"/>
              </a:spcAft>
              <a:buClr>
                <a:srgbClr val="7F7F7F"/>
              </a:buClr>
              <a:buSzPts val="7200"/>
              <a:buNone/>
              <a:defRPr sz="7200">
                <a:solidFill>
                  <a:srgbClr val="7F7F7F"/>
                </a:solidFill>
                <a:latin typeface="Century Gothic"/>
                <a:ea typeface="Century Gothic"/>
                <a:cs typeface="Century Gothic"/>
                <a:sym typeface="Century Gothic"/>
              </a:defRPr>
            </a:lvl1pPr>
            <a:lvl2pPr indent="-228600" lvl="1" marL="914400" algn="l">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48"/>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38" name="Google Shape;38;p48"/>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lide_Level3">
  <p:cSld name="ImageSlide_Level3">
    <p:spTree>
      <p:nvGrpSpPr>
        <p:cNvPr id="39" name="Shape 39"/>
        <p:cNvGrpSpPr/>
        <p:nvPr/>
      </p:nvGrpSpPr>
      <p:grpSpPr>
        <a:xfrm>
          <a:off x="0" y="0"/>
          <a:ext cx="0" cy="0"/>
          <a:chOff x="0" y="0"/>
          <a:chExt cx="0" cy="0"/>
        </a:xfrm>
      </p:grpSpPr>
      <p:sp>
        <p:nvSpPr>
          <p:cNvPr id="40" name="Google Shape;40;p49"/>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1" name="Google Shape;41;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49"/>
          <p:cNvSpPr txBox="1"/>
          <p:nvPr>
            <p:ph idx="2" type="body"/>
          </p:nvPr>
        </p:nvSpPr>
        <p:spPr>
          <a:xfrm>
            <a:off x="457200" y="1828800"/>
            <a:ext cx="8153400" cy="4800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43" name="Google Shape;43;p49"/>
          <p:cNvCxnSpPr/>
          <p:nvPr/>
        </p:nvCxnSpPr>
        <p:spPr>
          <a:xfrm>
            <a:off x="0" y="16764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3">
  <p:cSld name="Topic Level3">
    <p:spTree>
      <p:nvGrpSpPr>
        <p:cNvPr id="44" name="Shape 44"/>
        <p:cNvGrpSpPr/>
        <p:nvPr/>
      </p:nvGrpSpPr>
      <p:grpSpPr>
        <a:xfrm>
          <a:off x="0" y="0"/>
          <a:ext cx="0" cy="0"/>
          <a:chOff x="0" y="0"/>
          <a:chExt cx="0" cy="0"/>
        </a:xfrm>
      </p:grpSpPr>
      <p:sp>
        <p:nvSpPr>
          <p:cNvPr id="45" name="Google Shape;45;p50"/>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46" name="Google Shape;46;p50"/>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47" name="Google Shape;47;p50"/>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48" name="Google Shape;48;p5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9" name="Google Shape;49;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50" name="Google Shape;50;p50"/>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1" name="Google Shape;51;p50"/>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4">
  <p:cSld name="Topic Level4">
    <p:spTree>
      <p:nvGrpSpPr>
        <p:cNvPr id="52" name="Shape 52"/>
        <p:cNvGrpSpPr/>
        <p:nvPr/>
      </p:nvGrpSpPr>
      <p:grpSpPr>
        <a:xfrm>
          <a:off x="0" y="0"/>
          <a:ext cx="0" cy="0"/>
          <a:chOff x="0" y="0"/>
          <a:chExt cx="0" cy="0"/>
        </a:xfrm>
      </p:grpSpPr>
      <p:sp>
        <p:nvSpPr>
          <p:cNvPr id="53" name="Google Shape;53;p51"/>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54" name="Google Shape;54;p51"/>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55" name="Google Shape;55;p51"/>
          <p:cNvSpPr/>
          <p:nvPr/>
        </p:nvSpPr>
        <p:spPr>
          <a:xfrm>
            <a:off x="6781800" y="6362700"/>
            <a:ext cx="2362200" cy="342900"/>
          </a:xfrm>
          <a:prstGeom prst="rect">
            <a:avLst/>
          </a:prstGeom>
          <a:solidFill>
            <a:srgbClr val="990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56" name="Google Shape;56;p5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9900FF"/>
              </a:buClr>
              <a:buSzPts val="4400"/>
              <a:buNone/>
              <a:defRPr sz="4400">
                <a:solidFill>
                  <a:srgbClr val="9900FF"/>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57" name="Google Shape;5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5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59" name="Google Shape;59;p51"/>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Level5">
  <p:cSld name="Topic Level5">
    <p:spTree>
      <p:nvGrpSpPr>
        <p:cNvPr id="60" name="Shape 60"/>
        <p:cNvGrpSpPr/>
        <p:nvPr/>
      </p:nvGrpSpPr>
      <p:grpSpPr>
        <a:xfrm>
          <a:off x="0" y="0"/>
          <a:ext cx="0" cy="0"/>
          <a:chOff x="0" y="0"/>
          <a:chExt cx="0" cy="0"/>
        </a:xfrm>
      </p:grpSpPr>
      <p:sp>
        <p:nvSpPr>
          <p:cNvPr id="61" name="Google Shape;61;p52"/>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62" name="Google Shape;62;p52"/>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63" name="Google Shape;63;p52"/>
          <p:cNvSpPr/>
          <p:nvPr/>
        </p:nvSpPr>
        <p:spPr>
          <a:xfrm>
            <a:off x="6781800" y="6362700"/>
            <a:ext cx="2362200" cy="3429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64" name="Google Shape;64;p5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chemeClr val="dk1"/>
              </a:buClr>
              <a:buSzPts val="4400"/>
              <a:buNone/>
              <a:defRPr sz="4400">
                <a:solidFill>
                  <a:schemeClr val="dk1"/>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5" name="Google Shape;65;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5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95959"/>
              </a:buClr>
              <a:buSzPts val="3200"/>
              <a:buChar char="•"/>
              <a:defRPr>
                <a:solidFill>
                  <a:srgbClr val="595959"/>
                </a:solidFill>
                <a:latin typeface="Verdana"/>
                <a:ea typeface="Verdana"/>
                <a:cs typeface="Verdana"/>
                <a:sym typeface="Verdana"/>
              </a:defRPr>
            </a:lvl1pPr>
            <a:lvl2pPr indent="-406400" lvl="1" marL="914400" algn="l">
              <a:spcBef>
                <a:spcPts val="560"/>
              </a:spcBef>
              <a:spcAft>
                <a:spcPts val="0"/>
              </a:spcAft>
              <a:buClr>
                <a:srgbClr val="595959"/>
              </a:buClr>
              <a:buSzPts val="2800"/>
              <a:buChar char="–"/>
              <a:defRPr>
                <a:solidFill>
                  <a:srgbClr val="595959"/>
                </a:solidFill>
                <a:latin typeface="Verdana"/>
                <a:ea typeface="Verdana"/>
                <a:cs typeface="Verdana"/>
                <a:sym typeface="Verdana"/>
              </a:defRPr>
            </a:lvl2pPr>
            <a:lvl3pPr indent="-381000" lvl="2" marL="1371600" algn="l">
              <a:spcBef>
                <a:spcPts val="480"/>
              </a:spcBef>
              <a:spcAft>
                <a:spcPts val="0"/>
              </a:spcAft>
              <a:buClr>
                <a:srgbClr val="595959"/>
              </a:buClr>
              <a:buSzPts val="2400"/>
              <a:buChar char="•"/>
              <a:defRPr>
                <a:solidFill>
                  <a:srgbClr val="595959"/>
                </a:solidFill>
                <a:latin typeface="Verdana"/>
                <a:ea typeface="Verdana"/>
                <a:cs typeface="Verdana"/>
                <a:sym typeface="Verdana"/>
              </a:defRPr>
            </a:lvl3pPr>
            <a:lvl4pPr indent="-355600" lvl="3" marL="1828800" algn="l">
              <a:spcBef>
                <a:spcPts val="400"/>
              </a:spcBef>
              <a:spcAft>
                <a:spcPts val="0"/>
              </a:spcAft>
              <a:buClr>
                <a:srgbClr val="595959"/>
              </a:buClr>
              <a:buSzPts val="2000"/>
              <a:buChar char="–"/>
              <a:defRPr>
                <a:solidFill>
                  <a:srgbClr val="595959"/>
                </a:solidFill>
                <a:latin typeface="Verdana"/>
                <a:ea typeface="Verdana"/>
                <a:cs typeface="Verdana"/>
                <a:sym typeface="Verdana"/>
              </a:defRPr>
            </a:lvl4pPr>
            <a:lvl5pPr indent="-355600" lvl="4" marL="2286000" algn="l">
              <a:spcBef>
                <a:spcPts val="400"/>
              </a:spcBef>
              <a:spcAft>
                <a:spcPts val="0"/>
              </a:spcAft>
              <a:buClr>
                <a:srgbClr val="595959"/>
              </a:buClr>
              <a:buSzPts val="2000"/>
              <a:buChar char="»"/>
              <a:defRPr>
                <a:solidFill>
                  <a:srgbClr val="595959"/>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67" name="Google Shape;67;p52"/>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ts_about_bus">
  <p:cSld name="Its_about_bus">
    <p:spTree>
      <p:nvGrpSpPr>
        <p:cNvPr id="68" name="Shape 68"/>
        <p:cNvGrpSpPr/>
        <p:nvPr/>
      </p:nvGrpSpPr>
      <p:grpSpPr>
        <a:xfrm>
          <a:off x="0" y="0"/>
          <a:ext cx="0" cy="0"/>
          <a:chOff x="0" y="0"/>
          <a:chExt cx="0" cy="0"/>
        </a:xfrm>
      </p:grpSpPr>
      <p:sp>
        <p:nvSpPr>
          <p:cNvPr id="69" name="Google Shape;69;p53"/>
          <p:cNvSpPr/>
          <p:nvPr/>
        </p:nvSpPr>
        <p:spPr>
          <a:xfrm>
            <a:off x="0" y="1397296"/>
            <a:ext cx="9144000" cy="4927304"/>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70" name="Google Shape;70;p53"/>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71" name="Google Shape;71;p53"/>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72" name="Google Shape;72;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53"/>
          <p:cNvSpPr txBox="1"/>
          <p:nvPr>
            <p:ph idx="1" type="body"/>
          </p:nvPr>
        </p:nvSpPr>
        <p:spPr>
          <a:xfrm>
            <a:off x="1295400" y="635296"/>
            <a:ext cx="7772400" cy="990600"/>
          </a:xfrm>
          <a:prstGeom prst="rect">
            <a:avLst/>
          </a:prstGeom>
          <a:noFill/>
          <a:ln>
            <a:noFill/>
          </a:ln>
        </p:spPr>
        <p:txBody>
          <a:bodyPr anchorCtr="0" anchor="t" bIns="45700" lIns="91425" spcFirstLastPara="1" rIns="91425" wrap="square" tIns="45700">
            <a:normAutofit/>
          </a:bodyPr>
          <a:lstStyle>
            <a:lvl1pPr indent="-228600" lvl="0" marL="457200" algn="l">
              <a:spcBef>
                <a:spcPts val="880"/>
              </a:spcBef>
              <a:spcAft>
                <a:spcPts val="0"/>
              </a:spcAft>
              <a:buClr>
                <a:srgbClr val="6600CC"/>
              </a:buClr>
              <a:buSzPts val="4400"/>
              <a:buNone/>
              <a:defRPr b="0" i="0" sz="4400">
                <a:solidFill>
                  <a:srgbClr val="6600CC"/>
                </a:solidFill>
                <a:latin typeface="Verdana"/>
                <a:ea typeface="Verdana"/>
                <a:cs typeface="Verdana"/>
                <a:sym typeface="Verdan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74" name="Google Shape;74;p53"/>
          <p:cNvCxnSpPr/>
          <p:nvPr/>
        </p:nvCxnSpPr>
        <p:spPr>
          <a:xfrm>
            <a:off x="0" y="1397296"/>
            <a:ext cx="8534400" cy="0"/>
          </a:xfrm>
          <a:prstGeom prst="straightConnector1">
            <a:avLst/>
          </a:prstGeom>
          <a:noFill/>
          <a:ln cap="flat" cmpd="sng" w="25400">
            <a:solidFill>
              <a:srgbClr val="A5A5A5"/>
            </a:solidFill>
            <a:prstDash val="solid"/>
            <a:round/>
            <a:headEnd len="sm" w="sm" type="none"/>
            <a:tailEnd len="sm" w="sm" type="none"/>
          </a:ln>
        </p:spPr>
      </p:cxnSp>
      <p:grpSp>
        <p:nvGrpSpPr>
          <p:cNvPr id="75" name="Google Shape;75;p53"/>
          <p:cNvGrpSpPr/>
          <p:nvPr/>
        </p:nvGrpSpPr>
        <p:grpSpPr>
          <a:xfrm>
            <a:off x="609600" y="228600"/>
            <a:ext cx="923260" cy="1473496"/>
            <a:chOff x="495300" y="888704"/>
            <a:chExt cx="923260" cy="1473496"/>
          </a:xfrm>
        </p:grpSpPr>
        <p:sp>
          <p:nvSpPr>
            <p:cNvPr id="76" name="Google Shape;76;p53"/>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77" name="Google Shape;77;p53"/>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78" name="Google Shape;78;p53"/>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pSp>
      <p:sp>
        <p:nvSpPr>
          <p:cNvPr id="79" name="Google Shape;79;p53"/>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b="1" sz="3200">
                <a:solidFill>
                  <a:schemeClr val="dk1"/>
                </a:solidFill>
                <a:latin typeface="Verdana"/>
                <a:ea typeface="Verdana"/>
                <a:cs typeface="Verdana"/>
                <a:sym typeface="Verdana"/>
              </a:defRPr>
            </a:lvl1pPr>
            <a:lvl2pPr indent="-381000" lvl="1" marL="914400" algn="l">
              <a:spcBef>
                <a:spcPts val="480"/>
              </a:spcBef>
              <a:spcAft>
                <a:spcPts val="0"/>
              </a:spcAft>
              <a:buClr>
                <a:srgbClr val="0000CC"/>
              </a:buClr>
              <a:buSzPts val="2400"/>
              <a:buFont typeface="Georgia"/>
              <a:buAutoNum type="arabicPeriod"/>
              <a:defRPr sz="2400">
                <a:solidFill>
                  <a:schemeClr val="dk1"/>
                </a:solidFill>
                <a:latin typeface="Verdana"/>
                <a:ea typeface="Verdana"/>
                <a:cs typeface="Verdana"/>
                <a:sym typeface="Verdana"/>
              </a:defRPr>
            </a:lvl2pPr>
            <a:lvl3pPr indent="-355600" lvl="2" marL="1371600" algn="l">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_Learning_Obj">
  <p:cSld name="Ch_Learning_Obj">
    <p:spTree>
      <p:nvGrpSpPr>
        <p:cNvPr id="80" name="Shape 80"/>
        <p:cNvGrpSpPr/>
        <p:nvPr/>
      </p:nvGrpSpPr>
      <p:grpSpPr>
        <a:xfrm>
          <a:off x="0" y="0"/>
          <a:ext cx="0" cy="0"/>
          <a:chOff x="0" y="0"/>
          <a:chExt cx="0" cy="0"/>
        </a:xfrm>
      </p:grpSpPr>
      <p:sp>
        <p:nvSpPr>
          <p:cNvPr id="81" name="Google Shape;81;p54"/>
          <p:cNvSpPr/>
          <p:nvPr/>
        </p:nvSpPr>
        <p:spPr>
          <a:xfrm>
            <a:off x="6781800" y="6362700"/>
            <a:ext cx="2362200" cy="342900"/>
          </a:xfrm>
          <a:prstGeom prst="rect">
            <a:avLst/>
          </a:prstGeom>
          <a:solidFill>
            <a:srgbClr val="FF9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82" name="Google Shape;82;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FF9900"/>
              </a:buClr>
              <a:buSzPts val="3200"/>
              <a:buFont typeface="Georgia"/>
              <a:buAutoNum type="arabicPeriod"/>
              <a:defRPr>
                <a:latin typeface="Times New Roman"/>
                <a:ea typeface="Times New Roman"/>
                <a:cs typeface="Times New Roman"/>
                <a:sym typeface="Times New Roman"/>
              </a:defRPr>
            </a:lvl1pPr>
            <a:lvl2pPr indent="-406400" lvl="1" marL="914400" algn="l">
              <a:spcBef>
                <a:spcPts val="560"/>
              </a:spcBef>
              <a:spcAft>
                <a:spcPts val="0"/>
              </a:spcAft>
              <a:buClr>
                <a:schemeClr val="dk1"/>
              </a:buClr>
              <a:buSzPts val="2800"/>
              <a:buChar char="–"/>
              <a:defRPr>
                <a:latin typeface="Times New Roman"/>
                <a:ea typeface="Times New Roman"/>
                <a:cs typeface="Times New Roman"/>
                <a:sym typeface="Times New Roman"/>
              </a:defRPr>
            </a:lvl2pPr>
            <a:lvl3pPr indent="-381000" lvl="2" marL="1371600" algn="l">
              <a:spcBef>
                <a:spcPts val="480"/>
              </a:spcBef>
              <a:spcAft>
                <a:spcPts val="0"/>
              </a:spcAft>
              <a:buClr>
                <a:schemeClr val="dk1"/>
              </a:buClr>
              <a:buSzPts val="2400"/>
              <a:buChar char="•"/>
              <a:defRPr>
                <a:latin typeface="Times New Roman"/>
                <a:ea typeface="Times New Roman"/>
                <a:cs typeface="Times New Roman"/>
                <a:sym typeface="Times New Roman"/>
              </a:defRPr>
            </a:lvl3pPr>
            <a:lvl4pPr indent="-355600" lvl="3" marL="1828800" algn="l">
              <a:spcBef>
                <a:spcPts val="400"/>
              </a:spcBef>
              <a:spcAft>
                <a:spcPts val="0"/>
              </a:spcAft>
              <a:buClr>
                <a:schemeClr val="dk1"/>
              </a:buClr>
              <a:buSzPts val="2000"/>
              <a:buChar char="–"/>
              <a:defRPr>
                <a:latin typeface="Times New Roman"/>
                <a:ea typeface="Times New Roman"/>
                <a:cs typeface="Times New Roman"/>
                <a:sym typeface="Times New Roman"/>
              </a:defRPr>
            </a:lvl4pPr>
            <a:lvl5pPr indent="-355600" lvl="4" marL="2286000" algn="l">
              <a:spcBef>
                <a:spcPts val="400"/>
              </a:spcBef>
              <a:spcAft>
                <a:spcPts val="0"/>
              </a:spcAft>
              <a:buClr>
                <a:schemeClr val="dk1"/>
              </a:buClr>
              <a:buSzPts val="2000"/>
              <a:buChar char="»"/>
              <a:defRPr>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cxnSp>
        <p:nvCxnSpPr>
          <p:cNvPr id="84" name="Google Shape;84;p54"/>
          <p:cNvCxnSpPr/>
          <p:nvPr/>
        </p:nvCxnSpPr>
        <p:spPr>
          <a:xfrm>
            <a:off x="609600" y="6324600"/>
            <a:ext cx="8534400" cy="0"/>
          </a:xfrm>
          <a:prstGeom prst="straightConnector1">
            <a:avLst/>
          </a:prstGeom>
          <a:noFill/>
          <a:ln cap="flat" cmpd="sng" w="25400">
            <a:solidFill>
              <a:srgbClr val="C2D59B"/>
            </a:solidFill>
            <a:prstDash val="solid"/>
            <a:round/>
            <a:headEnd len="sm" w="sm" type="none"/>
            <a:tailEnd len="sm" w="sm" type="none"/>
          </a:ln>
        </p:spPr>
      </p:cxnSp>
      <p:cxnSp>
        <p:nvCxnSpPr>
          <p:cNvPr id="85" name="Google Shape;85;p54"/>
          <p:cNvCxnSpPr/>
          <p:nvPr/>
        </p:nvCxnSpPr>
        <p:spPr>
          <a:xfrm>
            <a:off x="0" y="304800"/>
            <a:ext cx="8534400" cy="0"/>
          </a:xfrm>
          <a:prstGeom prst="straightConnector1">
            <a:avLst/>
          </a:prstGeom>
          <a:noFill/>
          <a:ln cap="flat" cmpd="sng" w="25400">
            <a:solidFill>
              <a:srgbClr val="C2D59B"/>
            </a:solidFill>
            <a:prstDash val="solid"/>
            <a:round/>
            <a:headEnd len="sm" w="sm" type="none"/>
            <a:tailEnd len="sm" w="sm" type="none"/>
          </a:ln>
        </p:spPr>
      </p:cxnSp>
      <p:sp>
        <p:nvSpPr>
          <p:cNvPr id="86" name="Google Shape;86;p54"/>
          <p:cNvSpPr txBox="1"/>
          <p:nvPr>
            <p:ph idx="2" type="subTitle"/>
          </p:nvPr>
        </p:nvSpPr>
        <p:spPr>
          <a:xfrm>
            <a:off x="457200" y="533400"/>
            <a:ext cx="8686800" cy="1066800"/>
          </a:xfrm>
          <a:prstGeom prst="rect">
            <a:avLst/>
          </a:prstGeom>
          <a:noFill/>
          <a:ln>
            <a:noFill/>
          </a:ln>
        </p:spPr>
        <p:txBody>
          <a:bodyPr anchorCtr="0" anchor="t" bIns="45700" lIns="91425" spcFirstLastPara="1" rIns="91425" wrap="square" tIns="45700">
            <a:normAutofit/>
          </a:bodyPr>
          <a:lstStyle>
            <a:lvl1pPr lvl="0" algn="l">
              <a:lnSpc>
                <a:spcPct val="154545"/>
              </a:lnSpc>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7" name="Google Shape;87;p54"/>
          <p:cNvSpPr txBox="1"/>
          <p:nvPr/>
        </p:nvSpPr>
        <p:spPr>
          <a:xfrm>
            <a:off x="7263063" y="533400"/>
            <a:ext cx="1652337"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54545"/>
              </a:lnSpc>
              <a:spcBef>
                <a:spcPts val="0"/>
              </a:spcBef>
              <a:spcAft>
                <a:spcPts val="0"/>
              </a:spcAft>
              <a:buClr>
                <a:srgbClr val="538CD5"/>
              </a:buClr>
              <a:buSzPts val="4400"/>
              <a:buFont typeface="Arial"/>
              <a:buNone/>
            </a:pPr>
            <a:r>
              <a:rPr lang="en-US" sz="4400">
                <a:solidFill>
                  <a:srgbClr val="538CD5"/>
                </a:solidFill>
                <a:latin typeface="Verdana"/>
                <a:ea typeface="Verdana"/>
                <a:cs typeface="Verdana"/>
                <a:sym typeface="Verdana"/>
              </a:rPr>
              <a:t>&gt;&gt;&gt;</a:t>
            </a:r>
            <a:endParaRPr sz="4400">
              <a:solidFill>
                <a:srgbClr val="538CD5"/>
              </a:solidFill>
              <a:latin typeface="Verdana"/>
              <a:ea typeface="Verdana"/>
              <a:cs typeface="Verdana"/>
              <a:sym typeface="Verdan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Case">
  <p:cSld name="Opening Case">
    <p:spTree>
      <p:nvGrpSpPr>
        <p:cNvPr id="88" name="Shape 88"/>
        <p:cNvGrpSpPr/>
        <p:nvPr/>
      </p:nvGrpSpPr>
      <p:grpSpPr>
        <a:xfrm>
          <a:off x="0" y="0"/>
          <a:ext cx="0" cy="0"/>
          <a:chOff x="0" y="0"/>
          <a:chExt cx="0" cy="0"/>
        </a:xfrm>
      </p:grpSpPr>
      <p:cxnSp>
        <p:nvCxnSpPr>
          <p:cNvPr id="89" name="Google Shape;89;p55"/>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90" name="Google Shape;90;p55"/>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91" name="Google Shape;91;p55"/>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92" name="Google Shape;92;p55"/>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55"/>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b="1" sz="3200">
                <a:latin typeface="Verdana"/>
                <a:ea typeface="Verdana"/>
                <a:cs typeface="Verdana"/>
                <a:sym typeface="Verdana"/>
              </a:defRPr>
            </a:lvl1pPr>
            <a:lvl2pPr indent="-381000" lvl="1" marL="914400" algn="l">
              <a:spcBef>
                <a:spcPts val="480"/>
              </a:spcBef>
              <a:spcAft>
                <a:spcPts val="0"/>
              </a:spcAft>
              <a:buClr>
                <a:srgbClr val="366092"/>
              </a:buClr>
              <a:buSzPts val="2400"/>
              <a:buFont typeface="Georgia"/>
              <a:buAutoNum type="arabicPeriod"/>
              <a:defRPr sz="2400">
                <a:solidFill>
                  <a:schemeClr val="dk1"/>
                </a:solidFill>
                <a:latin typeface="Verdana"/>
                <a:ea typeface="Verdana"/>
                <a:cs typeface="Verdana"/>
                <a:sym typeface="Verdana"/>
              </a:defRPr>
            </a:lvl2pPr>
            <a:lvl3pPr indent="-355600" lvl="2" marL="1371600" algn="l">
              <a:spcBef>
                <a:spcPts val="400"/>
              </a:spcBef>
              <a:spcAft>
                <a:spcPts val="0"/>
              </a:spcAft>
              <a:buClr>
                <a:schemeClr val="dk1"/>
              </a:buClr>
              <a:buSzPts val="2000"/>
              <a:buChar char="•"/>
              <a:defRPr sz="2000">
                <a:solidFill>
                  <a:schemeClr val="dk1"/>
                </a:solidFill>
                <a:latin typeface="Verdana"/>
                <a:ea typeface="Verdana"/>
                <a:cs typeface="Verdana"/>
                <a:sym typeface="Verdana"/>
              </a:defRPr>
            </a:lvl3pPr>
            <a:lvl4pPr indent="-342900" lvl="3" marL="18288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4pPr>
            <a:lvl5pPr indent="-342900" lvl="4" marL="2286000" algn="l">
              <a:spcBef>
                <a:spcPts val="360"/>
              </a:spcBef>
              <a:spcAft>
                <a:spcPts val="0"/>
              </a:spcAft>
              <a:buClr>
                <a:schemeClr val="dk1"/>
              </a:buClr>
              <a:buSzPts val="1800"/>
              <a:buChar char="»"/>
              <a:defRPr sz="18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55"/>
          <p:cNvSpPr txBox="1"/>
          <p:nvPr>
            <p:ph type="title"/>
          </p:nvPr>
        </p:nvSpPr>
        <p:spPr>
          <a:xfrm>
            <a:off x="3276600" y="228600"/>
            <a:ext cx="22098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366092"/>
              </a:buClr>
              <a:buSzPts val="4400"/>
              <a:buFont typeface="Verdana"/>
              <a:buNone/>
              <a:defRPr b="1" sz="4400">
                <a:solidFill>
                  <a:srgbClr val="366092"/>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55"/>
          <p:cNvSpPr txBox="1"/>
          <p:nvPr/>
        </p:nvSpPr>
        <p:spPr>
          <a:xfrm>
            <a:off x="457200" y="228600"/>
            <a:ext cx="32766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66092"/>
              </a:buClr>
              <a:buSzPts val="4400"/>
              <a:buFont typeface="Verdana"/>
              <a:buNone/>
            </a:pPr>
            <a:r>
              <a:rPr b="0" lang="en-US" sz="4400">
                <a:solidFill>
                  <a:srgbClr val="366092"/>
                </a:solidFill>
                <a:latin typeface="Verdana"/>
                <a:ea typeface="Verdana"/>
                <a:cs typeface="Verdana"/>
                <a:sym typeface="Verdana"/>
              </a:rPr>
              <a:t>OPENING</a:t>
            </a:r>
            <a:endParaRPr b="0" sz="4400">
              <a:solidFill>
                <a:srgbClr val="366092"/>
              </a:solidFill>
              <a:latin typeface="Verdana"/>
              <a:ea typeface="Verdana"/>
              <a:cs typeface="Verdana"/>
              <a:sym typeface="Verdana"/>
            </a:endParaRPr>
          </a:p>
        </p:txBody>
      </p:sp>
      <p:sp>
        <p:nvSpPr>
          <p:cNvPr id="96" name="Google Shape;96;p55"/>
          <p:cNvSpPr txBox="1"/>
          <p:nvPr/>
        </p:nvSpPr>
        <p:spPr>
          <a:xfrm>
            <a:off x="5181600" y="228600"/>
            <a:ext cx="24384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600CC"/>
              </a:buClr>
              <a:buSzPts val="4400"/>
              <a:buFont typeface="Verdana"/>
              <a:buNone/>
            </a:pPr>
            <a:r>
              <a:rPr b="1" lang="en-US" sz="4400">
                <a:solidFill>
                  <a:srgbClr val="6600CC"/>
                </a:solidFill>
                <a:latin typeface="Verdana"/>
                <a:ea typeface="Verdana"/>
                <a:cs typeface="Verdana"/>
                <a:sym typeface="Verdana"/>
              </a:rPr>
              <a:t>&gt;</a:t>
            </a:r>
            <a:endParaRPr b="1" sz="4400">
              <a:solidFill>
                <a:srgbClr val="6600CC"/>
              </a:solidFill>
              <a:latin typeface="Verdana"/>
              <a:ea typeface="Verdana"/>
              <a:cs typeface="Verdana"/>
              <a:sym typeface="Verdan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zaxcv">
  <p:cSld name="Image Slidezaxcv">
    <p:spTree>
      <p:nvGrpSpPr>
        <p:cNvPr id="97" name="Shape 97"/>
        <p:cNvGrpSpPr/>
        <p:nvPr/>
      </p:nvGrpSpPr>
      <p:grpSpPr>
        <a:xfrm>
          <a:off x="0" y="0"/>
          <a:ext cx="0" cy="0"/>
          <a:chOff x="0" y="0"/>
          <a:chExt cx="0" cy="0"/>
        </a:xfrm>
      </p:grpSpPr>
      <p:cxnSp>
        <p:nvCxnSpPr>
          <p:cNvPr id="98" name="Google Shape;98;p56"/>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99" name="Google Shape;99;p56"/>
          <p:cNvSpPr/>
          <p:nvPr/>
        </p:nvSpPr>
        <p:spPr>
          <a:xfrm>
            <a:off x="6781800" y="6362700"/>
            <a:ext cx="2362200" cy="342900"/>
          </a:xfrm>
          <a:prstGeom prst="rect">
            <a:avLst/>
          </a:prstGeom>
          <a:solidFill>
            <a:srgbClr val="6600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0" name="Google Shape;100;p56"/>
          <p:cNvSpPr txBox="1"/>
          <p:nvPr>
            <p:ph idx="1" type="subTitle"/>
          </p:nvPr>
        </p:nvSpPr>
        <p:spPr>
          <a:xfrm>
            <a:off x="457200" y="76200"/>
            <a:ext cx="8153399" cy="1371600"/>
          </a:xfrm>
          <a:prstGeom prst="rect">
            <a:avLst/>
          </a:prstGeom>
          <a:noFill/>
          <a:ln>
            <a:noFill/>
          </a:ln>
        </p:spPr>
        <p:txBody>
          <a:bodyPr anchorCtr="0" anchor="b" bIns="45700" lIns="91425" spcFirstLastPara="1" rIns="91425" wrap="square" tIns="45700">
            <a:normAutofit/>
          </a:bodyPr>
          <a:lstStyle>
            <a:lvl1pPr lvl="0" algn="l">
              <a:spcBef>
                <a:spcPts val="600"/>
              </a:spcBef>
              <a:spcAft>
                <a:spcPts val="0"/>
              </a:spcAft>
              <a:buClr>
                <a:srgbClr val="6600CC"/>
              </a:buClr>
              <a:buSzPts val="4400"/>
              <a:buNone/>
              <a:defRPr sz="4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01" name="Google Shape;101;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56"/>
          <p:cNvSpPr txBox="1"/>
          <p:nvPr>
            <p:ph idx="2" type="body"/>
          </p:nvPr>
        </p:nvSpPr>
        <p:spPr>
          <a:xfrm>
            <a:off x="457200" y="1524000"/>
            <a:ext cx="8153400" cy="47244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solidFill>
                  <a:schemeClr val="dk1"/>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03" name="Google Shape;103;p56"/>
          <p:cNvCxnSpPr/>
          <p:nvPr/>
        </p:nvCxnSpPr>
        <p:spPr>
          <a:xfrm>
            <a:off x="0" y="14478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g It In Title">
  <p:cSld name="1_Plug It In Title">
    <p:spTree>
      <p:nvGrpSpPr>
        <p:cNvPr id="104" name="Shape 104"/>
        <p:cNvGrpSpPr/>
        <p:nvPr/>
      </p:nvGrpSpPr>
      <p:grpSpPr>
        <a:xfrm>
          <a:off x="0" y="0"/>
          <a:ext cx="0" cy="0"/>
          <a:chOff x="0" y="0"/>
          <a:chExt cx="0" cy="0"/>
        </a:xfrm>
      </p:grpSpPr>
      <p:pic>
        <p:nvPicPr>
          <p:cNvPr id="105" name="Google Shape;105;p57"/>
          <p:cNvPicPr preferRelativeResize="0"/>
          <p:nvPr/>
        </p:nvPicPr>
        <p:blipFill rotWithShape="1">
          <a:blip r:embed="rId2">
            <a:alphaModFix/>
          </a:blip>
          <a:srcRect b="0" l="813" r="1785" t="1641"/>
          <a:stretch/>
        </p:blipFill>
        <p:spPr>
          <a:xfrm>
            <a:off x="-1" y="0"/>
            <a:ext cx="9144001" cy="4571999"/>
          </a:xfrm>
          <a:prstGeom prst="rect">
            <a:avLst/>
          </a:prstGeom>
          <a:noFill/>
          <a:ln>
            <a:noFill/>
          </a:ln>
        </p:spPr>
      </p:pic>
      <p:sp>
        <p:nvSpPr>
          <p:cNvPr id="106" name="Google Shape;106;p57"/>
          <p:cNvSpPr/>
          <p:nvPr/>
        </p:nvSpPr>
        <p:spPr>
          <a:xfrm>
            <a:off x="-4762" y="1478378"/>
            <a:ext cx="9154254" cy="5387145"/>
          </a:xfrm>
          <a:custGeom>
            <a:rect b="b" l="l" r="r" t="t"/>
            <a:pathLst>
              <a:path extrusionOk="0" h="5406780" w="9229895">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a:gsLst>
              <a:gs pos="0">
                <a:srgbClr val="D8D8D8"/>
              </a:gs>
              <a:gs pos="29000">
                <a:srgbClr val="F3F3F3"/>
              </a:gs>
              <a:gs pos="82000">
                <a:schemeClr val="lt1"/>
              </a:gs>
              <a:gs pos="100000">
                <a:schemeClr val="lt1"/>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07" name="Google Shape;10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8" name="Google Shape;108;p57"/>
          <p:cNvSpPr txBox="1"/>
          <p:nvPr>
            <p:ph idx="1" type="body"/>
          </p:nvPr>
        </p:nvSpPr>
        <p:spPr>
          <a:xfrm>
            <a:off x="2743199" y="1828800"/>
            <a:ext cx="2057401" cy="1752600"/>
          </a:xfrm>
          <a:prstGeom prst="rect">
            <a:avLst/>
          </a:prstGeom>
          <a:noFill/>
          <a:ln>
            <a:noFill/>
          </a:ln>
        </p:spPr>
        <p:txBody>
          <a:bodyPr anchorCtr="0" anchor="ctr" bIns="45700" lIns="91425" spcFirstLastPara="1" rIns="91425" wrap="square" tIns="45700">
            <a:noAutofit/>
          </a:bodyPr>
          <a:lstStyle>
            <a:lvl1pPr indent="-228600" lvl="0" marL="457200" algn="ctr">
              <a:spcBef>
                <a:spcPts val="2300"/>
              </a:spcBef>
              <a:spcAft>
                <a:spcPts val="0"/>
              </a:spcAft>
              <a:buClr>
                <a:srgbClr val="A0B94F"/>
              </a:buClr>
              <a:buSzPts val="11500"/>
              <a:buFont typeface="Arial"/>
              <a:buNone/>
              <a:defRPr b="0" i="0" sz="11500">
                <a:solidFill>
                  <a:srgbClr val="A0B94F"/>
                </a:solidFill>
                <a:latin typeface="Arial"/>
                <a:ea typeface="Arial"/>
                <a:cs typeface="Arial"/>
                <a:sym typeface="Arial"/>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9" name="Google Shape;109;p57"/>
          <p:cNvSpPr txBox="1"/>
          <p:nvPr/>
        </p:nvSpPr>
        <p:spPr>
          <a:xfrm>
            <a:off x="457200" y="2209800"/>
            <a:ext cx="2971800" cy="1066800"/>
          </a:xfrm>
          <a:prstGeom prst="rect">
            <a:avLst/>
          </a:prstGeom>
          <a:noFill/>
          <a:ln>
            <a:noFill/>
          </a:ln>
        </p:spPr>
        <p:txBody>
          <a:bodyPr anchorCtr="0" anchor="t" bIns="45700" lIns="91425" spcFirstLastPara="1" rIns="91425" wrap="square" tIns="45700">
            <a:normAutofit/>
          </a:bodyPr>
          <a:lstStyle/>
          <a:p>
            <a:pPr indent="0" lvl="0" marL="0" marR="0" rtl="0" algn="l">
              <a:lnSpc>
                <a:spcPct val="188888"/>
              </a:lnSpc>
              <a:spcBef>
                <a:spcPts val="0"/>
              </a:spcBef>
              <a:spcAft>
                <a:spcPts val="0"/>
              </a:spcAft>
              <a:buClr>
                <a:srgbClr val="7F7F7F"/>
              </a:buClr>
              <a:buSzPts val="3600"/>
              <a:buFont typeface="Arial"/>
              <a:buNone/>
            </a:pPr>
            <a:r>
              <a:rPr lang="en-US" sz="3600">
                <a:solidFill>
                  <a:srgbClr val="7F7F7F"/>
                </a:solidFill>
                <a:latin typeface="Verdana"/>
                <a:ea typeface="Verdana"/>
                <a:cs typeface="Verdana"/>
                <a:sym typeface="Verdana"/>
              </a:rPr>
              <a:t>PLUG IT IN</a:t>
            </a:r>
            <a:endParaRPr sz="3600">
              <a:solidFill>
                <a:srgbClr val="7F7F7F"/>
              </a:solidFill>
              <a:latin typeface="Verdana"/>
              <a:ea typeface="Verdana"/>
              <a:cs typeface="Verdana"/>
              <a:sym typeface="Verdana"/>
            </a:endParaRPr>
          </a:p>
        </p:txBody>
      </p:sp>
      <p:cxnSp>
        <p:nvCxnSpPr>
          <p:cNvPr id="110" name="Google Shape;110;p57"/>
          <p:cNvCxnSpPr/>
          <p:nvPr/>
        </p:nvCxnSpPr>
        <p:spPr>
          <a:xfrm rot="10800000">
            <a:off x="3200400" y="3429000"/>
            <a:ext cx="1143000" cy="0"/>
          </a:xfrm>
          <a:prstGeom prst="straightConnector1">
            <a:avLst/>
          </a:prstGeom>
          <a:noFill/>
          <a:ln cap="flat" cmpd="sng" w="38100">
            <a:solidFill>
              <a:srgbClr val="BFBFBF"/>
            </a:solidFill>
            <a:prstDash val="solid"/>
            <a:round/>
            <a:headEnd len="sm" w="sm" type="none"/>
            <a:tailEnd len="sm" w="sm" type="none"/>
          </a:ln>
        </p:spPr>
      </p:cxnSp>
      <p:sp>
        <p:nvSpPr>
          <p:cNvPr id="111" name="Google Shape;111;p57"/>
          <p:cNvSpPr txBox="1"/>
          <p:nvPr>
            <p:ph idx="2" type="subTitle"/>
          </p:nvPr>
        </p:nvSpPr>
        <p:spPr>
          <a:xfrm>
            <a:off x="609600" y="3886200"/>
            <a:ext cx="8382000" cy="2819400"/>
          </a:xfrm>
          <a:prstGeom prst="rect">
            <a:avLst/>
          </a:prstGeom>
          <a:noFill/>
          <a:ln>
            <a:noFill/>
          </a:ln>
        </p:spPr>
        <p:txBody>
          <a:bodyPr anchorCtr="0" anchor="t" bIns="45700" lIns="91425" spcFirstLastPara="1" rIns="91425" wrap="square" tIns="45700">
            <a:normAutofit/>
          </a:bodyPr>
          <a:lstStyle>
            <a:lvl1pPr lvl="0" algn="l">
              <a:lnSpc>
                <a:spcPct val="83333"/>
              </a:lnSpc>
              <a:spcBef>
                <a:spcPts val="600"/>
              </a:spcBef>
              <a:spcAft>
                <a:spcPts val="0"/>
              </a:spcAft>
              <a:buClr>
                <a:srgbClr val="D74B13"/>
              </a:buClr>
              <a:buSzPts val="7200"/>
              <a:buNone/>
              <a:defRPr sz="7200">
                <a:solidFill>
                  <a:srgbClr val="D74B13"/>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Topic Level2">
  <p:cSld name="PI_Topic Level2">
    <p:spTree>
      <p:nvGrpSpPr>
        <p:cNvPr id="112" name="Shape 112"/>
        <p:cNvGrpSpPr/>
        <p:nvPr/>
      </p:nvGrpSpPr>
      <p:grpSpPr>
        <a:xfrm>
          <a:off x="0" y="0"/>
          <a:ext cx="0" cy="0"/>
          <a:chOff x="0" y="0"/>
          <a:chExt cx="0" cy="0"/>
        </a:xfrm>
      </p:grpSpPr>
      <p:sp>
        <p:nvSpPr>
          <p:cNvPr id="113" name="Google Shape;113;p58"/>
          <p:cNvSpPr/>
          <p:nvPr/>
        </p:nvSpPr>
        <p:spPr>
          <a:xfrm>
            <a:off x="0" y="1905000"/>
            <a:ext cx="9144000" cy="44196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114" name="Google Shape;114;p58"/>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15" name="Google Shape;115;p58"/>
          <p:cNvSpPr/>
          <p:nvPr/>
        </p:nvSpPr>
        <p:spPr>
          <a:xfrm>
            <a:off x="6781800" y="6362700"/>
            <a:ext cx="2362200" cy="342900"/>
          </a:xfrm>
          <a:prstGeom prst="rect">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16" name="Google Shape;116;p58"/>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FF9900"/>
              </a:buClr>
              <a:buSzPts val="4400"/>
              <a:buNone/>
              <a:defRPr sz="4400">
                <a:solidFill>
                  <a:srgbClr val="FF9900"/>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7" name="Google Shape;11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58"/>
          <p:cNvSpPr txBox="1"/>
          <p:nvPr>
            <p:ph idx="2" type="body"/>
          </p:nvPr>
        </p:nvSpPr>
        <p:spPr>
          <a:xfrm>
            <a:off x="76200" y="152400"/>
            <a:ext cx="1981200" cy="1524000"/>
          </a:xfrm>
          <a:prstGeom prst="rect">
            <a:avLst/>
          </a:prstGeom>
          <a:noFill/>
          <a:ln>
            <a:noFill/>
          </a:ln>
        </p:spPr>
        <p:txBody>
          <a:bodyPr anchorCtr="0" anchor="t" bIns="45700" lIns="91425" spcFirstLastPara="1" rIns="91425" wrap="square" tIns="45700">
            <a:noAutofit/>
          </a:bodyPr>
          <a:lstStyle>
            <a:lvl1pPr indent="-228600" lvl="0" marL="457200" algn="ctr">
              <a:spcBef>
                <a:spcPts val="1200"/>
              </a:spcBef>
              <a:spcAft>
                <a:spcPts val="0"/>
              </a:spcAft>
              <a:buClr>
                <a:srgbClr val="7F7F7F"/>
              </a:buClr>
              <a:buSzPts val="6000"/>
              <a:buNone/>
              <a:defRPr sz="6000">
                <a:solidFill>
                  <a:srgbClr val="7F7F7F"/>
                </a:solidFill>
                <a:latin typeface="Century Gothic"/>
                <a:ea typeface="Century Gothic"/>
                <a:cs typeface="Century Gothic"/>
                <a:sym typeface="Century Gothic"/>
              </a:defRPr>
            </a:lvl1pPr>
            <a:lvl2pPr indent="-228600" lvl="1" marL="914400" algn="l">
              <a:spcBef>
                <a:spcPts val="1440"/>
              </a:spcBef>
              <a:spcAft>
                <a:spcPts val="0"/>
              </a:spcAft>
              <a:buClr>
                <a:schemeClr val="dk1"/>
              </a:buClr>
              <a:buSzPts val="7200"/>
              <a:buNone/>
              <a:defRPr sz="7200">
                <a:latin typeface="Century Gothic"/>
                <a:ea typeface="Century Gothic"/>
                <a:cs typeface="Century Gothic"/>
                <a:sym typeface="Century Gothic"/>
              </a:defRPr>
            </a:lvl2pPr>
            <a:lvl3pPr indent="-228600" lvl="2" marL="1371600" algn="l">
              <a:spcBef>
                <a:spcPts val="1440"/>
              </a:spcBef>
              <a:spcAft>
                <a:spcPts val="0"/>
              </a:spcAft>
              <a:buClr>
                <a:schemeClr val="dk1"/>
              </a:buClr>
              <a:buSzPts val="7200"/>
              <a:buNone/>
              <a:defRPr sz="7200">
                <a:latin typeface="Century Gothic"/>
                <a:ea typeface="Century Gothic"/>
                <a:cs typeface="Century Gothic"/>
                <a:sym typeface="Century Gothic"/>
              </a:defRPr>
            </a:lvl3pPr>
            <a:lvl4pPr indent="-228600" lvl="3" marL="1828800" algn="l">
              <a:spcBef>
                <a:spcPts val="1440"/>
              </a:spcBef>
              <a:spcAft>
                <a:spcPts val="0"/>
              </a:spcAft>
              <a:buClr>
                <a:schemeClr val="dk1"/>
              </a:buClr>
              <a:buSzPts val="7200"/>
              <a:buNone/>
              <a:defRPr sz="7200">
                <a:latin typeface="Century Gothic"/>
                <a:ea typeface="Century Gothic"/>
                <a:cs typeface="Century Gothic"/>
                <a:sym typeface="Century Gothic"/>
              </a:defRPr>
            </a:lvl4pPr>
            <a:lvl5pPr indent="-228600" lvl="4" marL="2286000" algn="l">
              <a:spcBef>
                <a:spcPts val="1440"/>
              </a:spcBef>
              <a:spcAft>
                <a:spcPts val="0"/>
              </a:spcAft>
              <a:buClr>
                <a:schemeClr val="dk1"/>
              </a:buClr>
              <a:buSzPts val="7200"/>
              <a:buNone/>
              <a:defRPr sz="7200">
                <a:latin typeface="Century Gothic"/>
                <a:ea typeface="Century Gothic"/>
                <a:cs typeface="Century Gothic"/>
                <a:sym typeface="Century Gothic"/>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9" name="Google Shape;119;p58"/>
          <p:cNvSpPr txBox="1"/>
          <p:nvPr>
            <p:ph idx="3" type="body"/>
          </p:nvPr>
        </p:nvSpPr>
        <p:spPr>
          <a:xfrm>
            <a:off x="609600" y="2133600"/>
            <a:ext cx="8001000" cy="4114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6600CC"/>
              </a:buClr>
              <a:buSzPts val="3200"/>
              <a:buChar char="•"/>
              <a:defRPr>
                <a:solidFill>
                  <a:srgbClr val="6600CC"/>
                </a:solidFill>
                <a:latin typeface="Verdana"/>
                <a:ea typeface="Verdana"/>
                <a:cs typeface="Verdana"/>
                <a:sym typeface="Verdana"/>
              </a:defRPr>
            </a:lvl1pPr>
            <a:lvl2pPr indent="-406400" lvl="1" marL="914400" algn="l">
              <a:spcBef>
                <a:spcPts val="560"/>
              </a:spcBef>
              <a:spcAft>
                <a:spcPts val="0"/>
              </a:spcAft>
              <a:buClr>
                <a:schemeClr val="dk1"/>
              </a:buClr>
              <a:buSzPts val="2800"/>
              <a:buChar char="–"/>
              <a:defRPr>
                <a:solidFill>
                  <a:schemeClr val="dk1"/>
                </a:solidFill>
                <a:latin typeface="Verdana"/>
                <a:ea typeface="Verdana"/>
                <a:cs typeface="Verdana"/>
                <a:sym typeface="Verdana"/>
              </a:defRPr>
            </a:lvl2pPr>
            <a:lvl3pPr indent="-381000" lvl="2" marL="1371600" algn="l">
              <a:spcBef>
                <a:spcPts val="480"/>
              </a:spcBef>
              <a:spcAft>
                <a:spcPts val="0"/>
              </a:spcAft>
              <a:buClr>
                <a:schemeClr val="dk1"/>
              </a:buClr>
              <a:buSzPts val="2400"/>
              <a:buChar char="•"/>
              <a:defRPr>
                <a:solidFill>
                  <a:schemeClr val="dk1"/>
                </a:solidFill>
                <a:latin typeface="Verdana"/>
                <a:ea typeface="Verdana"/>
                <a:cs typeface="Verdana"/>
                <a:sym typeface="Verdana"/>
              </a:defRPr>
            </a:lvl3pPr>
            <a:lvl4pPr indent="-355600" lvl="3" marL="1828800" algn="l">
              <a:spcBef>
                <a:spcPts val="400"/>
              </a:spcBef>
              <a:spcAft>
                <a:spcPts val="0"/>
              </a:spcAft>
              <a:buClr>
                <a:schemeClr val="dk1"/>
              </a:buClr>
              <a:buSzPts val="2000"/>
              <a:buChar char="–"/>
              <a:defRPr>
                <a:solidFill>
                  <a:schemeClr val="dk1"/>
                </a:solidFill>
                <a:latin typeface="Verdana"/>
                <a:ea typeface="Verdana"/>
                <a:cs typeface="Verdana"/>
                <a:sym typeface="Verdana"/>
              </a:defRPr>
            </a:lvl4pPr>
            <a:lvl5pPr indent="-355600" lvl="4" marL="2286000" algn="l">
              <a:spcBef>
                <a:spcPts val="400"/>
              </a:spcBef>
              <a:spcAft>
                <a:spcPts val="0"/>
              </a:spcAft>
              <a:buClr>
                <a:schemeClr val="dk1"/>
              </a:buClr>
              <a:buSzPts val="2000"/>
              <a:buChar char="»"/>
              <a:defRPr>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20" name="Google Shape;120;p58"/>
          <p:cNvCxnSpPr/>
          <p:nvPr/>
        </p:nvCxnSpPr>
        <p:spPr>
          <a:xfrm>
            <a:off x="0" y="1905000"/>
            <a:ext cx="8534400" cy="0"/>
          </a:xfrm>
          <a:prstGeom prst="straightConnector1">
            <a:avLst/>
          </a:prstGeom>
          <a:noFill/>
          <a:ln cap="flat" cmpd="sng" w="25400">
            <a:solidFill>
              <a:srgbClr val="A5A5A5"/>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 Example / Opening Case">
  <p:cSld name="PI Example / Opening Case">
    <p:spTree>
      <p:nvGrpSpPr>
        <p:cNvPr id="121" name="Shape 121"/>
        <p:cNvGrpSpPr/>
        <p:nvPr/>
      </p:nvGrpSpPr>
      <p:grpSpPr>
        <a:xfrm>
          <a:off x="0" y="0"/>
          <a:ext cx="0" cy="0"/>
          <a:chOff x="0" y="0"/>
          <a:chExt cx="0" cy="0"/>
        </a:xfrm>
      </p:grpSpPr>
      <p:cxnSp>
        <p:nvCxnSpPr>
          <p:cNvPr id="122" name="Google Shape;122;p59"/>
          <p:cNvCxnSpPr/>
          <p:nvPr/>
        </p:nvCxnSpPr>
        <p:spPr>
          <a:xfrm>
            <a:off x="0" y="6477000"/>
            <a:ext cx="8686800" cy="0"/>
          </a:xfrm>
          <a:prstGeom prst="straightConnector1">
            <a:avLst/>
          </a:prstGeom>
          <a:noFill/>
          <a:ln cap="flat" cmpd="sng" w="25400">
            <a:solidFill>
              <a:srgbClr val="A5A5A5"/>
            </a:solidFill>
            <a:prstDash val="solid"/>
            <a:round/>
            <a:headEnd len="sm" w="sm" type="none"/>
            <a:tailEnd len="sm" w="sm" type="none"/>
          </a:ln>
        </p:spPr>
      </p:cxnSp>
      <p:sp>
        <p:nvSpPr>
          <p:cNvPr id="123" name="Google Shape;123;p59"/>
          <p:cNvSpPr/>
          <p:nvPr/>
        </p:nvSpPr>
        <p:spPr>
          <a:xfrm>
            <a:off x="8382000" y="5715000"/>
            <a:ext cx="304800" cy="762000"/>
          </a:xfrm>
          <a:prstGeom prst="rect">
            <a:avLst/>
          </a:prstGeom>
          <a:solidFill>
            <a:srgbClr val="17365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124" name="Google Shape;124;p59"/>
          <p:cNvCxnSpPr/>
          <p:nvPr/>
        </p:nvCxnSpPr>
        <p:spPr>
          <a:xfrm>
            <a:off x="609600" y="1219200"/>
            <a:ext cx="8534400" cy="0"/>
          </a:xfrm>
          <a:prstGeom prst="straightConnector1">
            <a:avLst/>
          </a:prstGeom>
          <a:noFill/>
          <a:ln cap="flat" cmpd="sng" w="25400">
            <a:solidFill>
              <a:srgbClr val="A5A5A5"/>
            </a:solidFill>
            <a:prstDash val="solid"/>
            <a:round/>
            <a:headEnd len="sm" w="sm" type="none"/>
            <a:tailEnd len="sm" w="sm" type="none"/>
          </a:ln>
        </p:spPr>
      </p:cxnSp>
      <p:sp>
        <p:nvSpPr>
          <p:cNvPr id="125" name="Google Shape;125;p59"/>
          <p:cNvSpPr txBox="1"/>
          <p:nvPr>
            <p:ph idx="12" type="sldNum"/>
          </p:nvPr>
        </p:nvSpPr>
        <p:spPr>
          <a:xfrm>
            <a:off x="6553200" y="6119896"/>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6" name="Google Shape;126;p59"/>
          <p:cNvSpPr txBox="1"/>
          <p:nvPr>
            <p:ph idx="1" type="body"/>
          </p:nvPr>
        </p:nvSpPr>
        <p:spPr>
          <a:xfrm>
            <a:off x="457200" y="1371600"/>
            <a:ext cx="8229600" cy="4876800"/>
          </a:xfrm>
          <a:prstGeom prst="rect">
            <a:avLst/>
          </a:prstGeom>
          <a:noFill/>
          <a:ln>
            <a:noFill/>
          </a:ln>
        </p:spPr>
        <p:txBody>
          <a:bodyPr anchorCtr="0" anchor="t" bIns="45700" lIns="91425" spcFirstLastPara="1" rIns="91425" wrap="square" tIns="45700">
            <a:normAutofit/>
          </a:bodyPr>
          <a:lstStyle>
            <a:lvl1pPr indent="-457200" lvl="0" marL="457200" algn="l">
              <a:spcBef>
                <a:spcPts val="720"/>
              </a:spcBef>
              <a:spcAft>
                <a:spcPts val="0"/>
              </a:spcAft>
              <a:buClr>
                <a:srgbClr val="9900FF"/>
              </a:buClr>
              <a:buSzPts val="3600"/>
              <a:buChar char="•"/>
              <a:defRPr b="0" sz="3600">
                <a:solidFill>
                  <a:srgbClr val="9900FF"/>
                </a:solidFill>
                <a:latin typeface="Verdana"/>
                <a:ea typeface="Verdana"/>
                <a:cs typeface="Verdana"/>
                <a:sym typeface="Verdana"/>
              </a:defRPr>
            </a:lvl1pPr>
            <a:lvl2pPr indent="-431800" lvl="1" marL="914400" algn="l">
              <a:spcBef>
                <a:spcPts val="640"/>
              </a:spcBef>
              <a:spcAft>
                <a:spcPts val="0"/>
              </a:spcAft>
              <a:buClr>
                <a:srgbClr val="FF9900"/>
              </a:buClr>
              <a:buSzPts val="3200"/>
              <a:buFont typeface="Georgia"/>
              <a:buAutoNum type="arabicPeriod"/>
              <a:defRPr sz="3200">
                <a:solidFill>
                  <a:schemeClr val="dk1"/>
                </a:solidFill>
                <a:latin typeface="Verdana"/>
                <a:ea typeface="Verdana"/>
                <a:cs typeface="Verdana"/>
                <a:sym typeface="Verdana"/>
              </a:defRPr>
            </a:lvl2pPr>
            <a:lvl3pPr indent="-406400" lvl="2" marL="1371600" algn="l">
              <a:spcBef>
                <a:spcPts val="560"/>
              </a:spcBef>
              <a:spcAft>
                <a:spcPts val="0"/>
              </a:spcAft>
              <a:buClr>
                <a:schemeClr val="dk1"/>
              </a:buClr>
              <a:buSzPts val="2800"/>
              <a:buChar char="•"/>
              <a:defRPr sz="2800">
                <a:solidFill>
                  <a:schemeClr val="dk1"/>
                </a:solidFill>
                <a:latin typeface="Verdana"/>
                <a:ea typeface="Verdana"/>
                <a:cs typeface="Verdana"/>
                <a:sym typeface="Verdana"/>
              </a:defRPr>
            </a:lvl3pPr>
            <a:lvl4pPr indent="-381000" lvl="3" marL="1828800" algn="l">
              <a:spcBef>
                <a:spcPts val="480"/>
              </a:spcBef>
              <a:spcAft>
                <a:spcPts val="0"/>
              </a:spcAft>
              <a:buClr>
                <a:schemeClr val="dk1"/>
              </a:buClr>
              <a:buSzPts val="2400"/>
              <a:buChar char="–"/>
              <a:defRPr sz="2400">
                <a:solidFill>
                  <a:schemeClr val="dk1"/>
                </a:solidFill>
                <a:latin typeface="Verdana"/>
                <a:ea typeface="Verdana"/>
                <a:cs typeface="Verdana"/>
                <a:sym typeface="Verdana"/>
              </a:defRPr>
            </a:lvl4pPr>
            <a:lvl5pPr indent="-381000" lvl="4" marL="2286000" algn="l">
              <a:spcBef>
                <a:spcPts val="480"/>
              </a:spcBef>
              <a:spcAft>
                <a:spcPts val="0"/>
              </a:spcAft>
              <a:buClr>
                <a:schemeClr val="dk1"/>
              </a:buClr>
              <a:buSzPts val="2400"/>
              <a:buChar char="»"/>
              <a:defRPr sz="2400">
                <a:solidFill>
                  <a:schemeClr val="dk1"/>
                </a:solidFill>
                <a:latin typeface="Verdana"/>
                <a:ea typeface="Verdana"/>
                <a:cs typeface="Verdana"/>
                <a:sym typeface="Verdana"/>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7" name="Google Shape;127;p59"/>
          <p:cNvSpPr txBox="1"/>
          <p:nvPr>
            <p:ph type="title"/>
          </p:nvPr>
        </p:nvSpPr>
        <p:spPr>
          <a:xfrm>
            <a:off x="457200" y="228600"/>
            <a:ext cx="50292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9900"/>
              </a:buClr>
              <a:buSzPts val="4400"/>
              <a:buFont typeface="Verdana"/>
              <a:buNone/>
              <a:defRPr b="1" sz="4400">
                <a:solidFill>
                  <a:srgbClr val="FF9900"/>
                </a:solidFill>
                <a:latin typeface="Verdana"/>
                <a:ea typeface="Verdana"/>
                <a:cs typeface="Verdana"/>
                <a:sym typeface="Verdan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_IT's_Personal">
  <p:cSld name="PI_IT's_Personal">
    <p:spTree>
      <p:nvGrpSpPr>
        <p:cNvPr id="128" name="Shape 128"/>
        <p:cNvGrpSpPr/>
        <p:nvPr/>
      </p:nvGrpSpPr>
      <p:grpSpPr>
        <a:xfrm>
          <a:off x="0" y="0"/>
          <a:ext cx="0" cy="0"/>
          <a:chOff x="0" y="0"/>
          <a:chExt cx="0" cy="0"/>
        </a:xfrm>
      </p:grpSpPr>
      <p:sp>
        <p:nvSpPr>
          <p:cNvPr id="129" name="Google Shape;129;p60"/>
          <p:cNvSpPr/>
          <p:nvPr/>
        </p:nvSpPr>
        <p:spPr>
          <a:xfrm>
            <a:off x="0" y="2057400"/>
            <a:ext cx="9144000" cy="4267200"/>
          </a:xfrm>
          <a:prstGeom prst="rect">
            <a:avLst/>
          </a:prstGeom>
          <a:solidFill>
            <a:srgbClr val="FFFFCC">
              <a:alpha val="3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cxnSp>
        <p:nvCxnSpPr>
          <p:cNvPr id="130" name="Google Shape;130;p60"/>
          <p:cNvCxnSpPr/>
          <p:nvPr/>
        </p:nvCxnSpPr>
        <p:spPr>
          <a:xfrm>
            <a:off x="609600" y="6324600"/>
            <a:ext cx="8534400" cy="0"/>
          </a:xfrm>
          <a:prstGeom prst="straightConnector1">
            <a:avLst/>
          </a:prstGeom>
          <a:noFill/>
          <a:ln cap="flat" cmpd="sng" w="25400">
            <a:solidFill>
              <a:srgbClr val="A5A5A5"/>
            </a:solidFill>
            <a:prstDash val="solid"/>
            <a:round/>
            <a:headEnd len="sm" w="sm" type="none"/>
            <a:tailEnd len="sm" w="sm" type="none"/>
          </a:ln>
        </p:spPr>
      </p:cxnSp>
      <p:sp>
        <p:nvSpPr>
          <p:cNvPr id="131" name="Google Shape;131;p60"/>
          <p:cNvSpPr/>
          <p:nvPr/>
        </p:nvSpPr>
        <p:spPr>
          <a:xfrm>
            <a:off x="6781800" y="6362700"/>
            <a:ext cx="2362200" cy="3429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2" name="Google Shape;132;p60"/>
          <p:cNvSpPr txBox="1"/>
          <p:nvPr>
            <p:ph idx="1" type="subTitle"/>
          </p:nvPr>
        </p:nvSpPr>
        <p:spPr>
          <a:xfrm>
            <a:off x="457200" y="3200400"/>
            <a:ext cx="7772400" cy="27432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Clr>
                <a:srgbClr val="6600CC"/>
              </a:buClr>
              <a:buSzPts val="5400"/>
              <a:buNone/>
              <a:defRPr sz="5400">
                <a:solidFill>
                  <a:srgbClr val="6600CC"/>
                </a:solidFill>
                <a:latin typeface="Verdana"/>
                <a:ea typeface="Verdana"/>
                <a:cs typeface="Verdana"/>
                <a:sym typeface="Verdana"/>
              </a:defRPr>
            </a:lvl1pPr>
            <a:lvl2pPr lvl="1" algn="ctr">
              <a:spcBef>
                <a:spcPts val="60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33" name="Google Shape;133;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1"/>
                </a:solidFill>
                <a:latin typeface="Garamond"/>
                <a:ea typeface="Garamond"/>
                <a:cs typeface="Garamond"/>
                <a:sym typeface="Garamond"/>
              </a:defRPr>
            </a:lvl1pPr>
            <a:lvl2pPr indent="0" lvl="1" marL="0" algn="r">
              <a:spcBef>
                <a:spcPts val="0"/>
              </a:spcBef>
              <a:buNone/>
              <a:defRPr sz="1200">
                <a:solidFill>
                  <a:schemeClr val="lt1"/>
                </a:solidFill>
                <a:latin typeface="Garamond"/>
                <a:ea typeface="Garamond"/>
                <a:cs typeface="Garamond"/>
                <a:sym typeface="Garamond"/>
              </a:defRPr>
            </a:lvl2pPr>
            <a:lvl3pPr indent="0" lvl="2" marL="0" algn="r">
              <a:spcBef>
                <a:spcPts val="0"/>
              </a:spcBef>
              <a:buNone/>
              <a:defRPr sz="1200">
                <a:solidFill>
                  <a:schemeClr val="lt1"/>
                </a:solidFill>
                <a:latin typeface="Garamond"/>
                <a:ea typeface="Garamond"/>
                <a:cs typeface="Garamond"/>
                <a:sym typeface="Garamond"/>
              </a:defRPr>
            </a:lvl3pPr>
            <a:lvl4pPr indent="0" lvl="3" marL="0" algn="r">
              <a:spcBef>
                <a:spcPts val="0"/>
              </a:spcBef>
              <a:buNone/>
              <a:defRPr sz="1200">
                <a:solidFill>
                  <a:schemeClr val="lt1"/>
                </a:solidFill>
                <a:latin typeface="Garamond"/>
                <a:ea typeface="Garamond"/>
                <a:cs typeface="Garamond"/>
                <a:sym typeface="Garamond"/>
              </a:defRPr>
            </a:lvl4pPr>
            <a:lvl5pPr indent="0" lvl="4" marL="0" algn="r">
              <a:spcBef>
                <a:spcPts val="0"/>
              </a:spcBef>
              <a:buNone/>
              <a:defRPr sz="1200">
                <a:solidFill>
                  <a:schemeClr val="lt1"/>
                </a:solidFill>
                <a:latin typeface="Garamond"/>
                <a:ea typeface="Garamond"/>
                <a:cs typeface="Garamond"/>
                <a:sym typeface="Garamond"/>
              </a:defRPr>
            </a:lvl5pPr>
            <a:lvl6pPr indent="0" lvl="5" marL="0" algn="r">
              <a:spcBef>
                <a:spcPts val="0"/>
              </a:spcBef>
              <a:buNone/>
              <a:defRPr sz="1200">
                <a:solidFill>
                  <a:schemeClr val="lt1"/>
                </a:solidFill>
                <a:latin typeface="Garamond"/>
                <a:ea typeface="Garamond"/>
                <a:cs typeface="Garamond"/>
                <a:sym typeface="Garamond"/>
              </a:defRPr>
            </a:lvl6pPr>
            <a:lvl7pPr indent="0" lvl="6" marL="0" algn="r">
              <a:spcBef>
                <a:spcPts val="0"/>
              </a:spcBef>
              <a:buNone/>
              <a:defRPr sz="1200">
                <a:solidFill>
                  <a:schemeClr val="lt1"/>
                </a:solidFill>
                <a:latin typeface="Garamond"/>
                <a:ea typeface="Garamond"/>
                <a:cs typeface="Garamond"/>
                <a:sym typeface="Garamond"/>
              </a:defRPr>
            </a:lvl7pPr>
            <a:lvl8pPr indent="0" lvl="7" marL="0" algn="r">
              <a:spcBef>
                <a:spcPts val="0"/>
              </a:spcBef>
              <a:buNone/>
              <a:defRPr sz="1200">
                <a:solidFill>
                  <a:schemeClr val="lt1"/>
                </a:solidFill>
                <a:latin typeface="Garamond"/>
                <a:ea typeface="Garamond"/>
                <a:cs typeface="Garamond"/>
                <a:sym typeface="Garamond"/>
              </a:defRPr>
            </a:lvl8pPr>
            <a:lvl9pPr indent="0" lvl="8" marL="0" algn="r">
              <a:spcBef>
                <a:spcPts val="0"/>
              </a:spcBef>
              <a:buNone/>
              <a:defRPr sz="1200">
                <a:solidFill>
                  <a:schemeClr val="lt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
        <p:nvSpPr>
          <p:cNvPr id="134" name="Google Shape;134;p60"/>
          <p:cNvSpPr txBox="1"/>
          <p:nvPr>
            <p:ph idx="2" type="body"/>
          </p:nvPr>
        </p:nvSpPr>
        <p:spPr>
          <a:xfrm>
            <a:off x="1295400" y="1219200"/>
            <a:ext cx="7391400" cy="990600"/>
          </a:xfrm>
          <a:prstGeom prst="rect">
            <a:avLst/>
          </a:prstGeom>
          <a:noFill/>
          <a:ln>
            <a:noFill/>
          </a:ln>
        </p:spPr>
        <p:txBody>
          <a:bodyPr anchorCtr="0" anchor="t" bIns="45700" lIns="91425" spcFirstLastPara="1" rIns="91425" wrap="square" tIns="45700">
            <a:normAutofit/>
          </a:bodyPr>
          <a:lstStyle>
            <a:lvl1pPr indent="-228600" lvl="0" marL="457200" algn="l">
              <a:spcBef>
                <a:spcPts val="1080"/>
              </a:spcBef>
              <a:spcAft>
                <a:spcPts val="0"/>
              </a:spcAft>
              <a:buClr>
                <a:srgbClr val="6600CC"/>
              </a:buClr>
              <a:buSzPts val="5400"/>
              <a:buNone/>
              <a:defRPr b="0" i="0" sz="5400">
                <a:solidFill>
                  <a:srgbClr val="6600CC"/>
                </a:solidFill>
                <a:latin typeface="Verdana"/>
                <a:ea typeface="Verdana"/>
                <a:cs typeface="Verdana"/>
                <a:sym typeface="Verdana"/>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cxnSp>
        <p:nvCxnSpPr>
          <p:cNvPr id="135" name="Google Shape;135;p60"/>
          <p:cNvCxnSpPr/>
          <p:nvPr/>
        </p:nvCxnSpPr>
        <p:spPr>
          <a:xfrm>
            <a:off x="0" y="2057400"/>
            <a:ext cx="8534400" cy="0"/>
          </a:xfrm>
          <a:prstGeom prst="straightConnector1">
            <a:avLst/>
          </a:prstGeom>
          <a:noFill/>
          <a:ln cap="flat" cmpd="sng" w="25400">
            <a:solidFill>
              <a:srgbClr val="A5A5A5"/>
            </a:solidFill>
            <a:prstDash val="solid"/>
            <a:round/>
            <a:headEnd len="sm" w="sm" type="none"/>
            <a:tailEnd len="sm" w="sm" type="none"/>
          </a:ln>
        </p:spPr>
      </p:cxnSp>
      <p:grpSp>
        <p:nvGrpSpPr>
          <p:cNvPr id="136" name="Google Shape;136;p60"/>
          <p:cNvGrpSpPr/>
          <p:nvPr/>
        </p:nvGrpSpPr>
        <p:grpSpPr>
          <a:xfrm>
            <a:off x="609600" y="888704"/>
            <a:ext cx="923260" cy="1473496"/>
            <a:chOff x="495300" y="888704"/>
            <a:chExt cx="923260" cy="1473496"/>
          </a:xfrm>
        </p:grpSpPr>
        <p:sp>
          <p:nvSpPr>
            <p:cNvPr id="137" name="Google Shape;137;p60"/>
            <p:cNvSpPr/>
            <p:nvPr/>
          </p:nvSpPr>
          <p:spPr>
            <a:xfrm>
              <a:off x="838200" y="1008888"/>
              <a:ext cx="246888" cy="1353312"/>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8" name="Google Shape;138;p60"/>
            <p:cNvSpPr/>
            <p:nvPr/>
          </p:nvSpPr>
          <p:spPr>
            <a:xfrm>
              <a:off x="495300" y="1219200"/>
              <a:ext cx="246888" cy="1143000"/>
            </a:xfrm>
            <a:prstGeom prst="rect">
              <a:avLst/>
            </a:prstGeom>
            <a:solidFill>
              <a:srgbClr val="9900FF"/>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sp>
          <p:nvSpPr>
            <p:cNvPr id="139" name="Google Shape;139;p60"/>
            <p:cNvSpPr/>
            <p:nvPr/>
          </p:nvSpPr>
          <p:spPr>
            <a:xfrm rot="5400000">
              <a:off x="847060" y="545804"/>
              <a:ext cx="228600" cy="914400"/>
            </a:xfrm>
            <a:prstGeom prst="rect">
              <a:avLst/>
            </a:prstGeom>
            <a:solidFill>
              <a:srgbClr val="000099"/>
            </a:solidFill>
            <a:ln>
              <a:noFill/>
            </a:ln>
            <a:effectLst>
              <a:outerShdw blurRad="76200" sx="109000" rotWithShape="0" algn="ctr" dir="4620000" dist="88900" sy="109000">
                <a:srgbClr val="A5A5A5">
                  <a:alpha val="1882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aramond"/>
                <a:ea typeface="Garamond"/>
                <a:cs typeface="Garamond"/>
                <a:sym typeface="Garamond"/>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1"/>
              </a:buClr>
              <a:buSzPts val="4400"/>
              <a:buFont typeface="Verdana"/>
              <a:buNone/>
              <a:defRPr b="0" i="0" sz="4400" u="none" cap="none" strike="noStrik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Verdana"/>
                <a:ea typeface="Verdana"/>
                <a:cs typeface="Verdana"/>
                <a:sym typeface="Verdan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Verdana"/>
                <a:ea typeface="Verdana"/>
                <a:cs typeface="Verdana"/>
                <a:sym typeface="Verdan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Garamond"/>
                <a:ea typeface="Garamond"/>
                <a:cs typeface="Garamond"/>
                <a:sym typeface="Garamond"/>
              </a:defRPr>
            </a:lvl9pPr>
          </a:lstStyle>
          <a:p/>
        </p:txBody>
      </p:sp>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Garamond"/>
                <a:ea typeface="Garamond"/>
                <a:cs typeface="Garamond"/>
                <a:sym typeface="Garamond"/>
              </a:defRPr>
            </a:lvl1pPr>
            <a:lvl2pPr lvl="1"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2pPr>
            <a:lvl3pPr lvl="2"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3pPr>
            <a:lvl4pPr lvl="3"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4pPr>
            <a:lvl5pPr lvl="4"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5pPr>
            <a:lvl6pPr lvl="5"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6pPr>
            <a:lvl7pPr lvl="6"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7pPr>
            <a:lvl8pPr lvl="7"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8pPr>
            <a:lvl9pPr lvl="8" marR="0" rtl="0" algn="l">
              <a:spcBef>
                <a:spcPts val="0"/>
              </a:spcBef>
              <a:spcAft>
                <a:spcPts val="0"/>
              </a:spcAft>
              <a:buSzPts val="1400"/>
              <a:buNone/>
              <a:defRPr b="0" i="0" sz="1800" u="none" cap="none" strike="noStrike">
                <a:solidFill>
                  <a:schemeClr val="dk1"/>
                </a:solidFill>
                <a:latin typeface="Garamond"/>
                <a:ea typeface="Garamond"/>
                <a:cs typeface="Garamond"/>
                <a:sym typeface="Garamond"/>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Garamond"/>
                <a:ea typeface="Garamond"/>
                <a:cs typeface="Garamond"/>
                <a:sym typeface="Garamond"/>
              </a:defRPr>
            </a:lvl1pPr>
            <a:lvl2pPr indent="0" lvl="1" marL="0" marR="0" rtl="0" algn="r">
              <a:spcBef>
                <a:spcPts val="0"/>
              </a:spcBef>
              <a:buNone/>
              <a:defRPr b="0" i="0" sz="1200" u="none" cap="none" strike="noStrike">
                <a:solidFill>
                  <a:srgbClr val="888888"/>
                </a:solidFill>
                <a:latin typeface="Garamond"/>
                <a:ea typeface="Garamond"/>
                <a:cs typeface="Garamond"/>
                <a:sym typeface="Garamond"/>
              </a:defRPr>
            </a:lvl2pPr>
            <a:lvl3pPr indent="0" lvl="2" marL="0" marR="0" rtl="0" algn="r">
              <a:spcBef>
                <a:spcPts val="0"/>
              </a:spcBef>
              <a:buNone/>
              <a:defRPr b="0" i="0" sz="1200" u="none" cap="none" strike="noStrike">
                <a:solidFill>
                  <a:srgbClr val="888888"/>
                </a:solidFill>
                <a:latin typeface="Garamond"/>
                <a:ea typeface="Garamond"/>
                <a:cs typeface="Garamond"/>
                <a:sym typeface="Garamond"/>
              </a:defRPr>
            </a:lvl3pPr>
            <a:lvl4pPr indent="0" lvl="3" marL="0" marR="0" rtl="0" algn="r">
              <a:spcBef>
                <a:spcPts val="0"/>
              </a:spcBef>
              <a:buNone/>
              <a:defRPr b="0" i="0" sz="1200" u="none" cap="none" strike="noStrike">
                <a:solidFill>
                  <a:srgbClr val="888888"/>
                </a:solidFill>
                <a:latin typeface="Garamond"/>
                <a:ea typeface="Garamond"/>
                <a:cs typeface="Garamond"/>
                <a:sym typeface="Garamond"/>
              </a:defRPr>
            </a:lvl4pPr>
            <a:lvl5pPr indent="0" lvl="4" marL="0" marR="0" rtl="0" algn="r">
              <a:spcBef>
                <a:spcPts val="0"/>
              </a:spcBef>
              <a:buNone/>
              <a:defRPr b="0" i="0" sz="1200" u="none" cap="none" strike="noStrike">
                <a:solidFill>
                  <a:srgbClr val="888888"/>
                </a:solidFill>
                <a:latin typeface="Garamond"/>
                <a:ea typeface="Garamond"/>
                <a:cs typeface="Garamond"/>
                <a:sym typeface="Garamond"/>
              </a:defRPr>
            </a:lvl5pPr>
            <a:lvl6pPr indent="0" lvl="5" marL="0" marR="0" rtl="0" algn="r">
              <a:spcBef>
                <a:spcPts val="0"/>
              </a:spcBef>
              <a:buNone/>
              <a:defRPr b="0" i="0" sz="1200" u="none" cap="none" strike="noStrike">
                <a:solidFill>
                  <a:srgbClr val="888888"/>
                </a:solidFill>
                <a:latin typeface="Garamond"/>
                <a:ea typeface="Garamond"/>
                <a:cs typeface="Garamond"/>
                <a:sym typeface="Garamond"/>
              </a:defRPr>
            </a:lvl6pPr>
            <a:lvl7pPr indent="0" lvl="6" marL="0" marR="0" rtl="0" algn="r">
              <a:spcBef>
                <a:spcPts val="0"/>
              </a:spcBef>
              <a:buNone/>
              <a:defRPr b="0" i="0" sz="1200" u="none" cap="none" strike="noStrike">
                <a:solidFill>
                  <a:srgbClr val="888888"/>
                </a:solidFill>
                <a:latin typeface="Garamond"/>
                <a:ea typeface="Garamond"/>
                <a:cs typeface="Garamond"/>
                <a:sym typeface="Garamond"/>
              </a:defRPr>
            </a:lvl7pPr>
            <a:lvl8pPr indent="0" lvl="7" marL="0" marR="0" rtl="0" algn="r">
              <a:spcBef>
                <a:spcPts val="0"/>
              </a:spcBef>
              <a:buNone/>
              <a:defRPr b="0" i="0" sz="1200" u="none" cap="none" strike="noStrike">
                <a:solidFill>
                  <a:srgbClr val="888888"/>
                </a:solidFill>
                <a:latin typeface="Garamond"/>
                <a:ea typeface="Garamond"/>
                <a:cs typeface="Garamond"/>
                <a:sym typeface="Garamond"/>
              </a:defRPr>
            </a:lvl8pPr>
            <a:lvl9pPr indent="0" lvl="8" marL="0" marR="0" rtl="0" algn="r">
              <a:spcBef>
                <a:spcPts val="0"/>
              </a:spcBef>
              <a:buNone/>
              <a:defRPr b="0" i="0" sz="1200" u="none" cap="none" strike="noStrike">
                <a:solidFill>
                  <a:srgbClr val="888888"/>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A0B94F"/>
              </a:buClr>
              <a:buSzPts val="11500"/>
              <a:buFont typeface="Arial"/>
              <a:buNone/>
            </a:pPr>
            <a:r>
              <a:rPr lang="en-US"/>
              <a:t>1</a:t>
            </a:r>
            <a:endParaRPr/>
          </a:p>
        </p:txBody>
      </p:sp>
      <p:sp>
        <p:nvSpPr>
          <p:cNvPr id="145" name="Google Shape;145;p1"/>
          <p:cNvSpPr txBox="1"/>
          <p:nvPr>
            <p:ph idx="2" type="subTitle"/>
          </p:nvPr>
        </p:nvSpPr>
        <p:spPr>
          <a:xfrm>
            <a:off x="609600" y="3810000"/>
            <a:ext cx="6972935" cy="1986915"/>
          </a:xfrm>
          <a:prstGeom prst="rect">
            <a:avLst/>
          </a:prstGeom>
          <a:noFill/>
          <a:ln>
            <a:noFill/>
          </a:ln>
        </p:spPr>
        <p:txBody>
          <a:bodyPr anchorCtr="0" anchor="t" bIns="45700" lIns="91425" spcFirstLastPara="1" rIns="91425" wrap="square" tIns="45700">
            <a:normAutofit fontScale="70000"/>
          </a:bodyPr>
          <a:lstStyle/>
          <a:p>
            <a:pPr indent="0" lvl="0" marL="0" rtl="0" algn="l">
              <a:lnSpc>
                <a:spcPct val="200000"/>
              </a:lnSpc>
              <a:spcBef>
                <a:spcPts val="0"/>
              </a:spcBef>
              <a:spcAft>
                <a:spcPts val="0"/>
              </a:spcAft>
              <a:buClr>
                <a:srgbClr val="D74B13"/>
              </a:buClr>
              <a:buSzPct val="100000"/>
              <a:buNone/>
            </a:pPr>
            <a:r>
              <a:rPr b="1" lang="en-US" sz="3600"/>
              <a:t>Organizational Strategy, Competitive Advantage, &amp; Information Systems</a:t>
            </a:r>
            <a:endParaRPr b="1" sz="3600"/>
          </a:p>
        </p:txBody>
      </p:sp>
      <p:sp>
        <p:nvSpPr>
          <p:cNvPr id="146" name="Google Shape;146;p1"/>
          <p:cNvSpPr txBox="1"/>
          <p:nvPr/>
        </p:nvSpPr>
        <p:spPr>
          <a:xfrm>
            <a:off x="2590800" y="5943600"/>
            <a:ext cx="4164965" cy="82994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Black"/>
                <a:ea typeface="Arial Black"/>
                <a:cs typeface="Arial Black"/>
                <a:sym typeface="Arial Black"/>
              </a:rPr>
              <a:t>Dr. Asawari Dudwadkar </a:t>
            </a:r>
            <a:endParaRPr sz="2400">
              <a:solidFill>
                <a:schemeClr val="dk1"/>
              </a:solidFill>
              <a:latin typeface="Arial Black"/>
              <a:ea typeface="Arial Black"/>
              <a:cs typeface="Arial Black"/>
              <a:sym typeface="Arial Black"/>
            </a:endParaRPr>
          </a:p>
          <a:p>
            <a:pPr indent="0" lvl="0" marL="0" marR="0" rtl="0" algn="l">
              <a:spcBef>
                <a:spcPts val="0"/>
              </a:spcBef>
              <a:spcAft>
                <a:spcPts val="0"/>
              </a:spcAft>
              <a:buNone/>
            </a:pPr>
            <a:r>
              <a:rPr lang="en-US" sz="2400">
                <a:solidFill>
                  <a:schemeClr val="dk1"/>
                </a:solidFill>
                <a:latin typeface="Arial Black"/>
                <a:ea typeface="Arial Black"/>
                <a:cs typeface="Arial Black"/>
                <a:sym typeface="Arial Black"/>
              </a:rPr>
              <a:t>Asst. Prof. ETRX Dept.</a:t>
            </a:r>
            <a:r>
              <a:rPr lang="en-US" sz="1800">
                <a:solidFill>
                  <a:schemeClr val="dk1"/>
                </a:solidFill>
                <a:latin typeface="Garamond"/>
                <a:ea typeface="Garamond"/>
                <a:cs typeface="Garamond"/>
                <a:sym typeface="Garamond"/>
              </a:rPr>
              <a:t> </a:t>
            </a:r>
            <a:endParaRPr sz="1800">
              <a:solidFill>
                <a:schemeClr val="dk1"/>
              </a:solidFill>
              <a:latin typeface="Garamond"/>
              <a:ea typeface="Garamond"/>
              <a:cs typeface="Garamond"/>
              <a:sym typeface="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457200" y="228600"/>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00CCFF"/>
              </a:buClr>
              <a:buSzPts val="4400"/>
              <a:buFont typeface="Verdana"/>
              <a:buNone/>
            </a:pPr>
            <a:r>
              <a:t/>
            </a:r>
            <a:endParaRPr/>
          </a:p>
        </p:txBody>
      </p:sp>
      <p:sp>
        <p:nvSpPr>
          <p:cNvPr id="152" name="Google Shape;152;p2"/>
          <p:cNvSpPr txBox="1"/>
          <p:nvPr>
            <p:ph idx="1" type="body"/>
          </p:nvPr>
        </p:nvSpPr>
        <p:spPr>
          <a:xfrm>
            <a:off x="457200" y="1371600"/>
            <a:ext cx="8229600" cy="4754563"/>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00B0F0"/>
              </a:buClr>
              <a:buSzPts val="3200"/>
              <a:buFont typeface="Georgia"/>
              <a:buAutoNum type="arabicPeriod"/>
            </a:pPr>
            <a:r>
              <a:rPr lang="en-US"/>
              <a:t>Business Pressures, Organizational Responses, and Information Technology Support</a:t>
            </a:r>
            <a:endParaRPr/>
          </a:p>
          <a:p>
            <a:pPr indent="-311150" lvl="0" marL="514350" rtl="0" algn="l">
              <a:spcBef>
                <a:spcPts val="640"/>
              </a:spcBef>
              <a:spcAft>
                <a:spcPts val="0"/>
              </a:spcAft>
              <a:buClr>
                <a:srgbClr val="00B0F0"/>
              </a:buClr>
              <a:buSzPts val="3200"/>
              <a:buFont typeface="Georgia"/>
              <a:buNone/>
            </a:pPr>
            <a:r>
              <a:t/>
            </a:r>
            <a:endParaRPr/>
          </a:p>
          <a:p>
            <a:pPr indent="-514350" lvl="0" marL="514350" rtl="0" algn="l">
              <a:spcBef>
                <a:spcPts val="640"/>
              </a:spcBef>
              <a:spcAft>
                <a:spcPts val="0"/>
              </a:spcAft>
              <a:buClr>
                <a:srgbClr val="00B0F0"/>
              </a:buClr>
              <a:buSzPts val="3200"/>
              <a:buFont typeface="Georgia"/>
              <a:buAutoNum type="arabicPeriod"/>
            </a:pPr>
            <a:r>
              <a:rPr lang="en-US"/>
              <a:t>Competitive Advantage and Strategic Information Systems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spcBef>
                <a:spcPts val="0"/>
              </a:spcBef>
              <a:spcAft>
                <a:spcPts val="0"/>
              </a:spcAft>
              <a:buClr>
                <a:srgbClr val="FF9900"/>
              </a:buClr>
              <a:buSzPct val="100000"/>
              <a:buNone/>
            </a:pPr>
            <a:r>
              <a:rPr lang="en-US"/>
              <a:t>Business Pressures, Organizational Responses, and IT Support</a:t>
            </a:r>
            <a:endParaRPr/>
          </a:p>
        </p:txBody>
      </p:sp>
      <p:sp>
        <p:nvSpPr>
          <p:cNvPr id="159" name="Google Shape;159;p3"/>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7F7F7F"/>
              </a:buClr>
              <a:buSzPts val="7200"/>
              <a:buNone/>
            </a:pPr>
            <a:r>
              <a:rPr lang="en-US"/>
              <a:t>2.1</a:t>
            </a:r>
            <a:endParaRPr/>
          </a:p>
        </p:txBody>
      </p:sp>
      <p:sp>
        <p:nvSpPr>
          <p:cNvPr id="160" name="Google Shape;160;p3"/>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6600CC"/>
              </a:buClr>
              <a:buSzPts val="3200"/>
              <a:buChar char="•"/>
            </a:pPr>
            <a:r>
              <a:rPr lang="en-US"/>
              <a:t>Competitive Advantage</a:t>
            </a:r>
            <a:endParaRPr/>
          </a:p>
          <a:p>
            <a:pPr indent="-342900" lvl="0" marL="342900" rtl="0" algn="l">
              <a:spcBef>
                <a:spcPts val="640"/>
              </a:spcBef>
              <a:spcAft>
                <a:spcPts val="0"/>
              </a:spcAft>
              <a:buClr>
                <a:srgbClr val="6600CC"/>
              </a:buClr>
              <a:buSzPts val="3200"/>
              <a:buChar char="•"/>
            </a:pPr>
            <a:r>
              <a:rPr lang="en-US"/>
              <a:t>Business Environment</a:t>
            </a:r>
            <a:endParaRPr/>
          </a:p>
          <a:p>
            <a:pPr indent="-342900" lvl="0" marL="342900" rtl="0" algn="l">
              <a:spcBef>
                <a:spcPts val="640"/>
              </a:spcBef>
              <a:spcAft>
                <a:spcPts val="0"/>
              </a:spcAft>
              <a:buClr>
                <a:srgbClr val="6600CC"/>
              </a:buClr>
              <a:buSzPts val="3200"/>
              <a:buChar char="•"/>
            </a:pPr>
            <a:r>
              <a:rPr lang="en-US"/>
              <a:t>Business Pressures</a:t>
            </a:r>
            <a:endParaRPr/>
          </a:p>
          <a:p>
            <a:pPr indent="-342900" lvl="0" marL="342900" rtl="0" algn="l">
              <a:spcBef>
                <a:spcPts val="640"/>
              </a:spcBef>
              <a:spcAft>
                <a:spcPts val="0"/>
              </a:spcAft>
              <a:buClr>
                <a:srgbClr val="6600CC"/>
              </a:buClr>
              <a:buSzPts val="3200"/>
              <a:buChar char="•"/>
            </a:pPr>
            <a:r>
              <a:rPr lang="en-US"/>
              <a:t>Organizational Responses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idx="1" type="subTitle"/>
          </p:nvPr>
        </p:nvSpPr>
        <p:spPr>
          <a:xfrm>
            <a:off x="228600" y="304800"/>
            <a:ext cx="8762999" cy="1676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FF9900"/>
              </a:buClr>
              <a:buSzPct val="100000"/>
              <a:buNone/>
            </a:pPr>
            <a:r>
              <a:rPr lang="en-US" sz="3890"/>
              <a:t>Business Pressures, Organizational Responses, and IT Support</a:t>
            </a:r>
            <a:endParaRPr sz="3890"/>
          </a:p>
          <a:p>
            <a:pPr indent="0" lvl="0" marL="0" rtl="0" algn="l">
              <a:spcBef>
                <a:spcPts val="1200"/>
              </a:spcBef>
              <a:spcAft>
                <a:spcPts val="0"/>
              </a:spcAft>
              <a:buClr>
                <a:srgbClr val="FF9900"/>
              </a:buClr>
              <a:buSzPct val="100000"/>
              <a:buNone/>
            </a:pPr>
            <a:r>
              <a:t/>
            </a:r>
            <a:endParaRPr sz="3890"/>
          </a:p>
        </p:txBody>
      </p:sp>
      <p:sp>
        <p:nvSpPr>
          <p:cNvPr id="166" name="Google Shape;166;p4"/>
          <p:cNvSpPr txBox="1"/>
          <p:nvPr>
            <p:ph idx="3" type="body"/>
          </p:nvPr>
        </p:nvSpPr>
        <p:spPr>
          <a:xfrm>
            <a:off x="33866" y="2133600"/>
            <a:ext cx="8957733" cy="4343400"/>
          </a:xfrm>
          <a:prstGeom prst="rect">
            <a:avLst/>
          </a:prstGeom>
          <a:noFill/>
          <a:ln>
            <a:noFill/>
          </a:ln>
        </p:spPr>
        <p:txBody>
          <a:bodyPr anchorCtr="0" anchor="t" bIns="45700" lIns="91425" spcFirstLastPara="1" rIns="91425" wrap="square" tIns="45700">
            <a:normAutofit fontScale="60000" lnSpcReduction="20000"/>
          </a:bodyPr>
          <a:lstStyle/>
          <a:p>
            <a:pPr indent="-342900" lvl="0" marL="342900" rtl="0" algn="l">
              <a:spcBef>
                <a:spcPts val="0"/>
              </a:spcBef>
              <a:spcAft>
                <a:spcPts val="0"/>
              </a:spcAft>
              <a:buClr>
                <a:srgbClr val="6600CC"/>
              </a:buClr>
              <a:buSzPct val="100000"/>
              <a:buChar char="•"/>
            </a:pPr>
            <a:r>
              <a:rPr b="1" lang="en-US"/>
              <a:t>Competitive Advantage: </a:t>
            </a:r>
            <a:r>
              <a:rPr lang="en-US"/>
              <a:t>any assets that provide an organization with an edge against its competitors in some measure such as cost, quality, or speed. It also helps an organization to control a market and to accrue larger-than-average profits.</a:t>
            </a:r>
            <a:endParaRPr/>
          </a:p>
          <a:p>
            <a:pPr indent="-220980" lvl="0" marL="342900" rtl="0" algn="l">
              <a:spcBef>
                <a:spcPts val="384"/>
              </a:spcBef>
              <a:spcAft>
                <a:spcPts val="0"/>
              </a:spcAft>
              <a:buClr>
                <a:srgbClr val="6600CC"/>
              </a:buClr>
              <a:buSzPct val="100000"/>
              <a:buNone/>
            </a:pPr>
            <a:r>
              <a:t/>
            </a:r>
            <a:endParaRPr/>
          </a:p>
          <a:p>
            <a:pPr indent="-342900" lvl="0" marL="342900" rtl="0" algn="l">
              <a:spcBef>
                <a:spcPts val="384"/>
              </a:spcBef>
              <a:spcAft>
                <a:spcPts val="0"/>
              </a:spcAft>
              <a:buClr>
                <a:schemeClr val="dk1"/>
              </a:buClr>
              <a:buSzPct val="100000"/>
              <a:buChar char="•"/>
            </a:pPr>
            <a:r>
              <a:rPr b="1" lang="en-US">
                <a:solidFill>
                  <a:schemeClr val="dk1"/>
                </a:solidFill>
              </a:rPr>
              <a:t>Business Environment: </a:t>
            </a:r>
            <a:r>
              <a:rPr lang="en-US">
                <a:solidFill>
                  <a:schemeClr val="dk1"/>
                </a:solidFill>
              </a:rPr>
              <a:t>the combination of social, legal, economic, physical, and political factors in which businesses conduct their operations. Significant changes in any of these factors are likely to create </a:t>
            </a:r>
            <a:r>
              <a:rPr b="1" lang="en-US">
                <a:solidFill>
                  <a:schemeClr val="dk1"/>
                </a:solidFill>
              </a:rPr>
              <a:t>Business Pressures </a:t>
            </a:r>
            <a:r>
              <a:rPr lang="en-US">
                <a:solidFill>
                  <a:schemeClr val="dk1"/>
                </a:solidFill>
              </a:rPr>
              <a:t>on organizations.</a:t>
            </a:r>
            <a:endParaRPr>
              <a:solidFill>
                <a:schemeClr val="dk1"/>
              </a:solidFill>
            </a:endParaRPr>
          </a:p>
          <a:p>
            <a:pPr indent="-220980" lvl="0" marL="342900" rtl="0" algn="l">
              <a:spcBef>
                <a:spcPts val="384"/>
              </a:spcBef>
              <a:spcAft>
                <a:spcPts val="0"/>
              </a:spcAft>
              <a:buClr>
                <a:srgbClr val="6600CC"/>
              </a:buClr>
              <a:buSzPct val="100000"/>
              <a:buNone/>
            </a:pPr>
            <a:r>
              <a:t/>
            </a:r>
            <a:endParaRPr/>
          </a:p>
          <a:p>
            <a:pPr indent="-342900" lvl="0" marL="342900" rtl="0" algn="l">
              <a:spcBef>
                <a:spcPts val="384"/>
              </a:spcBef>
              <a:spcAft>
                <a:spcPts val="0"/>
              </a:spcAft>
              <a:buClr>
                <a:srgbClr val="6600CC"/>
              </a:buClr>
              <a:buSzPct val="100000"/>
              <a:buChar char="•"/>
            </a:pPr>
            <a:r>
              <a:rPr b="1" lang="en-US"/>
              <a:t>Organizations Responses: </a:t>
            </a:r>
            <a:r>
              <a:rPr lang="en-US"/>
              <a:t>Organizations respond to the various pressures by implementing Information Technology (IT) such as strategic systems, customer focus, make-to-order and mass customization, and e-business.</a:t>
            </a:r>
            <a:endParaRPr/>
          </a:p>
          <a:p>
            <a:pPr indent="-220980" lvl="0" marL="342900" rtl="0" algn="l">
              <a:spcBef>
                <a:spcPts val="384"/>
              </a:spcBef>
              <a:spcAft>
                <a:spcPts val="0"/>
              </a:spcAft>
              <a:buClr>
                <a:srgbClr val="6600CC"/>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
          <p:cNvSpPr txBox="1"/>
          <p:nvPr>
            <p:ph idx="1" type="subTitle"/>
          </p:nvPr>
        </p:nvSpPr>
        <p:spPr>
          <a:xfrm>
            <a:off x="457200" y="76200"/>
            <a:ext cx="8153400" cy="955675"/>
          </a:xfrm>
          <a:prstGeom prst="rect">
            <a:avLst/>
          </a:prstGeom>
          <a:noFill/>
          <a:ln>
            <a:noFill/>
          </a:ln>
        </p:spPr>
        <p:txBody>
          <a:bodyPr anchorCtr="0" anchor="b" bIns="45700" lIns="91425" spcFirstLastPara="1" rIns="91425" wrap="square" tIns="45700">
            <a:normAutofit fontScale="60000"/>
          </a:bodyPr>
          <a:lstStyle/>
          <a:p>
            <a:pPr indent="0" lvl="0" marL="0" rtl="0" algn="l">
              <a:spcBef>
                <a:spcPts val="0"/>
              </a:spcBef>
              <a:spcAft>
                <a:spcPts val="0"/>
              </a:spcAft>
              <a:buClr>
                <a:srgbClr val="6600CC"/>
              </a:buClr>
              <a:buSzPct val="116865"/>
              <a:buNone/>
            </a:pPr>
            <a:r>
              <a:rPr lang="en-US"/>
              <a:t>F</a:t>
            </a:r>
            <a:r>
              <a:rPr lang="en-US" sz="3765"/>
              <a:t>igure 2.1: Business Pressures, Organizational Performance &amp; Responses, and IT Support</a:t>
            </a:r>
            <a:endParaRPr sz="3765"/>
          </a:p>
        </p:txBody>
      </p:sp>
      <p:pic>
        <p:nvPicPr>
          <p:cNvPr descr="C:\Documents and Settings\74216\Desktop\C02\rainer_5e_fig_02_02.tif" id="172" name="Google Shape;172;p5"/>
          <p:cNvPicPr preferRelativeResize="0"/>
          <p:nvPr>
            <p:ph idx="2" type="body"/>
          </p:nvPr>
        </p:nvPicPr>
        <p:blipFill rotWithShape="1">
          <a:blip r:embed="rId3">
            <a:alphaModFix/>
          </a:blip>
          <a:srcRect b="0" l="0" r="0" t="0"/>
          <a:stretch/>
        </p:blipFill>
        <p:spPr>
          <a:xfrm>
            <a:off x="379730" y="1100455"/>
            <a:ext cx="8368665" cy="56813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Business Pressures</a:t>
            </a:r>
            <a:endParaRPr/>
          </a:p>
        </p:txBody>
      </p:sp>
      <p:sp>
        <p:nvSpPr>
          <p:cNvPr id="179" name="Google Shape;179;p6"/>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Market Pressures</a:t>
            </a:r>
            <a:endParaRPr/>
          </a:p>
          <a:p>
            <a:pPr indent="-342900" lvl="0" marL="342900" rtl="0" algn="l">
              <a:spcBef>
                <a:spcPts val="640"/>
              </a:spcBef>
              <a:spcAft>
                <a:spcPts val="0"/>
              </a:spcAft>
              <a:buClr>
                <a:schemeClr val="dk1"/>
              </a:buClr>
              <a:buSzPts val="3200"/>
              <a:buChar char="•"/>
            </a:pPr>
            <a:r>
              <a:rPr lang="en-US"/>
              <a:t>Technology Pressures</a:t>
            </a:r>
            <a:endParaRPr/>
          </a:p>
          <a:p>
            <a:pPr indent="-342900" lvl="0" marL="342900" rtl="0" algn="l">
              <a:spcBef>
                <a:spcPts val="640"/>
              </a:spcBef>
              <a:spcAft>
                <a:spcPts val="0"/>
              </a:spcAft>
              <a:buClr>
                <a:schemeClr val="dk1"/>
              </a:buClr>
              <a:buSzPts val="3200"/>
              <a:buChar char="•"/>
            </a:pPr>
            <a:r>
              <a:rPr lang="en-US"/>
              <a:t>Societal/Political/Legal Pressures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Business Pressures</a:t>
            </a:r>
            <a:endParaRPr/>
          </a:p>
        </p:txBody>
      </p:sp>
      <p:sp>
        <p:nvSpPr>
          <p:cNvPr id="186" name="Google Shape;186;p7"/>
          <p:cNvSpPr txBox="1"/>
          <p:nvPr>
            <p:ph idx="2" type="body"/>
          </p:nvPr>
        </p:nvSpPr>
        <p:spPr>
          <a:xfrm>
            <a:off x="457200" y="2133600"/>
            <a:ext cx="8534400" cy="4343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b="1" lang="en-US"/>
              <a:t>Market Pressures: </a:t>
            </a:r>
            <a:r>
              <a:rPr lang="en-US"/>
              <a:t>business pressures generated by</a:t>
            </a:r>
            <a:endParaRPr/>
          </a:p>
          <a:p>
            <a:pPr indent="-342900" lvl="0" marL="342900" rtl="0" algn="l">
              <a:spcBef>
                <a:spcPts val="640"/>
              </a:spcBef>
              <a:spcAft>
                <a:spcPts val="0"/>
              </a:spcAft>
              <a:buClr>
                <a:srgbClr val="FF0000"/>
              </a:buClr>
              <a:buSzPts val="3200"/>
              <a:buChar char="•"/>
            </a:pPr>
            <a:r>
              <a:rPr lang="en-US">
                <a:solidFill>
                  <a:srgbClr val="FF0000"/>
                </a:solidFill>
              </a:rPr>
              <a:t>The global economy</a:t>
            </a:r>
            <a:endParaRPr>
              <a:solidFill>
                <a:srgbClr val="FF0000"/>
              </a:solidFill>
            </a:endParaRPr>
          </a:p>
          <a:p>
            <a:pPr indent="-342900" lvl="0" marL="342900" rtl="0" algn="l">
              <a:spcBef>
                <a:spcPts val="640"/>
              </a:spcBef>
              <a:spcAft>
                <a:spcPts val="0"/>
              </a:spcAft>
              <a:buClr>
                <a:srgbClr val="FF0000"/>
              </a:buClr>
              <a:buSzPts val="3200"/>
              <a:buChar char="•"/>
            </a:pPr>
            <a:r>
              <a:rPr lang="en-US">
                <a:solidFill>
                  <a:srgbClr val="FF0000"/>
                </a:solidFill>
              </a:rPr>
              <a:t>Intense  competition</a:t>
            </a:r>
            <a:endParaRPr>
              <a:solidFill>
                <a:srgbClr val="FF0000"/>
              </a:solidFill>
            </a:endParaRPr>
          </a:p>
          <a:p>
            <a:pPr indent="-342900" lvl="0" marL="342900" rtl="0" algn="l">
              <a:spcBef>
                <a:spcPts val="640"/>
              </a:spcBef>
              <a:spcAft>
                <a:spcPts val="0"/>
              </a:spcAft>
              <a:buClr>
                <a:srgbClr val="FF0000"/>
              </a:buClr>
              <a:buSzPts val="3200"/>
              <a:buChar char="•"/>
            </a:pPr>
            <a:r>
              <a:rPr lang="en-US">
                <a:solidFill>
                  <a:srgbClr val="FF0000"/>
                </a:solidFill>
              </a:rPr>
              <a:t>Changing nature of the workforce</a:t>
            </a:r>
            <a:endParaRPr>
              <a:solidFill>
                <a:srgbClr val="FF0000"/>
              </a:solidFill>
            </a:endParaRPr>
          </a:p>
          <a:p>
            <a:pPr indent="-342900" lvl="0" marL="342900" rtl="0" algn="l">
              <a:spcBef>
                <a:spcPts val="640"/>
              </a:spcBef>
              <a:spcAft>
                <a:spcPts val="0"/>
              </a:spcAft>
              <a:buClr>
                <a:srgbClr val="FF0000"/>
              </a:buClr>
              <a:buSzPts val="3200"/>
              <a:buChar char="•"/>
            </a:pPr>
            <a:r>
              <a:rPr lang="en-US">
                <a:solidFill>
                  <a:srgbClr val="FF0000"/>
                </a:solidFill>
              </a:rPr>
              <a:t>Powerful customers</a:t>
            </a:r>
            <a:r>
              <a:rPr lang="en-US"/>
              <a:t>.</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ph idx="1" type="subTitle"/>
          </p:nvPr>
        </p:nvSpPr>
        <p:spPr>
          <a:xfrm>
            <a:off x="457200" y="76200"/>
            <a:ext cx="8153400" cy="83121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Market Pressures</a:t>
            </a:r>
            <a:endParaRPr/>
          </a:p>
        </p:txBody>
      </p:sp>
      <p:sp>
        <p:nvSpPr>
          <p:cNvPr id="193" name="Google Shape;193;p8"/>
          <p:cNvSpPr txBox="1"/>
          <p:nvPr>
            <p:ph idx="2" type="body"/>
          </p:nvPr>
        </p:nvSpPr>
        <p:spPr>
          <a:xfrm>
            <a:off x="457200" y="909955"/>
            <a:ext cx="8458200" cy="5338445"/>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rgbClr val="595959"/>
              </a:buClr>
              <a:buSzPct val="100000"/>
              <a:buChar char="•"/>
            </a:pPr>
            <a:r>
              <a:rPr b="1" lang="en-US"/>
              <a:t>Globalization: </a:t>
            </a:r>
            <a:r>
              <a:rPr lang="en-US"/>
              <a:t>the integration and interdependence of economic, social, cultural, and ecological facets of life, made possible by rapid advances in information technology.</a:t>
            </a:r>
            <a:endParaRPr/>
          </a:p>
          <a:p>
            <a:pPr indent="-215900" lvl="0" marL="342900" rtl="0" algn="l">
              <a:spcBef>
                <a:spcPts val="400"/>
              </a:spcBef>
              <a:spcAft>
                <a:spcPts val="0"/>
              </a:spcAft>
              <a:buClr>
                <a:srgbClr val="595959"/>
              </a:buClr>
              <a:buSzPct val="100000"/>
              <a:buNone/>
            </a:pPr>
            <a:r>
              <a:t/>
            </a:r>
            <a:endParaRPr/>
          </a:p>
          <a:p>
            <a:pPr indent="-342900" lvl="0" marL="342900" rtl="0" algn="l">
              <a:spcBef>
                <a:spcPts val="400"/>
              </a:spcBef>
              <a:spcAft>
                <a:spcPts val="0"/>
              </a:spcAft>
              <a:buClr>
                <a:srgbClr val="595959"/>
              </a:buClr>
              <a:buSzPct val="100000"/>
              <a:buChar char="•"/>
            </a:pPr>
            <a:r>
              <a:rPr b="1" lang="en-US"/>
              <a:t>Changing Nature of the Workforce: </a:t>
            </a:r>
            <a:r>
              <a:rPr lang="en-US"/>
              <a:t>The workforce, particularly in developed countries, is becoming more diversified. Increasing numbers of women, single parents, minorities, and persons with disabilities are now employed in all types of positions.</a:t>
            </a:r>
            <a:endParaRPr/>
          </a:p>
          <a:p>
            <a:pPr indent="-215900" lvl="0" marL="342900" rtl="0" algn="l">
              <a:spcBef>
                <a:spcPts val="400"/>
              </a:spcBef>
              <a:spcAft>
                <a:spcPts val="0"/>
              </a:spcAft>
              <a:buClr>
                <a:srgbClr val="595959"/>
              </a:buClr>
              <a:buSzPct val="100000"/>
              <a:buNone/>
            </a:pPr>
            <a:r>
              <a:t/>
            </a:r>
            <a:endParaRPr/>
          </a:p>
          <a:p>
            <a:pPr indent="-342900" lvl="0" marL="342900" rtl="0" algn="l">
              <a:spcBef>
                <a:spcPts val="400"/>
              </a:spcBef>
              <a:spcAft>
                <a:spcPts val="0"/>
              </a:spcAft>
              <a:buClr>
                <a:srgbClr val="595959"/>
              </a:buClr>
              <a:buSzPct val="100000"/>
              <a:buChar char="•"/>
            </a:pPr>
            <a:r>
              <a:rPr b="1" lang="en-US"/>
              <a:t>Powerful Customers: </a:t>
            </a:r>
            <a:r>
              <a:rPr lang="en-US"/>
              <a:t>consumer sophistication and expectations increase as customers become more knowledgeable about the products and services they acquire. Customers can use the Internet to find detailed information about products and services, to compare prices, and to purchase items at electronic auctions.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Globalization</a:t>
            </a:r>
            <a:endParaRPr/>
          </a:p>
        </p:txBody>
      </p:sp>
      <p:sp>
        <p:nvSpPr>
          <p:cNvPr id="200" name="Google Shape;200;p9"/>
          <p:cNvSpPr txBox="1"/>
          <p:nvPr>
            <p:ph idx="2" type="body"/>
          </p:nvPr>
        </p:nvSpPr>
        <p:spPr>
          <a:xfrm>
            <a:off x="190499" y="2057400"/>
            <a:ext cx="86868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2400"/>
              <a:buChar char="•"/>
            </a:pPr>
            <a:r>
              <a:rPr lang="en-US" sz="2400"/>
              <a:t>Thomas Friedman – book “The World is Flat”, explained three eras of globalization.</a:t>
            </a:r>
            <a:endParaRPr sz="2400"/>
          </a:p>
          <a:p>
            <a:pPr indent="-285750" lvl="1" marL="742950" rtl="0" algn="l">
              <a:spcBef>
                <a:spcPts val="400"/>
              </a:spcBef>
              <a:spcAft>
                <a:spcPts val="0"/>
              </a:spcAft>
              <a:buClr>
                <a:srgbClr val="595959"/>
              </a:buClr>
              <a:buSzPts val="2000"/>
              <a:buChar char="–"/>
            </a:pPr>
            <a:r>
              <a:rPr lang="en-US" sz="2000"/>
              <a:t>Globalization 1.0 (1492 to 1800)</a:t>
            </a:r>
            <a:endParaRPr sz="2000"/>
          </a:p>
          <a:p>
            <a:pPr indent="-285750" lvl="1" marL="742950" rtl="0" algn="l">
              <a:spcBef>
                <a:spcPts val="400"/>
              </a:spcBef>
              <a:spcAft>
                <a:spcPts val="0"/>
              </a:spcAft>
              <a:buClr>
                <a:srgbClr val="595959"/>
              </a:buClr>
              <a:buSzPts val="2000"/>
              <a:buChar char="–"/>
            </a:pPr>
            <a:r>
              <a:rPr lang="en-US" sz="2000"/>
              <a:t>Globalization 2.0 (1800 to 2000)</a:t>
            </a:r>
            <a:endParaRPr sz="2000"/>
          </a:p>
          <a:p>
            <a:pPr indent="-285750" lvl="1" marL="742950" rtl="0" algn="l">
              <a:spcBef>
                <a:spcPts val="400"/>
              </a:spcBef>
              <a:spcAft>
                <a:spcPts val="0"/>
              </a:spcAft>
              <a:buClr>
                <a:srgbClr val="595959"/>
              </a:buClr>
              <a:buSzPts val="2000"/>
              <a:buChar char="–"/>
            </a:pPr>
            <a:r>
              <a:rPr lang="en-US" sz="2000"/>
              <a:t>Globalization 3.0 (2000 to present)</a:t>
            </a:r>
            <a:endParaRPr sz="2000"/>
          </a:p>
          <a:p>
            <a:pPr indent="-342900" lvl="0" marL="342900" rtl="0" algn="l">
              <a:spcBef>
                <a:spcPts val="480"/>
              </a:spcBef>
              <a:spcAft>
                <a:spcPts val="0"/>
              </a:spcAft>
              <a:buClr>
                <a:srgbClr val="595959"/>
              </a:buClr>
              <a:buSzPts val="2400"/>
              <a:buChar char="•"/>
            </a:pPr>
            <a:r>
              <a:rPr lang="en-US" sz="2400"/>
              <a:t>Ten Flatteners</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Globalization</a:t>
            </a:r>
            <a:endParaRPr/>
          </a:p>
        </p:txBody>
      </p:sp>
      <p:sp>
        <p:nvSpPr>
          <p:cNvPr id="207" name="Google Shape;207;p10"/>
          <p:cNvSpPr txBox="1"/>
          <p:nvPr>
            <p:ph idx="2" type="body"/>
          </p:nvPr>
        </p:nvSpPr>
        <p:spPr>
          <a:xfrm>
            <a:off x="190499" y="2057400"/>
            <a:ext cx="86868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2400"/>
              <a:buChar char="•"/>
            </a:pPr>
            <a:r>
              <a:rPr b="1" lang="en-US" sz="2400"/>
              <a:t>Globalization 1.0 (1492 to 1800)</a:t>
            </a:r>
            <a:endParaRPr b="1" sz="2400"/>
          </a:p>
          <a:p>
            <a:pPr indent="-190500" lvl="0" marL="342900" rtl="0" algn="l">
              <a:spcBef>
                <a:spcPts val="480"/>
              </a:spcBef>
              <a:spcAft>
                <a:spcPts val="0"/>
              </a:spcAft>
              <a:buClr>
                <a:srgbClr val="595959"/>
              </a:buClr>
              <a:buSzPts val="2400"/>
              <a:buNone/>
            </a:pPr>
            <a:r>
              <a:t/>
            </a:r>
            <a:endParaRPr b="1" sz="2400"/>
          </a:p>
          <a:p>
            <a:pPr indent="-342900" lvl="0" marL="342900" rtl="0" algn="l">
              <a:spcBef>
                <a:spcPts val="480"/>
              </a:spcBef>
              <a:spcAft>
                <a:spcPts val="0"/>
              </a:spcAft>
              <a:buClr>
                <a:srgbClr val="595959"/>
              </a:buClr>
              <a:buSzPts val="2400"/>
              <a:buChar char="•"/>
            </a:pPr>
            <a:r>
              <a:rPr lang="en-US" sz="2400"/>
              <a:t>The focus of globalization was on how much muscle, horsepower, wind power or steam power a country can deploy. </a:t>
            </a:r>
            <a:endParaRPr sz="2400"/>
          </a:p>
          <a:p>
            <a:pPr indent="-190500" lvl="0" marL="342900" rtl="0" algn="l">
              <a:spcBef>
                <a:spcPts val="480"/>
              </a:spcBef>
              <a:spcAft>
                <a:spcPts val="0"/>
              </a:spcAft>
              <a:buClr>
                <a:srgbClr val="595959"/>
              </a:buClr>
              <a:buSzPts val="2400"/>
              <a:buNone/>
            </a:pPr>
            <a:r>
              <a:t/>
            </a:r>
            <a:endParaRPr sz="2400"/>
          </a:p>
          <a:p>
            <a:pPr indent="-342900" lvl="0" marL="342900" rtl="0" algn="l">
              <a:spcBef>
                <a:spcPts val="480"/>
              </a:spcBef>
              <a:spcAft>
                <a:spcPts val="0"/>
              </a:spcAft>
              <a:buClr>
                <a:srgbClr val="595959"/>
              </a:buClr>
              <a:buSzPts val="2400"/>
              <a:buChar char="•"/>
            </a:pPr>
            <a:r>
              <a:rPr lang="en-US" sz="2400"/>
              <a:t>Focus was at country level.</a:t>
            </a:r>
            <a:endParaRPr sz="2400"/>
          </a:p>
          <a:p>
            <a:pPr indent="0" lvl="0" marL="0" rtl="0" algn="l">
              <a:spcBef>
                <a:spcPts val="480"/>
              </a:spcBef>
              <a:spcAft>
                <a:spcPts val="0"/>
              </a:spcAft>
              <a:buClr>
                <a:srgbClr val="595959"/>
              </a:buClr>
              <a:buSzPts val="2400"/>
              <a:buNone/>
            </a:pPr>
            <a:r>
              <a:t/>
            </a:r>
            <a:endParaRPr sz="2400"/>
          </a:p>
          <a:p>
            <a:pPr indent="-190500" lvl="0" marL="342900" rtl="0" algn="l">
              <a:spcBef>
                <a:spcPts val="480"/>
              </a:spcBef>
              <a:spcAft>
                <a:spcPts val="0"/>
              </a:spcAft>
              <a:buClr>
                <a:srgbClr val="595959"/>
              </a:buClr>
              <a:buSzPts val="2400"/>
              <a:buNone/>
            </a:pPr>
            <a:r>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Globalization</a:t>
            </a:r>
            <a:endParaRPr/>
          </a:p>
          <a:p>
            <a:pPr indent="0" lvl="0" marL="0" rtl="0" algn="l">
              <a:spcBef>
                <a:spcPts val="1200"/>
              </a:spcBef>
              <a:spcAft>
                <a:spcPts val="0"/>
              </a:spcAft>
              <a:buClr>
                <a:schemeClr val="dk1"/>
              </a:buClr>
              <a:buSzPts val="4400"/>
              <a:buNone/>
            </a:pPr>
            <a:r>
              <a:t/>
            </a:r>
            <a:endParaRPr/>
          </a:p>
        </p:txBody>
      </p:sp>
      <p:sp>
        <p:nvSpPr>
          <p:cNvPr id="213" name="Google Shape;213;p11"/>
          <p:cNvSpPr txBox="1"/>
          <p:nvPr>
            <p:ph idx="2" type="body"/>
          </p:nvPr>
        </p:nvSpPr>
        <p:spPr>
          <a:xfrm>
            <a:off x="609600" y="1991360"/>
            <a:ext cx="8001000" cy="425704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2400"/>
              <a:buChar char="•"/>
            </a:pPr>
            <a:r>
              <a:rPr b="1" lang="en-US" sz="2400"/>
              <a:t>Globalization 2.0 (1800 to 2000)</a:t>
            </a:r>
            <a:endParaRPr b="1" sz="2400"/>
          </a:p>
          <a:p>
            <a:pPr indent="-342900" lvl="0" marL="342900" rtl="0" algn="l">
              <a:spcBef>
                <a:spcPts val="480"/>
              </a:spcBef>
              <a:spcAft>
                <a:spcPts val="0"/>
              </a:spcAft>
              <a:buClr>
                <a:srgbClr val="595959"/>
              </a:buClr>
              <a:buSzPts val="2400"/>
              <a:buChar char="•"/>
            </a:pPr>
            <a:r>
              <a:rPr lang="en-US" sz="2400"/>
              <a:t>Distinct Focus: Multinational Companies</a:t>
            </a:r>
            <a:endParaRPr sz="2400"/>
          </a:p>
          <a:p>
            <a:pPr indent="-190500" lvl="0" marL="342900" rtl="0" algn="l">
              <a:spcBef>
                <a:spcPts val="480"/>
              </a:spcBef>
              <a:spcAft>
                <a:spcPts val="0"/>
              </a:spcAft>
              <a:buClr>
                <a:srgbClr val="595959"/>
              </a:buClr>
              <a:buSzPts val="2400"/>
              <a:buNone/>
            </a:pPr>
            <a:r>
              <a:t/>
            </a:r>
            <a:endParaRPr sz="2400"/>
          </a:p>
          <a:p>
            <a:pPr indent="-342900" lvl="0" marL="342900" rtl="0" algn="l">
              <a:spcBef>
                <a:spcPts val="480"/>
              </a:spcBef>
              <a:spcAft>
                <a:spcPts val="0"/>
              </a:spcAft>
              <a:buClr>
                <a:srgbClr val="595959"/>
              </a:buClr>
              <a:buSzPts val="2400"/>
              <a:buChar char="•"/>
            </a:pPr>
            <a:r>
              <a:rPr lang="en-US" sz="2400"/>
              <a:t>First half of this period --&gt; Falling Transportation Costs (Steam Engine/Railroads)</a:t>
            </a:r>
            <a:endParaRPr sz="2400"/>
          </a:p>
          <a:p>
            <a:pPr indent="-190500" lvl="0" marL="342900" rtl="0" algn="l">
              <a:spcBef>
                <a:spcPts val="480"/>
              </a:spcBef>
              <a:spcAft>
                <a:spcPts val="0"/>
              </a:spcAft>
              <a:buClr>
                <a:srgbClr val="595959"/>
              </a:buClr>
              <a:buSzPts val="2400"/>
              <a:buNone/>
            </a:pPr>
            <a:r>
              <a:t/>
            </a:r>
            <a:endParaRPr sz="2400"/>
          </a:p>
          <a:p>
            <a:pPr indent="-342900" lvl="0" marL="342900" rtl="0" algn="l">
              <a:spcBef>
                <a:spcPts val="480"/>
              </a:spcBef>
              <a:spcAft>
                <a:spcPts val="0"/>
              </a:spcAft>
              <a:buClr>
                <a:srgbClr val="595959"/>
              </a:buClr>
              <a:buSzPts val="2400"/>
              <a:buChar char="•"/>
            </a:pPr>
            <a:r>
              <a:rPr lang="en-US" sz="2400"/>
              <a:t>Second half of this period --&gt; Falling Telecommunication Costs (Telegraph, Telephone, Computer, Satellite, Fiber Optics, Internet)</a:t>
            </a:r>
            <a:endParaRPr sz="2400"/>
          </a:p>
          <a:p>
            <a:pPr indent="-190500" lvl="0" marL="342900" rtl="0" algn="l">
              <a:spcBef>
                <a:spcPts val="480"/>
              </a:spcBef>
              <a:spcAft>
                <a:spcPts val="0"/>
              </a:spcAft>
              <a:buClr>
                <a:srgbClr val="595959"/>
              </a:buClr>
              <a:buSzPts val="2400"/>
              <a:buNone/>
            </a:pPr>
            <a:r>
              <a:t/>
            </a:r>
            <a:endParaRPr sz="2400"/>
          </a:p>
          <a:p>
            <a:pPr indent="-190500" lvl="0" marL="342900" rtl="0" algn="l">
              <a:spcBef>
                <a:spcPts val="480"/>
              </a:spcBef>
              <a:spcAft>
                <a:spcPts val="0"/>
              </a:spcAft>
              <a:buClr>
                <a:srgbClr val="595959"/>
              </a:buClr>
              <a:buSzPts val="2400"/>
              <a:buNone/>
            </a:pPr>
            <a:r>
              <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Globalization</a:t>
            </a:r>
            <a:endParaRPr/>
          </a:p>
        </p:txBody>
      </p:sp>
      <p:sp>
        <p:nvSpPr>
          <p:cNvPr id="220" name="Google Shape;220;p12"/>
          <p:cNvSpPr txBox="1"/>
          <p:nvPr>
            <p:ph idx="2" type="body"/>
          </p:nvPr>
        </p:nvSpPr>
        <p:spPr>
          <a:xfrm>
            <a:off x="190499" y="2057400"/>
            <a:ext cx="86868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2400"/>
              <a:buChar char="•"/>
            </a:pPr>
            <a:r>
              <a:rPr b="1" lang="en-US" sz="2400"/>
              <a:t>Globalization 3.0 (2000 to present)</a:t>
            </a:r>
            <a:endParaRPr b="1" sz="2400"/>
          </a:p>
          <a:p>
            <a:pPr indent="-190500" lvl="0" marL="342900" rtl="0" algn="l">
              <a:spcBef>
                <a:spcPts val="480"/>
              </a:spcBef>
              <a:spcAft>
                <a:spcPts val="0"/>
              </a:spcAft>
              <a:buClr>
                <a:srgbClr val="595959"/>
              </a:buClr>
              <a:buSzPts val="2400"/>
              <a:buNone/>
            </a:pPr>
            <a:r>
              <a:t/>
            </a:r>
            <a:endParaRPr b="1" sz="2400"/>
          </a:p>
          <a:p>
            <a:pPr indent="-342900" lvl="0" marL="342900" rtl="0" algn="l">
              <a:spcBef>
                <a:spcPts val="480"/>
              </a:spcBef>
              <a:spcAft>
                <a:spcPts val="0"/>
              </a:spcAft>
              <a:buClr>
                <a:srgbClr val="595959"/>
              </a:buClr>
              <a:buSzPts val="2400"/>
              <a:buChar char="•"/>
            </a:pPr>
            <a:r>
              <a:rPr lang="en-US" sz="2400"/>
              <a:t>Distinct Focus: Groups and Individuals</a:t>
            </a:r>
            <a:endParaRPr sz="2400"/>
          </a:p>
          <a:p>
            <a:pPr indent="-190500" lvl="0" marL="342900" rtl="0" algn="l">
              <a:spcBef>
                <a:spcPts val="480"/>
              </a:spcBef>
              <a:spcAft>
                <a:spcPts val="0"/>
              </a:spcAft>
              <a:buClr>
                <a:srgbClr val="595959"/>
              </a:buClr>
              <a:buSzPts val="2400"/>
              <a:buNone/>
            </a:pPr>
            <a:r>
              <a:t/>
            </a:r>
            <a:endParaRPr sz="2400"/>
          </a:p>
          <a:p>
            <a:pPr indent="-342900" lvl="0" marL="342900" rtl="0" algn="l">
              <a:spcBef>
                <a:spcPts val="480"/>
              </a:spcBef>
              <a:spcAft>
                <a:spcPts val="0"/>
              </a:spcAft>
              <a:buClr>
                <a:srgbClr val="595959"/>
              </a:buClr>
              <a:buSzPts val="2400"/>
              <a:buChar char="•"/>
            </a:pPr>
            <a:r>
              <a:rPr lang="en-US" sz="2400"/>
              <a:t>Driver:  Convergence of 10 forces (or Flatteners)</a:t>
            </a:r>
            <a:endParaRPr sz="2400"/>
          </a:p>
          <a:p>
            <a:pPr indent="0" lvl="0" marL="0" rtl="0" algn="l">
              <a:spcBef>
                <a:spcPts val="480"/>
              </a:spcBef>
              <a:spcAft>
                <a:spcPts val="0"/>
              </a:spcAft>
              <a:buClr>
                <a:srgbClr val="595959"/>
              </a:buClr>
              <a:buSzPts val="2400"/>
              <a:buNone/>
            </a:pPr>
            <a:r>
              <a:t/>
            </a:r>
            <a:endParaRPr sz="2400"/>
          </a:p>
          <a:p>
            <a:pPr indent="-190500" lvl="0" marL="342900" rtl="0" algn="l">
              <a:spcBef>
                <a:spcPts val="480"/>
              </a:spcBef>
              <a:spcAft>
                <a:spcPts val="0"/>
              </a:spcAft>
              <a:buClr>
                <a:srgbClr val="595959"/>
              </a:buClr>
              <a:buSzPts val="2400"/>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Thomas Freidman: Ten Flatteners</a:t>
            </a:r>
            <a:endParaRPr/>
          </a:p>
        </p:txBody>
      </p:sp>
      <p:sp>
        <p:nvSpPr>
          <p:cNvPr id="227" name="Google Shape;227;p13"/>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Autofit/>
          </a:bodyPr>
          <a:lstStyle/>
          <a:p>
            <a:pPr indent="-514350" lvl="0" marL="514350" rtl="0" algn="l">
              <a:spcBef>
                <a:spcPts val="0"/>
              </a:spcBef>
              <a:spcAft>
                <a:spcPts val="0"/>
              </a:spcAft>
              <a:buClr>
                <a:srgbClr val="595959"/>
              </a:buClr>
              <a:buSzPts val="2000"/>
              <a:buFont typeface="Georgia"/>
              <a:buAutoNum type="arabicPeriod"/>
            </a:pPr>
            <a:r>
              <a:rPr lang="en-US" sz="2000"/>
              <a:t>Fall of the Berlin Wall on November 9, 1989 </a:t>
            </a:r>
            <a:endParaRPr sz="2000"/>
          </a:p>
          <a:p>
            <a:pPr indent="-514350" lvl="0" marL="514350" rtl="0" algn="l">
              <a:spcBef>
                <a:spcPts val="400"/>
              </a:spcBef>
              <a:spcAft>
                <a:spcPts val="0"/>
              </a:spcAft>
              <a:buClr>
                <a:srgbClr val="595959"/>
              </a:buClr>
              <a:buSzPts val="2000"/>
              <a:buFont typeface="Georgia"/>
              <a:buAutoNum type="arabicPeriod"/>
            </a:pPr>
            <a:r>
              <a:rPr lang="en-US" sz="2000"/>
              <a:t>Netscape goes public on August 9, 1995</a:t>
            </a:r>
            <a:endParaRPr sz="2000"/>
          </a:p>
          <a:p>
            <a:pPr indent="-514350" lvl="0" marL="514350" rtl="0" algn="l">
              <a:spcBef>
                <a:spcPts val="400"/>
              </a:spcBef>
              <a:spcAft>
                <a:spcPts val="0"/>
              </a:spcAft>
              <a:buClr>
                <a:srgbClr val="595959"/>
              </a:buClr>
              <a:buSzPts val="2000"/>
              <a:buFont typeface="Georgia"/>
              <a:buAutoNum type="arabicPeriod"/>
            </a:pPr>
            <a:r>
              <a:rPr lang="en-US" sz="2000"/>
              <a:t>Development of workflow software</a:t>
            </a:r>
            <a:endParaRPr sz="2000"/>
          </a:p>
          <a:p>
            <a:pPr indent="-514350" lvl="0" marL="514350" rtl="0" algn="l">
              <a:spcBef>
                <a:spcPts val="400"/>
              </a:spcBef>
              <a:spcAft>
                <a:spcPts val="0"/>
              </a:spcAft>
              <a:buClr>
                <a:srgbClr val="595959"/>
              </a:buClr>
              <a:buSzPts val="2000"/>
              <a:buFont typeface="Georgia"/>
              <a:buAutoNum type="arabicPeriod"/>
            </a:pPr>
            <a:r>
              <a:rPr lang="en-US" sz="2000"/>
              <a:t>Uploading</a:t>
            </a:r>
            <a:endParaRPr sz="2000"/>
          </a:p>
          <a:p>
            <a:pPr indent="-514350" lvl="0" marL="514350" rtl="0" algn="l">
              <a:spcBef>
                <a:spcPts val="400"/>
              </a:spcBef>
              <a:spcAft>
                <a:spcPts val="0"/>
              </a:spcAft>
              <a:buClr>
                <a:srgbClr val="595959"/>
              </a:buClr>
              <a:buSzPts val="2000"/>
              <a:buFont typeface="Georgia"/>
              <a:buAutoNum type="arabicPeriod"/>
            </a:pPr>
            <a:r>
              <a:rPr lang="en-US" sz="2000"/>
              <a:t>Outsourcing</a:t>
            </a:r>
            <a:endParaRPr sz="2000"/>
          </a:p>
          <a:p>
            <a:pPr indent="-514350" lvl="0" marL="514350" rtl="0" algn="l">
              <a:spcBef>
                <a:spcPts val="400"/>
              </a:spcBef>
              <a:spcAft>
                <a:spcPts val="0"/>
              </a:spcAft>
              <a:buClr>
                <a:srgbClr val="595959"/>
              </a:buClr>
              <a:buSzPts val="2000"/>
              <a:buFont typeface="Georgia"/>
              <a:buAutoNum type="arabicPeriod"/>
            </a:pPr>
            <a:r>
              <a:rPr lang="en-US" sz="2000"/>
              <a:t>Offshoring</a:t>
            </a:r>
            <a:endParaRPr sz="2000"/>
          </a:p>
          <a:p>
            <a:pPr indent="-514350" lvl="0" marL="514350" rtl="0" algn="l">
              <a:spcBef>
                <a:spcPts val="400"/>
              </a:spcBef>
              <a:spcAft>
                <a:spcPts val="0"/>
              </a:spcAft>
              <a:buClr>
                <a:srgbClr val="595959"/>
              </a:buClr>
              <a:buSzPts val="2000"/>
              <a:buFont typeface="Georgia"/>
              <a:buAutoNum type="arabicPeriod"/>
            </a:pPr>
            <a:r>
              <a:rPr lang="en-US" sz="2000"/>
              <a:t>Supply chaining</a:t>
            </a:r>
            <a:endParaRPr sz="2000"/>
          </a:p>
          <a:p>
            <a:pPr indent="-514350" lvl="0" marL="514350" rtl="0" algn="l">
              <a:spcBef>
                <a:spcPts val="400"/>
              </a:spcBef>
              <a:spcAft>
                <a:spcPts val="0"/>
              </a:spcAft>
              <a:buClr>
                <a:srgbClr val="595959"/>
              </a:buClr>
              <a:buSzPts val="2000"/>
              <a:buFont typeface="Georgia"/>
              <a:buAutoNum type="arabicPeriod"/>
            </a:pPr>
            <a:r>
              <a:rPr lang="en-US" sz="2000"/>
              <a:t>Insourcing</a:t>
            </a:r>
            <a:endParaRPr sz="2000"/>
          </a:p>
          <a:p>
            <a:pPr indent="-514350" lvl="0" marL="514350" rtl="0" algn="l">
              <a:spcBef>
                <a:spcPts val="400"/>
              </a:spcBef>
              <a:spcAft>
                <a:spcPts val="0"/>
              </a:spcAft>
              <a:buClr>
                <a:srgbClr val="595959"/>
              </a:buClr>
              <a:buSzPts val="2000"/>
              <a:buFont typeface="Georgia"/>
              <a:buAutoNum type="arabicPeriod"/>
            </a:pPr>
            <a:r>
              <a:rPr lang="en-US" sz="2000"/>
              <a:t>Informing</a:t>
            </a:r>
            <a:endParaRPr sz="2000"/>
          </a:p>
          <a:p>
            <a:pPr indent="-514350" lvl="0" marL="514350" rtl="0" algn="l">
              <a:spcBef>
                <a:spcPts val="400"/>
              </a:spcBef>
              <a:spcAft>
                <a:spcPts val="0"/>
              </a:spcAft>
              <a:buClr>
                <a:srgbClr val="595959"/>
              </a:buClr>
              <a:buSzPts val="2000"/>
              <a:buFont typeface="Georgia"/>
              <a:buAutoNum type="arabicPeriod"/>
            </a:pPr>
            <a:r>
              <a:rPr lang="en-US" sz="2000"/>
              <a:t>The Steroids</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4"/>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Thomas Freidman: Ten Flatteners</a:t>
            </a:r>
            <a:endParaRPr/>
          </a:p>
        </p:txBody>
      </p:sp>
      <p:sp>
        <p:nvSpPr>
          <p:cNvPr id="234" name="Google Shape;234;p14"/>
          <p:cNvSpPr txBox="1"/>
          <p:nvPr>
            <p:ph idx="2" type="body"/>
          </p:nvPr>
        </p:nvSpPr>
        <p:spPr>
          <a:xfrm>
            <a:off x="228600" y="2057400"/>
            <a:ext cx="8001000" cy="3962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595959"/>
              </a:buClr>
              <a:buSzPts val="2000"/>
              <a:buNone/>
            </a:pPr>
            <a:r>
              <a:rPr b="1" lang="en-US" sz="2000"/>
              <a:t>Fall of the Berlin Wall on November 9, 1989: </a:t>
            </a:r>
            <a:endParaRPr b="1" sz="2000"/>
          </a:p>
          <a:p>
            <a:pPr indent="-228600" lvl="0" marL="228600" rtl="0" algn="l">
              <a:spcBef>
                <a:spcPts val="400"/>
              </a:spcBef>
              <a:spcAft>
                <a:spcPts val="0"/>
              </a:spcAft>
              <a:buClr>
                <a:srgbClr val="595959"/>
              </a:buClr>
              <a:buSzPts val="2000"/>
              <a:buChar char="•"/>
            </a:pPr>
            <a:r>
              <a:rPr lang="en-US" sz="2000"/>
              <a:t>Shifted the world toward free-market economies and away from centrally planned economies.</a:t>
            </a:r>
            <a:endParaRPr sz="2000"/>
          </a:p>
          <a:p>
            <a:pPr indent="-228600" lvl="0" marL="228600" rtl="0" algn="l">
              <a:spcBef>
                <a:spcPts val="400"/>
              </a:spcBef>
              <a:spcAft>
                <a:spcPts val="0"/>
              </a:spcAft>
              <a:buClr>
                <a:srgbClr val="595959"/>
              </a:buClr>
              <a:buSzPts val="2000"/>
              <a:buChar char="•"/>
            </a:pPr>
            <a:r>
              <a:rPr lang="en-US" sz="2000"/>
              <a:t>The world as a single, global market.</a:t>
            </a:r>
            <a:endParaRPr sz="2000"/>
          </a:p>
          <a:p>
            <a:pPr indent="0" lvl="0" marL="0" rtl="0" algn="l">
              <a:spcBef>
                <a:spcPts val="400"/>
              </a:spcBef>
              <a:spcAft>
                <a:spcPts val="0"/>
              </a:spcAft>
              <a:buClr>
                <a:srgbClr val="595959"/>
              </a:buClr>
              <a:buSzPts val="2000"/>
              <a:buNone/>
            </a:pPr>
            <a:r>
              <a:rPr b="1" lang="en-US" sz="2000"/>
              <a:t>Netscape goes public on August 9, 1995:</a:t>
            </a:r>
            <a:endParaRPr b="1" sz="2000"/>
          </a:p>
          <a:p>
            <a:pPr indent="-228600" lvl="0" marL="228600" rtl="0" algn="l">
              <a:spcBef>
                <a:spcPts val="400"/>
              </a:spcBef>
              <a:spcAft>
                <a:spcPts val="0"/>
              </a:spcAft>
              <a:buClr>
                <a:srgbClr val="595959"/>
              </a:buClr>
              <a:buSzPts val="2000"/>
              <a:buChar char="•"/>
            </a:pPr>
            <a:r>
              <a:rPr lang="en-US" sz="2000"/>
              <a:t>Popularized the Internet and the World Wide Web.</a:t>
            </a:r>
            <a:endParaRPr sz="2000"/>
          </a:p>
          <a:p>
            <a:pPr indent="0" lvl="0" marL="0" rtl="0" algn="l">
              <a:spcBef>
                <a:spcPts val="400"/>
              </a:spcBef>
              <a:spcAft>
                <a:spcPts val="0"/>
              </a:spcAft>
              <a:buClr>
                <a:srgbClr val="595959"/>
              </a:buClr>
              <a:buSzPts val="2000"/>
              <a:buNone/>
            </a:pPr>
            <a:r>
              <a:rPr b="1" lang="en-US" sz="2000"/>
              <a:t>Development of workflow software:</a:t>
            </a:r>
            <a:endParaRPr b="1" sz="2000"/>
          </a:p>
          <a:p>
            <a:pPr indent="-228600" lvl="0" marL="228600" rtl="0" algn="l">
              <a:spcBef>
                <a:spcPts val="400"/>
              </a:spcBef>
              <a:spcAft>
                <a:spcPts val="0"/>
              </a:spcAft>
              <a:buClr>
                <a:srgbClr val="595959"/>
              </a:buClr>
              <a:buSzPts val="2000"/>
              <a:buChar char="•"/>
            </a:pPr>
            <a:r>
              <a:rPr lang="en-US" sz="2000"/>
              <a:t>Enabled computer applications to work with one another without human intervention.</a:t>
            </a:r>
            <a:endParaRPr sz="2000"/>
          </a:p>
          <a:p>
            <a:pPr indent="-228600" lvl="0" marL="228600" rtl="0" algn="l">
              <a:spcBef>
                <a:spcPts val="400"/>
              </a:spcBef>
              <a:spcAft>
                <a:spcPts val="0"/>
              </a:spcAft>
              <a:buClr>
                <a:srgbClr val="595959"/>
              </a:buClr>
              <a:buSzPts val="2000"/>
              <a:buChar char="•"/>
            </a:pPr>
            <a:r>
              <a:rPr lang="en-US" sz="2000"/>
              <a:t>Enabled faster, closer collaboration and coordination among employees, regardless of their location.</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Thomas Freidman: Ten Flatteners</a:t>
            </a:r>
            <a:endParaRPr/>
          </a:p>
        </p:txBody>
      </p:sp>
      <p:sp>
        <p:nvSpPr>
          <p:cNvPr id="241" name="Google Shape;241;p15"/>
          <p:cNvSpPr txBox="1"/>
          <p:nvPr>
            <p:ph idx="2" type="body"/>
          </p:nvPr>
        </p:nvSpPr>
        <p:spPr>
          <a:xfrm>
            <a:off x="381000" y="1981200"/>
            <a:ext cx="8458200" cy="3962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595959"/>
              </a:buClr>
              <a:buSzPts val="1800"/>
              <a:buNone/>
            </a:pPr>
            <a:r>
              <a:rPr b="1" lang="en-US" sz="1800"/>
              <a:t>Uploading:</a:t>
            </a:r>
            <a:endParaRPr b="1" sz="1800"/>
          </a:p>
          <a:p>
            <a:pPr indent="-228600" lvl="0" marL="228600" rtl="0" algn="l">
              <a:spcBef>
                <a:spcPts val="360"/>
              </a:spcBef>
              <a:spcAft>
                <a:spcPts val="0"/>
              </a:spcAft>
              <a:buClr>
                <a:srgbClr val="595959"/>
              </a:buClr>
              <a:buSzPts val="1800"/>
              <a:buChar char="•"/>
            </a:pPr>
            <a:r>
              <a:rPr lang="en-US" sz="1800"/>
              <a:t>Empowered all Internet users to create content and put it on the Web.</a:t>
            </a:r>
            <a:endParaRPr sz="1800"/>
          </a:p>
          <a:p>
            <a:pPr indent="-228600" lvl="0" marL="228600" rtl="0" algn="l">
              <a:spcBef>
                <a:spcPts val="360"/>
              </a:spcBef>
              <a:spcAft>
                <a:spcPts val="0"/>
              </a:spcAft>
              <a:buClr>
                <a:srgbClr val="595959"/>
              </a:buClr>
              <a:buSzPts val="1800"/>
              <a:buChar char="•"/>
            </a:pPr>
            <a:r>
              <a:rPr lang="en-US" sz="1800"/>
              <a:t>Led the transition from a passive approach to content to an active, participatory, collaborative approach.</a:t>
            </a:r>
            <a:endParaRPr sz="1800"/>
          </a:p>
          <a:p>
            <a:pPr indent="0" lvl="0" marL="0" rtl="0" algn="l">
              <a:spcBef>
                <a:spcPts val="360"/>
              </a:spcBef>
              <a:spcAft>
                <a:spcPts val="0"/>
              </a:spcAft>
              <a:buClr>
                <a:srgbClr val="595959"/>
              </a:buClr>
              <a:buSzPts val="1800"/>
              <a:buNone/>
            </a:pPr>
            <a:r>
              <a:rPr b="1" lang="en-US" sz="1800"/>
              <a:t>Outsourcing:</a:t>
            </a:r>
            <a:endParaRPr b="1" sz="1800"/>
          </a:p>
          <a:p>
            <a:pPr indent="-228600" lvl="0" marL="228600" rtl="0" algn="l">
              <a:spcBef>
                <a:spcPts val="360"/>
              </a:spcBef>
              <a:spcAft>
                <a:spcPts val="0"/>
              </a:spcAft>
              <a:buClr>
                <a:srgbClr val="595959"/>
              </a:buClr>
              <a:buSzPts val="1800"/>
              <a:buChar char="•"/>
            </a:pPr>
            <a:r>
              <a:rPr lang="en-US" sz="1800"/>
              <a:t>Contracting with an outside company to perform a specific function that your company was doing itself and then integrating their work back into your operation; for example, moving customer call centers to India.</a:t>
            </a:r>
            <a:endParaRPr sz="1800"/>
          </a:p>
          <a:p>
            <a:pPr indent="0" lvl="0" marL="0" rtl="0" algn="l">
              <a:spcBef>
                <a:spcPts val="360"/>
              </a:spcBef>
              <a:spcAft>
                <a:spcPts val="0"/>
              </a:spcAft>
              <a:buClr>
                <a:srgbClr val="595959"/>
              </a:buClr>
              <a:buSzPts val="1800"/>
              <a:buNone/>
            </a:pPr>
            <a:r>
              <a:rPr b="1" lang="en-US" sz="1800"/>
              <a:t>Offshoring:</a:t>
            </a:r>
            <a:endParaRPr b="1" sz="1800"/>
          </a:p>
          <a:p>
            <a:pPr indent="-228600" lvl="0" marL="228600" rtl="0" algn="l">
              <a:spcBef>
                <a:spcPts val="360"/>
              </a:spcBef>
              <a:spcAft>
                <a:spcPts val="0"/>
              </a:spcAft>
              <a:buClr>
                <a:srgbClr val="595959"/>
              </a:buClr>
              <a:buSzPts val="1800"/>
              <a:buChar char="•"/>
            </a:pPr>
            <a:r>
              <a:rPr lang="en-US" sz="1800"/>
              <a:t>Relocating an entire operation, or certain tasks, to another country; for example, moving an entire manufacturing operation to China.</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6"/>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Thomas Freidman: Ten Flatteners</a:t>
            </a:r>
            <a:endParaRPr/>
          </a:p>
        </p:txBody>
      </p:sp>
      <p:sp>
        <p:nvSpPr>
          <p:cNvPr id="248" name="Google Shape;248;p16"/>
          <p:cNvSpPr txBox="1"/>
          <p:nvPr>
            <p:ph idx="2" type="body"/>
          </p:nvPr>
        </p:nvSpPr>
        <p:spPr>
          <a:xfrm>
            <a:off x="304800" y="1905000"/>
            <a:ext cx="8610600" cy="4495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595959"/>
              </a:buClr>
              <a:buSzPts val="1600"/>
              <a:buNone/>
            </a:pPr>
            <a:r>
              <a:rPr b="1" lang="en-US" sz="1600"/>
              <a:t>Supply chaining:</a:t>
            </a:r>
            <a:endParaRPr b="1" sz="1600"/>
          </a:p>
          <a:p>
            <a:pPr indent="-228600" lvl="0" marL="228600" rtl="0" algn="l">
              <a:spcBef>
                <a:spcPts val="320"/>
              </a:spcBef>
              <a:spcAft>
                <a:spcPts val="0"/>
              </a:spcAft>
              <a:buClr>
                <a:srgbClr val="595959"/>
              </a:buClr>
              <a:buSzPts val="1600"/>
              <a:buChar char="•"/>
            </a:pPr>
            <a:r>
              <a:rPr lang="en-US" sz="1600"/>
              <a:t>Technological revolution led to the creation of networks composed of companies, their suppliers, and their customers, all of which could collaborate and share information for increased efficiency.</a:t>
            </a:r>
            <a:endParaRPr sz="1600"/>
          </a:p>
          <a:p>
            <a:pPr indent="0" lvl="0" marL="0" rtl="0" algn="l">
              <a:spcBef>
                <a:spcPts val="320"/>
              </a:spcBef>
              <a:spcAft>
                <a:spcPts val="0"/>
              </a:spcAft>
              <a:buClr>
                <a:srgbClr val="595959"/>
              </a:buClr>
              <a:buSzPts val="1600"/>
              <a:buNone/>
            </a:pPr>
            <a:r>
              <a:rPr b="1" lang="en-US" sz="1600"/>
              <a:t>Insourcing:</a:t>
            </a:r>
            <a:endParaRPr b="1" sz="1600"/>
          </a:p>
          <a:p>
            <a:pPr indent="-228600" lvl="0" marL="228600" rtl="0" algn="l">
              <a:spcBef>
                <a:spcPts val="320"/>
              </a:spcBef>
              <a:spcAft>
                <a:spcPts val="0"/>
              </a:spcAft>
              <a:buClr>
                <a:srgbClr val="595959"/>
              </a:buClr>
              <a:buSzPts val="1600"/>
              <a:buChar char="•"/>
            </a:pPr>
            <a:r>
              <a:rPr lang="en-US" sz="1600"/>
              <a:t>Delegating operations or jobs within a business to another company that specializes in those operations; for example, Dell hires FedEx to “take over” Dell’s logistics process.</a:t>
            </a:r>
            <a:endParaRPr sz="1600"/>
          </a:p>
          <a:p>
            <a:pPr indent="0" lvl="0" marL="0" rtl="0" algn="l">
              <a:spcBef>
                <a:spcPts val="320"/>
              </a:spcBef>
              <a:spcAft>
                <a:spcPts val="0"/>
              </a:spcAft>
              <a:buClr>
                <a:srgbClr val="595959"/>
              </a:buClr>
              <a:buSzPts val="1600"/>
              <a:buNone/>
            </a:pPr>
            <a:r>
              <a:rPr b="1" lang="en-US" sz="1600"/>
              <a:t>Informing:</a:t>
            </a:r>
            <a:endParaRPr b="1" sz="1600"/>
          </a:p>
          <a:p>
            <a:pPr indent="-228600" lvl="0" marL="228600" rtl="0" algn="l">
              <a:spcBef>
                <a:spcPts val="320"/>
              </a:spcBef>
              <a:spcAft>
                <a:spcPts val="0"/>
              </a:spcAft>
              <a:buClr>
                <a:srgbClr val="595959"/>
              </a:buClr>
              <a:buSzPts val="1600"/>
              <a:buChar char="•"/>
            </a:pPr>
            <a:r>
              <a:rPr lang="en-US" sz="1600"/>
              <a:t>The ability to search for information, best illustrated by search engines.</a:t>
            </a:r>
            <a:endParaRPr sz="1600"/>
          </a:p>
          <a:p>
            <a:pPr indent="0" lvl="0" marL="0" rtl="0" algn="l">
              <a:spcBef>
                <a:spcPts val="320"/>
              </a:spcBef>
              <a:spcAft>
                <a:spcPts val="0"/>
              </a:spcAft>
              <a:buClr>
                <a:srgbClr val="595959"/>
              </a:buClr>
              <a:buSzPts val="1600"/>
              <a:buNone/>
            </a:pPr>
            <a:r>
              <a:rPr b="1" lang="en-US" sz="1600"/>
              <a:t>The Steroids (computing, instant messaging and file sharing, wireless technologies, Voice over Internet Protocol, videoconferencing, and computer graphics):</a:t>
            </a:r>
            <a:endParaRPr b="1" sz="1600"/>
          </a:p>
          <a:p>
            <a:pPr indent="-228600" lvl="0" marL="228600" rtl="0" algn="l">
              <a:spcBef>
                <a:spcPts val="320"/>
              </a:spcBef>
              <a:spcAft>
                <a:spcPts val="0"/>
              </a:spcAft>
              <a:buClr>
                <a:srgbClr val="595959"/>
              </a:buClr>
              <a:buSzPts val="1600"/>
              <a:buChar char="•"/>
            </a:pPr>
            <a:r>
              <a:rPr lang="en-US" sz="1600"/>
              <a:t>Technologies that amplify the other flatteners.</a:t>
            </a:r>
            <a:endParaRPr sz="1600"/>
          </a:p>
          <a:p>
            <a:pPr indent="-228600" lvl="0" marL="228600" rtl="0" algn="l">
              <a:spcBef>
                <a:spcPts val="320"/>
              </a:spcBef>
              <a:spcAft>
                <a:spcPts val="0"/>
              </a:spcAft>
              <a:buClr>
                <a:srgbClr val="595959"/>
              </a:buClr>
              <a:buSzPts val="1600"/>
              <a:buChar char="•"/>
            </a:pPr>
            <a:r>
              <a:rPr lang="en-US" sz="1600"/>
              <a:t>Enable all forms of computing and collaboration to be digital, mobile, and personal.</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7"/>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A0B94F"/>
              </a:buClr>
              <a:buSzPts val="11500"/>
              <a:buFont typeface="Arial"/>
              <a:buNone/>
            </a:pPr>
            <a:r>
              <a:t/>
            </a:r>
            <a:endParaRPr/>
          </a:p>
        </p:txBody>
      </p:sp>
      <p:sp>
        <p:nvSpPr>
          <p:cNvPr id="254" name="Google Shape;254;p17"/>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D74B13"/>
              </a:buClr>
              <a:buSzPts val="72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8"/>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Technology Pressures</a:t>
            </a:r>
            <a:endParaRPr/>
          </a:p>
        </p:txBody>
      </p:sp>
      <p:sp>
        <p:nvSpPr>
          <p:cNvPr id="261" name="Google Shape;261;p18"/>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3200"/>
              <a:buChar char="•"/>
            </a:pPr>
            <a:r>
              <a:rPr lang="en-US"/>
              <a:t>Technological Innovation and Obsolescence</a:t>
            </a:r>
            <a:endParaRPr/>
          </a:p>
          <a:p>
            <a:pPr indent="-342900" lvl="0" marL="342900" rtl="0" algn="l">
              <a:spcBef>
                <a:spcPts val="640"/>
              </a:spcBef>
              <a:spcAft>
                <a:spcPts val="0"/>
              </a:spcAft>
              <a:buClr>
                <a:srgbClr val="595959"/>
              </a:buClr>
              <a:buSzPts val="3200"/>
              <a:buChar char="•"/>
            </a:pPr>
            <a:r>
              <a:rPr lang="en-US"/>
              <a:t>Information Overload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Technology Pressures</a:t>
            </a:r>
            <a:endParaRPr/>
          </a:p>
        </p:txBody>
      </p:sp>
      <p:sp>
        <p:nvSpPr>
          <p:cNvPr id="268" name="Google Shape;268;p19"/>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b="1" lang="en-US">
                <a:solidFill>
                  <a:schemeClr val="dk1"/>
                </a:solidFill>
              </a:rPr>
              <a:t>Technological Innovation and Obsolescence: </a:t>
            </a:r>
            <a:r>
              <a:rPr lang="en-US">
                <a:solidFill>
                  <a:schemeClr val="dk1"/>
                </a:solidFill>
              </a:rPr>
              <a:t>Few and improved technologies rapidly create or support substitutes for products, alternative service options, and superb quality. As a result, today’s state-of-the-art products may be obsolete tomorrow.</a:t>
            </a:r>
            <a:endParaRPr>
              <a:solidFill>
                <a:schemeClr val="dk1"/>
              </a:solidFill>
            </a:endParaRPr>
          </a:p>
          <a:p>
            <a:pPr indent="-200660" lvl="0" marL="342900" rtl="0" algn="l">
              <a:spcBef>
                <a:spcPts val="448"/>
              </a:spcBef>
              <a:spcAft>
                <a:spcPts val="0"/>
              </a:spcAft>
              <a:buClr>
                <a:srgbClr val="595959"/>
              </a:buClr>
              <a:buSzPct val="100000"/>
              <a:buNone/>
            </a:pPr>
            <a:r>
              <a:t/>
            </a:r>
            <a:endParaRPr>
              <a:solidFill>
                <a:schemeClr val="dk1"/>
              </a:solidFill>
            </a:endParaRPr>
          </a:p>
          <a:p>
            <a:pPr indent="-342900" lvl="0" marL="342900" rtl="0" algn="l">
              <a:spcBef>
                <a:spcPts val="448"/>
              </a:spcBef>
              <a:spcAft>
                <a:spcPts val="0"/>
              </a:spcAft>
              <a:buClr>
                <a:schemeClr val="dk1"/>
              </a:buClr>
              <a:buSzPct val="100000"/>
              <a:buChar char="•"/>
            </a:pPr>
            <a:r>
              <a:rPr b="1" lang="en-US">
                <a:solidFill>
                  <a:schemeClr val="dk1"/>
                </a:solidFill>
              </a:rPr>
              <a:t>Information Overload: </a:t>
            </a:r>
            <a:r>
              <a:rPr lang="en-US">
                <a:solidFill>
                  <a:schemeClr val="dk1"/>
                </a:solidFill>
              </a:rPr>
              <a:t>Internet and other telecommunications networks are bringing a flood of information to managers. To make decisions effectively and efficiently, managers must be able to access, navigate, and utilize these vast stores of data, information, and knowledge.</a:t>
            </a:r>
            <a:endParaRPr>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0"/>
          <p:cNvSpPr txBox="1"/>
          <p:nvPr>
            <p:ph idx="1" type="body"/>
          </p:nvPr>
        </p:nvSpPr>
        <p:spPr>
          <a:xfrm>
            <a:off x="2590799" y="1752600"/>
            <a:ext cx="2057401" cy="1752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A0B94F"/>
              </a:buClr>
              <a:buSzPts val="11500"/>
              <a:buFont typeface="Arial"/>
              <a:buNone/>
            </a:pPr>
            <a:r>
              <a:t/>
            </a:r>
            <a:endParaRPr/>
          </a:p>
        </p:txBody>
      </p:sp>
      <p:sp>
        <p:nvSpPr>
          <p:cNvPr id="274" name="Google Shape;274;p20"/>
          <p:cNvSpPr txBox="1"/>
          <p:nvPr>
            <p:ph idx="2" type="subTitle"/>
          </p:nvPr>
        </p:nvSpPr>
        <p:spPr>
          <a:xfrm>
            <a:off x="609600" y="3810000"/>
            <a:ext cx="8382000" cy="2895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D74B13"/>
              </a:buClr>
              <a:buSzPts val="72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idx="2" type="body"/>
          </p:nvPr>
        </p:nvSpPr>
        <p:spPr>
          <a:xfrm>
            <a:off x="609600" y="1828800"/>
            <a:ext cx="8001000" cy="4419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“Bring Your Own Device” Can Cause Problems</a:t>
            </a:r>
            <a:endParaRPr/>
          </a:p>
          <a:p>
            <a:pPr indent="-514350" lvl="1" marL="971550" rtl="0" algn="l">
              <a:spcBef>
                <a:spcPts val="480"/>
              </a:spcBef>
              <a:spcAft>
                <a:spcPts val="0"/>
              </a:spcAft>
              <a:buSzPts val="2400"/>
              <a:buAutoNum type="arabicPeriod"/>
            </a:pPr>
            <a:r>
              <a:rPr lang="en-US"/>
              <a:t>What are the advantages of allowing employees to use any mobile device to connect to the corporate network? The disadvantages?</a:t>
            </a:r>
            <a:endParaRPr/>
          </a:p>
          <a:p>
            <a:pPr indent="-514350" lvl="1" marL="971550" rtl="0" algn="l">
              <a:spcBef>
                <a:spcPts val="480"/>
              </a:spcBef>
              <a:spcAft>
                <a:spcPts val="0"/>
              </a:spcAft>
              <a:buSzPts val="2400"/>
              <a:buAutoNum type="arabicPeriod"/>
            </a:pPr>
            <a:r>
              <a:rPr lang="en-US"/>
              <a:t>Why is it necessary to be able to erase corporate data when a mobile device is lost or stolen?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solidFill>
                  <a:srgbClr val="6600CC"/>
                </a:solidFill>
              </a:rPr>
              <a:t>Societal/Political/Legal Pressures</a:t>
            </a:r>
            <a:endParaRPr>
              <a:solidFill>
                <a:srgbClr val="6600CC"/>
              </a:solidFill>
            </a:endParaRPr>
          </a:p>
        </p:txBody>
      </p:sp>
      <p:sp>
        <p:nvSpPr>
          <p:cNvPr id="287" name="Google Shape;287;p2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solidFill>
                  <a:schemeClr val="dk1"/>
                </a:solidFill>
              </a:rPr>
              <a:t>Social Responsibility</a:t>
            </a:r>
            <a:endParaRPr sz="2800">
              <a:solidFill>
                <a:schemeClr val="dk1"/>
              </a:solidFill>
            </a:endParaRPr>
          </a:p>
          <a:p>
            <a:pPr indent="-342900" lvl="0" marL="342900" rtl="0" algn="l">
              <a:spcBef>
                <a:spcPts val="560"/>
              </a:spcBef>
              <a:spcAft>
                <a:spcPts val="0"/>
              </a:spcAft>
              <a:buClr>
                <a:schemeClr val="dk1"/>
              </a:buClr>
              <a:buSzPts val="2800"/>
              <a:buChar char="•"/>
            </a:pPr>
            <a:r>
              <a:rPr lang="en-US" sz="2800">
                <a:solidFill>
                  <a:schemeClr val="dk1"/>
                </a:solidFill>
              </a:rPr>
              <a:t>Compliance with Government Regulations</a:t>
            </a:r>
            <a:endParaRPr sz="2800">
              <a:solidFill>
                <a:schemeClr val="dk1"/>
              </a:solidFill>
            </a:endParaRPr>
          </a:p>
          <a:p>
            <a:pPr indent="-342900" lvl="0" marL="342900" rtl="0" algn="l">
              <a:spcBef>
                <a:spcPts val="560"/>
              </a:spcBef>
              <a:spcAft>
                <a:spcPts val="0"/>
              </a:spcAft>
              <a:buClr>
                <a:schemeClr val="dk1"/>
              </a:buClr>
              <a:buSzPts val="2800"/>
              <a:buChar char="•"/>
            </a:pPr>
            <a:r>
              <a:rPr lang="en-US" sz="2800">
                <a:solidFill>
                  <a:schemeClr val="dk1"/>
                </a:solidFill>
              </a:rPr>
              <a:t>Protection Against Terrorist Attacks</a:t>
            </a:r>
            <a:endParaRPr sz="2800">
              <a:solidFill>
                <a:schemeClr val="dk1"/>
              </a:solidFill>
            </a:endParaRPr>
          </a:p>
          <a:p>
            <a:pPr indent="-342900" lvl="0" marL="342900" rtl="0" algn="l">
              <a:spcBef>
                <a:spcPts val="560"/>
              </a:spcBef>
              <a:spcAft>
                <a:spcPts val="0"/>
              </a:spcAft>
              <a:buClr>
                <a:schemeClr val="dk1"/>
              </a:buClr>
              <a:buSzPts val="2800"/>
              <a:buChar char="•"/>
            </a:pPr>
            <a:r>
              <a:rPr lang="en-US" sz="2800">
                <a:solidFill>
                  <a:schemeClr val="dk1"/>
                </a:solidFill>
              </a:rPr>
              <a:t>Ethical Issues</a:t>
            </a:r>
            <a:endParaRPr sz="2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3"/>
          <p:cNvSpPr txBox="1"/>
          <p:nvPr>
            <p:ph idx="1" type="subTitle"/>
          </p:nvPr>
        </p:nvSpPr>
        <p:spPr>
          <a:xfrm>
            <a:off x="457200" y="76200"/>
            <a:ext cx="8153400" cy="583565"/>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9900FF"/>
              </a:buClr>
              <a:buSzPct val="100000"/>
              <a:buNone/>
            </a:pPr>
            <a:r>
              <a:rPr lang="en-US" sz="3600"/>
              <a:t>Societal/Political/Legal Pressures</a:t>
            </a:r>
            <a:endParaRPr sz="3600"/>
          </a:p>
        </p:txBody>
      </p:sp>
      <p:sp>
        <p:nvSpPr>
          <p:cNvPr id="294" name="Google Shape;294;p23"/>
          <p:cNvSpPr txBox="1"/>
          <p:nvPr>
            <p:ph idx="2" type="body"/>
          </p:nvPr>
        </p:nvSpPr>
        <p:spPr>
          <a:xfrm>
            <a:off x="190500" y="914400"/>
            <a:ext cx="8763000" cy="5528310"/>
          </a:xfrm>
          <a:prstGeom prst="rect">
            <a:avLst/>
          </a:prstGeom>
          <a:noFill/>
          <a:ln>
            <a:noFill/>
          </a:ln>
        </p:spPr>
        <p:txBody>
          <a:bodyPr anchorCtr="0" anchor="t" bIns="45700" lIns="91425" spcFirstLastPara="1" rIns="91425" wrap="square" tIns="45700">
            <a:normAutofit fontScale="55000" lnSpcReduction="20000"/>
          </a:bodyPr>
          <a:lstStyle/>
          <a:p>
            <a:pPr indent="-342900" lvl="0" marL="342900" rtl="0" algn="l">
              <a:spcBef>
                <a:spcPts val="0"/>
              </a:spcBef>
              <a:spcAft>
                <a:spcPts val="0"/>
              </a:spcAft>
              <a:buClr>
                <a:srgbClr val="595959"/>
              </a:buClr>
              <a:buSzPct val="100000"/>
              <a:buChar char="•"/>
            </a:pPr>
            <a:r>
              <a:rPr b="1" lang="en-US" sz="2800"/>
              <a:t>Social Responsibility: </a:t>
            </a:r>
            <a:r>
              <a:rPr lang="en-US" sz="2800"/>
              <a:t>Social issues that affect businesses and individuals range from the state of the physical environment, to company and individual philanthropy, to education. Some corporations and individuals are willing to spend time and/or money to address various social problems. These efforts are known as organizational social responsibility or individual social responsibility.</a:t>
            </a:r>
            <a:endParaRPr sz="2800"/>
          </a:p>
          <a:p>
            <a:pPr indent="-245109" lvl="0" marL="342900" rtl="0" algn="l">
              <a:spcBef>
                <a:spcPts val="308"/>
              </a:spcBef>
              <a:spcAft>
                <a:spcPts val="0"/>
              </a:spcAft>
              <a:buClr>
                <a:srgbClr val="595959"/>
              </a:buClr>
              <a:buSzPct val="100000"/>
              <a:buNone/>
            </a:pPr>
            <a:r>
              <a:t/>
            </a:r>
            <a:endParaRPr sz="2800"/>
          </a:p>
          <a:p>
            <a:pPr indent="-342900" lvl="0" marL="342900" rtl="0" algn="l">
              <a:spcBef>
                <a:spcPts val="308"/>
              </a:spcBef>
              <a:spcAft>
                <a:spcPts val="0"/>
              </a:spcAft>
              <a:buClr>
                <a:srgbClr val="595959"/>
              </a:buClr>
              <a:buSzPct val="100000"/>
              <a:buChar char="•"/>
            </a:pPr>
            <a:r>
              <a:rPr b="1" lang="en-US" sz="2800"/>
              <a:t>Compliance with Government Regulations: </a:t>
            </a:r>
            <a:r>
              <a:rPr lang="en-US" sz="2800"/>
              <a:t>government regulations regarding health, safety, environmental protection, and equal opportunity. Businesses tend to view government regulations as expensive constraints on their activities. </a:t>
            </a:r>
            <a:endParaRPr sz="2800"/>
          </a:p>
          <a:p>
            <a:pPr indent="-245109" lvl="0" marL="342900" rtl="0" algn="l">
              <a:spcBef>
                <a:spcPts val="308"/>
              </a:spcBef>
              <a:spcAft>
                <a:spcPts val="0"/>
              </a:spcAft>
              <a:buClr>
                <a:srgbClr val="595959"/>
              </a:buClr>
              <a:buSzPct val="100000"/>
              <a:buNone/>
            </a:pPr>
            <a:r>
              <a:t/>
            </a:r>
            <a:endParaRPr sz="2800"/>
          </a:p>
          <a:p>
            <a:pPr indent="-342900" lvl="0" marL="342900" rtl="0" algn="l">
              <a:spcBef>
                <a:spcPts val="308"/>
              </a:spcBef>
              <a:spcAft>
                <a:spcPts val="0"/>
              </a:spcAft>
              <a:buClr>
                <a:srgbClr val="595959"/>
              </a:buClr>
              <a:buSzPct val="100000"/>
              <a:buChar char="•"/>
            </a:pPr>
            <a:r>
              <a:rPr b="1" lang="en-US" sz="2800"/>
              <a:t>Protection Against Terrorist Attacks: </a:t>
            </a:r>
            <a:r>
              <a:rPr lang="en-US" sz="2800"/>
              <a:t>organizations have been under increased pressure to protect themselves against terrorist attacks. In addition, employees who are in the military reserves have been called up for active duty, creating personnel problems. Information technology can help protect businesses by providing security systems and possibly identifying patterns of behavior associated with terrorist activities, including cyberattacks.</a:t>
            </a:r>
            <a:endParaRPr sz="2800"/>
          </a:p>
          <a:p>
            <a:pPr indent="-245109" lvl="0" marL="342900" rtl="0" algn="l">
              <a:spcBef>
                <a:spcPts val="308"/>
              </a:spcBef>
              <a:spcAft>
                <a:spcPts val="0"/>
              </a:spcAft>
              <a:buClr>
                <a:srgbClr val="595959"/>
              </a:buClr>
              <a:buSzPct val="100000"/>
              <a:buNone/>
            </a:pPr>
            <a:r>
              <a:t/>
            </a:r>
            <a:endParaRPr sz="2800"/>
          </a:p>
          <a:p>
            <a:pPr indent="-245109" lvl="0" marL="342900" rtl="0" algn="l">
              <a:spcBef>
                <a:spcPts val="308"/>
              </a:spcBef>
              <a:spcAft>
                <a:spcPts val="0"/>
              </a:spcAft>
              <a:buClr>
                <a:srgbClr val="595959"/>
              </a:buClr>
              <a:buSzPct val="100000"/>
              <a:buNone/>
            </a:pPr>
            <a:r>
              <a:t/>
            </a:r>
            <a:endParaRPr sz="2800"/>
          </a:p>
          <a:p>
            <a:pPr indent="-342900" lvl="0" marL="342900" rtl="0" algn="l">
              <a:spcBef>
                <a:spcPts val="308"/>
              </a:spcBef>
              <a:spcAft>
                <a:spcPts val="0"/>
              </a:spcAft>
              <a:buClr>
                <a:srgbClr val="595959"/>
              </a:buClr>
              <a:buSzPct val="100000"/>
              <a:buChar char="•"/>
            </a:pPr>
            <a:r>
              <a:rPr b="1" lang="en-US" sz="2800"/>
              <a:t>Ethical Issues: </a:t>
            </a:r>
            <a:r>
              <a:rPr lang="en-US" sz="2800"/>
              <a:t>Ethics relates to general standards of right and wrong. Information ethics relates specifically to standards of right and wrong in information processing practices. Ethical issues are very important because, if handled poorly, they can damage an organization’s image and destroy its employees’ morale.</a:t>
            </a:r>
            <a:endParaRPr sz="2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9" name="Shape 299"/>
        <p:cNvGrpSpPr/>
        <p:nvPr/>
      </p:nvGrpSpPr>
      <p:grpSpPr>
        <a:xfrm>
          <a:off x="0" y="0"/>
          <a:ext cx="0" cy="0"/>
          <a:chOff x="0" y="0"/>
          <a:chExt cx="0" cy="0"/>
        </a:xfrm>
      </p:grpSpPr>
      <p:sp>
        <p:nvSpPr>
          <p:cNvPr id="300" name="Google Shape;300;p24"/>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4400"/>
              <a:buNone/>
            </a:pPr>
            <a:r>
              <a:rPr lang="en-US"/>
              <a:t>Social Responsibility</a:t>
            </a:r>
            <a:endParaRPr/>
          </a:p>
        </p:txBody>
      </p:sp>
      <p:sp>
        <p:nvSpPr>
          <p:cNvPr id="301" name="Google Shape;301;p24"/>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3200"/>
              <a:buChar char="•"/>
            </a:pPr>
            <a:r>
              <a:rPr lang="en-US"/>
              <a:t>IT Assists “Go Green” Efforts in Three Areas:</a:t>
            </a:r>
            <a:endParaRPr/>
          </a:p>
          <a:p>
            <a:pPr indent="-514350" lvl="1" marL="971550" rtl="0" algn="l">
              <a:spcBef>
                <a:spcPts val="560"/>
              </a:spcBef>
              <a:spcAft>
                <a:spcPts val="0"/>
              </a:spcAft>
              <a:buClr>
                <a:srgbClr val="595959"/>
              </a:buClr>
              <a:buSzPts val="2800"/>
              <a:buFont typeface="Georgia"/>
              <a:buAutoNum type="arabicPeriod"/>
            </a:pPr>
            <a:r>
              <a:rPr lang="en-US"/>
              <a:t>Facilities design and management</a:t>
            </a:r>
            <a:endParaRPr/>
          </a:p>
          <a:p>
            <a:pPr indent="-514350" lvl="1" marL="971550" rtl="0" algn="l">
              <a:spcBef>
                <a:spcPts val="560"/>
              </a:spcBef>
              <a:spcAft>
                <a:spcPts val="0"/>
              </a:spcAft>
              <a:buClr>
                <a:srgbClr val="595959"/>
              </a:buClr>
              <a:buSzPts val="2800"/>
              <a:buFont typeface="Georgia"/>
              <a:buAutoNum type="arabicPeriod"/>
            </a:pPr>
            <a:r>
              <a:rPr lang="en-US"/>
              <a:t>Carbon management</a:t>
            </a:r>
            <a:endParaRPr/>
          </a:p>
          <a:p>
            <a:pPr indent="-514350" lvl="1" marL="971550" rtl="0" algn="l">
              <a:spcBef>
                <a:spcPts val="560"/>
              </a:spcBef>
              <a:spcAft>
                <a:spcPts val="0"/>
              </a:spcAft>
              <a:buClr>
                <a:srgbClr val="595959"/>
              </a:buClr>
              <a:buSzPts val="2800"/>
              <a:buFont typeface="Georgia"/>
              <a:buAutoNum type="arabicPeriod"/>
            </a:pPr>
            <a:r>
              <a:rPr lang="en-US"/>
              <a:t>International and U.S. environmental laws</a:t>
            </a:r>
            <a:endParaRPr/>
          </a:p>
          <a:p>
            <a:pPr indent="-342900" lvl="0" marL="342900" rtl="0" algn="l">
              <a:spcBef>
                <a:spcPts val="640"/>
              </a:spcBef>
              <a:spcAft>
                <a:spcPts val="0"/>
              </a:spcAft>
              <a:buClr>
                <a:srgbClr val="595959"/>
              </a:buClr>
              <a:buSzPts val="3200"/>
              <a:buChar char="•"/>
            </a:pPr>
            <a:r>
              <a:rPr lang="en-US"/>
              <a:t>Digital Divide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Organizational Responses</a:t>
            </a:r>
            <a:endParaRPr/>
          </a:p>
        </p:txBody>
      </p:sp>
      <p:sp>
        <p:nvSpPr>
          <p:cNvPr id="308" name="Google Shape;308;p25"/>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Strategic Systems</a:t>
            </a:r>
            <a:endParaRPr/>
          </a:p>
          <a:p>
            <a:pPr indent="-342900" lvl="0" marL="342900" rtl="0" algn="l">
              <a:spcBef>
                <a:spcPts val="640"/>
              </a:spcBef>
              <a:spcAft>
                <a:spcPts val="0"/>
              </a:spcAft>
              <a:buClr>
                <a:schemeClr val="dk1"/>
              </a:buClr>
              <a:buSzPts val="3200"/>
              <a:buChar char="•"/>
            </a:pPr>
            <a:r>
              <a:rPr lang="en-US"/>
              <a:t>Customer Focus</a:t>
            </a:r>
            <a:endParaRPr/>
          </a:p>
          <a:p>
            <a:pPr indent="-342900" lvl="0" marL="342900" rtl="0" algn="l">
              <a:spcBef>
                <a:spcPts val="640"/>
              </a:spcBef>
              <a:spcAft>
                <a:spcPts val="0"/>
              </a:spcAft>
              <a:buClr>
                <a:schemeClr val="dk1"/>
              </a:buClr>
              <a:buSzPts val="3200"/>
              <a:buChar char="•"/>
            </a:pPr>
            <a:r>
              <a:rPr lang="en-US"/>
              <a:t>Make-to-Order and Mass Customization</a:t>
            </a:r>
            <a:endParaRPr/>
          </a:p>
          <a:p>
            <a:pPr indent="-342900" lvl="0" marL="342900" rtl="0" algn="l">
              <a:spcBef>
                <a:spcPts val="640"/>
              </a:spcBef>
              <a:spcAft>
                <a:spcPts val="0"/>
              </a:spcAft>
              <a:buClr>
                <a:schemeClr val="dk1"/>
              </a:buClr>
              <a:buSzPts val="3200"/>
              <a:buChar char="•"/>
            </a:pPr>
            <a:r>
              <a:rPr lang="en-US"/>
              <a:t>E-Business and E-Commerce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6"/>
          <p:cNvSpPr txBox="1"/>
          <p:nvPr>
            <p:ph idx="1" type="subTitle"/>
          </p:nvPr>
        </p:nvSpPr>
        <p:spPr>
          <a:xfrm>
            <a:off x="457200" y="76200"/>
            <a:ext cx="8153400" cy="85915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Organizational Responses</a:t>
            </a:r>
            <a:endParaRPr/>
          </a:p>
        </p:txBody>
      </p:sp>
      <p:sp>
        <p:nvSpPr>
          <p:cNvPr id="315" name="Google Shape;315;p26"/>
          <p:cNvSpPr txBox="1"/>
          <p:nvPr>
            <p:ph idx="2" type="body"/>
          </p:nvPr>
        </p:nvSpPr>
        <p:spPr>
          <a:xfrm>
            <a:off x="152400" y="1207135"/>
            <a:ext cx="8763000" cy="5041265"/>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chemeClr val="dk1"/>
              </a:buClr>
              <a:buSzPct val="100000"/>
              <a:buChar char="•"/>
            </a:pPr>
            <a:r>
              <a:rPr b="1" lang="en-US"/>
              <a:t>Strategic Systems: </a:t>
            </a:r>
            <a:r>
              <a:rPr lang="en-US"/>
              <a:t>provide organizations with advantages that enable them to increase their market share and/or profits, to better negotiate with suppliers, and to prevent competitors from entering their markets.</a:t>
            </a:r>
            <a:endParaRPr/>
          </a:p>
          <a:p>
            <a:pPr indent="-246380" lvl="0" marL="342900" rtl="0" algn="l">
              <a:spcBef>
                <a:spcPts val="304"/>
              </a:spcBef>
              <a:spcAft>
                <a:spcPts val="0"/>
              </a:spcAft>
              <a:buClr>
                <a:schemeClr val="dk1"/>
              </a:buClr>
              <a:buSzPct val="100000"/>
              <a:buNone/>
            </a:pPr>
            <a:r>
              <a:t/>
            </a:r>
            <a:endParaRPr/>
          </a:p>
          <a:p>
            <a:pPr indent="-342900" lvl="0" marL="342900" rtl="0" algn="l">
              <a:spcBef>
                <a:spcPts val="304"/>
              </a:spcBef>
              <a:spcAft>
                <a:spcPts val="0"/>
              </a:spcAft>
              <a:buClr>
                <a:schemeClr val="dk1"/>
              </a:buClr>
              <a:buSzPct val="100000"/>
              <a:buChar char="•"/>
            </a:pPr>
            <a:r>
              <a:rPr b="1" lang="en-US"/>
              <a:t>Customer Focus: </a:t>
            </a:r>
            <a:r>
              <a:rPr lang="en-US"/>
              <a:t>Organizational attempts to provide superb customer service can make the difference between attracting and retaining customers versus losing them to competitors. Numerous IT tools and business processes have been designed to keep customers happy.</a:t>
            </a:r>
            <a:endParaRPr/>
          </a:p>
          <a:p>
            <a:pPr indent="-342900" lvl="0" marL="342900" rtl="0" algn="l">
              <a:spcBef>
                <a:spcPts val="304"/>
              </a:spcBef>
              <a:spcAft>
                <a:spcPts val="0"/>
              </a:spcAft>
              <a:buClr>
                <a:schemeClr val="dk1"/>
              </a:buClr>
              <a:buSzPct val="100000"/>
              <a:buChar char="•"/>
            </a:pPr>
            <a:r>
              <a:rPr b="1" lang="en-US"/>
              <a:t>Make-to-Order: </a:t>
            </a:r>
            <a:r>
              <a:rPr lang="en-US"/>
              <a:t>a strategy of producing customized (made to individual specifications) products and services.</a:t>
            </a:r>
            <a:endParaRPr/>
          </a:p>
          <a:p>
            <a:pPr indent="-246380" lvl="0" marL="342900" rtl="0" algn="l">
              <a:spcBef>
                <a:spcPts val="304"/>
              </a:spcBef>
              <a:spcAft>
                <a:spcPts val="0"/>
              </a:spcAft>
              <a:buClr>
                <a:schemeClr val="dk1"/>
              </a:buClr>
              <a:buSzPct val="100000"/>
              <a:buNone/>
            </a:pPr>
            <a:r>
              <a:t/>
            </a:r>
            <a:endParaRPr/>
          </a:p>
          <a:p>
            <a:pPr indent="-342900" lvl="0" marL="342900" rtl="0" algn="l">
              <a:spcBef>
                <a:spcPts val="304"/>
              </a:spcBef>
              <a:spcAft>
                <a:spcPts val="0"/>
              </a:spcAft>
              <a:buClr>
                <a:schemeClr val="dk1"/>
              </a:buClr>
              <a:buSzPct val="100000"/>
              <a:buChar char="•"/>
            </a:pPr>
            <a:r>
              <a:rPr b="1" lang="en-US"/>
              <a:t>Mass Customization: </a:t>
            </a:r>
            <a:r>
              <a:rPr lang="en-US"/>
              <a:t>a company produces a large quantity of items, but it customizes them to match the needs and preferences of individual customers. Mass customization is essentially an attempt to perform make-to-order on a large scale</a:t>
            </a:r>
            <a:endParaRPr/>
          </a:p>
          <a:p>
            <a:pPr indent="-246380" lvl="0" marL="342900" rtl="0" algn="l">
              <a:spcBef>
                <a:spcPts val="304"/>
              </a:spcBef>
              <a:spcAft>
                <a:spcPts val="0"/>
              </a:spcAft>
              <a:buClr>
                <a:schemeClr val="dk1"/>
              </a:buClr>
              <a:buSzPct val="100000"/>
              <a:buNone/>
            </a:pPr>
            <a:r>
              <a:t/>
            </a:r>
            <a:endParaRPr/>
          </a:p>
          <a:p>
            <a:pPr indent="-342900" lvl="0" marL="342900" rtl="0" algn="l">
              <a:spcBef>
                <a:spcPts val="304"/>
              </a:spcBef>
              <a:spcAft>
                <a:spcPts val="0"/>
              </a:spcAft>
              <a:buClr>
                <a:schemeClr val="dk1"/>
              </a:buClr>
              <a:buSzPct val="100000"/>
              <a:buChar char="•"/>
            </a:pPr>
            <a:r>
              <a:rPr b="1" lang="en-US"/>
              <a:t>E-Business and E-Commerce: </a:t>
            </a:r>
            <a:r>
              <a:rPr lang="en-US"/>
              <a:t>Conducting business electronically is an essential strategy for companies that are competing in today’s business environment.</a:t>
            </a:r>
            <a:endParaRPr/>
          </a:p>
          <a:p>
            <a:pPr indent="-342900" lvl="0" marL="342900" rtl="0" algn="l">
              <a:spcBef>
                <a:spcPts val="304"/>
              </a:spcBef>
              <a:spcAft>
                <a:spcPts val="0"/>
              </a:spcAft>
              <a:buClr>
                <a:schemeClr val="dk1"/>
              </a:buClr>
              <a:buSzPct val="100000"/>
              <a:buChar char="•"/>
            </a:pPr>
            <a:r>
              <a:rPr b="1" lang="en-US"/>
              <a:t>Electronic commerce (EC or e-commerce): </a:t>
            </a:r>
            <a:r>
              <a:rPr lang="en-US"/>
              <a:t>describes the process of buying, selling, transferring, or exchanging products, services, or information via computer networks, including the Internet.</a:t>
            </a:r>
            <a:endParaRPr/>
          </a:p>
          <a:p>
            <a:pPr indent="-342900" lvl="0" marL="342900" rtl="0" algn="l">
              <a:spcBef>
                <a:spcPts val="304"/>
              </a:spcBef>
              <a:spcAft>
                <a:spcPts val="0"/>
              </a:spcAft>
              <a:buClr>
                <a:schemeClr val="dk1"/>
              </a:buClr>
              <a:buSzPct val="100000"/>
              <a:buChar char="•"/>
            </a:pPr>
            <a:r>
              <a:rPr b="1" lang="en-US"/>
              <a:t>E-business: </a:t>
            </a:r>
            <a:r>
              <a:rPr lang="en-US"/>
              <a:t>a somewhat broader concept than EC that includes servicing customers, collaborating with business partners, and performing electronic transactions within an organization.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idx="1" type="subTitle"/>
          </p:nvPr>
        </p:nvSpPr>
        <p:spPr>
          <a:xfrm>
            <a:off x="2057400" y="304800"/>
            <a:ext cx="6553199" cy="16764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rgbClr val="FF9900"/>
              </a:buClr>
              <a:buSzPct val="100000"/>
              <a:buNone/>
            </a:pPr>
            <a:r>
              <a:rPr lang="en-US"/>
              <a:t>Competitive Advantage and Strategic IS’s</a:t>
            </a:r>
            <a:endParaRPr/>
          </a:p>
        </p:txBody>
      </p:sp>
      <p:sp>
        <p:nvSpPr>
          <p:cNvPr id="321" name="Google Shape;321;p27"/>
          <p:cNvSpPr txBox="1"/>
          <p:nvPr>
            <p:ph idx="2" type="body"/>
          </p:nvPr>
        </p:nvSpPr>
        <p:spPr>
          <a:xfrm>
            <a:off x="76200" y="0"/>
            <a:ext cx="1981200" cy="152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7F7F7F"/>
              </a:buClr>
              <a:buSzPts val="7200"/>
              <a:buNone/>
            </a:pPr>
            <a:r>
              <a:rPr lang="en-US"/>
              <a:t>2.2</a:t>
            </a:r>
            <a:endParaRPr/>
          </a:p>
        </p:txBody>
      </p:sp>
      <p:sp>
        <p:nvSpPr>
          <p:cNvPr id="322" name="Google Shape;322;p27"/>
          <p:cNvSpPr txBox="1"/>
          <p:nvPr>
            <p:ph idx="3" type="body"/>
          </p:nvPr>
        </p:nvSpPr>
        <p:spPr>
          <a:xfrm>
            <a:off x="1066800" y="2438400"/>
            <a:ext cx="7543800" cy="38100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6600CC"/>
              </a:buClr>
              <a:buSzPts val="3200"/>
              <a:buChar char="•"/>
            </a:pPr>
            <a:r>
              <a:rPr lang="en-US"/>
              <a:t>Porter’s Competitive Forces Model</a:t>
            </a:r>
            <a:endParaRPr/>
          </a:p>
          <a:p>
            <a:pPr indent="-342900" lvl="0" marL="342900" rtl="0" algn="l">
              <a:spcBef>
                <a:spcPts val="640"/>
              </a:spcBef>
              <a:spcAft>
                <a:spcPts val="0"/>
              </a:spcAft>
              <a:buClr>
                <a:srgbClr val="6600CC"/>
              </a:buClr>
              <a:buSzPts val="3200"/>
              <a:buChar char="•"/>
            </a:pPr>
            <a:r>
              <a:rPr lang="en-US"/>
              <a:t>Porter’s Value Chain Model</a:t>
            </a:r>
            <a:endParaRPr/>
          </a:p>
          <a:p>
            <a:pPr indent="-342900" lvl="0" marL="342900" rtl="0" algn="l">
              <a:spcBef>
                <a:spcPts val="640"/>
              </a:spcBef>
              <a:spcAft>
                <a:spcPts val="0"/>
              </a:spcAft>
              <a:buClr>
                <a:srgbClr val="6600CC"/>
              </a:buClr>
              <a:buSzPts val="3200"/>
              <a:buChar char="•"/>
            </a:pPr>
            <a:r>
              <a:rPr lang="en-US"/>
              <a:t>Strategies for Competitive Advantage</a:t>
            </a:r>
            <a:endParaRPr/>
          </a:p>
          <a:p>
            <a:pPr indent="-342900" lvl="0" marL="342900" rtl="0" algn="l">
              <a:spcBef>
                <a:spcPts val="640"/>
              </a:spcBef>
              <a:spcAft>
                <a:spcPts val="0"/>
              </a:spcAft>
              <a:buClr>
                <a:srgbClr val="6600CC"/>
              </a:buClr>
              <a:buSzPts val="3200"/>
              <a:buChar char="•"/>
            </a:pPr>
            <a:r>
              <a:rPr lang="en-US"/>
              <a:t>Business – Information Technology Alignment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8"/>
          <p:cNvSpPr txBox="1"/>
          <p:nvPr>
            <p:ph idx="1" type="subTitle"/>
          </p:nvPr>
        </p:nvSpPr>
        <p:spPr>
          <a:xfrm>
            <a:off x="533400" y="-838200"/>
            <a:ext cx="8153399"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3600"/>
              <a:buNone/>
            </a:pPr>
            <a:r>
              <a:rPr lang="en-US" sz="3600"/>
              <a:t>Porter’s Competitive Forces Model</a:t>
            </a:r>
            <a:endParaRPr sz="3600"/>
          </a:p>
        </p:txBody>
      </p:sp>
      <p:pic>
        <p:nvPicPr>
          <p:cNvPr id="328" name="Google Shape;328;p28"/>
          <p:cNvPicPr preferRelativeResize="0"/>
          <p:nvPr>
            <p:ph idx="2" type="body"/>
          </p:nvPr>
        </p:nvPicPr>
        <p:blipFill rotWithShape="1">
          <a:blip r:embed="rId3">
            <a:alphaModFix/>
          </a:blip>
          <a:srcRect b="0" l="0" r="0" t="0"/>
          <a:stretch/>
        </p:blipFill>
        <p:spPr>
          <a:xfrm>
            <a:off x="76200" y="914400"/>
            <a:ext cx="9048584" cy="5486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Porter’s Five Forces Model</a:t>
            </a:r>
            <a:endParaRPr/>
          </a:p>
        </p:txBody>
      </p:sp>
      <p:sp>
        <p:nvSpPr>
          <p:cNvPr id="335" name="Google Shape;335;p29"/>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92500" lnSpcReduction="10000"/>
          </a:bodyPr>
          <a:lstStyle/>
          <a:p>
            <a:pPr indent="-514350" lvl="0" marL="514350" rtl="0" algn="l">
              <a:spcBef>
                <a:spcPts val="0"/>
              </a:spcBef>
              <a:spcAft>
                <a:spcPts val="0"/>
              </a:spcAft>
              <a:buClr>
                <a:schemeClr val="dk1"/>
              </a:buClr>
              <a:buSzPct val="100000"/>
              <a:buFont typeface="Georgia"/>
              <a:buAutoNum type="arabicPeriod"/>
            </a:pPr>
            <a:r>
              <a:rPr lang="en-US"/>
              <a:t>The threat of new competitors</a:t>
            </a:r>
            <a:endParaRPr/>
          </a:p>
          <a:p>
            <a:pPr indent="-514350" lvl="0" marL="514350" rtl="0" algn="l">
              <a:spcBef>
                <a:spcPts val="592"/>
              </a:spcBef>
              <a:spcAft>
                <a:spcPts val="0"/>
              </a:spcAft>
              <a:buClr>
                <a:schemeClr val="dk1"/>
              </a:buClr>
              <a:buSzPct val="100000"/>
              <a:buFont typeface="Georgia"/>
              <a:buAutoNum type="arabicPeriod"/>
            </a:pPr>
            <a:r>
              <a:rPr lang="en-US"/>
              <a:t>The bargaining power of suppliers</a:t>
            </a:r>
            <a:endParaRPr/>
          </a:p>
          <a:p>
            <a:pPr indent="-514350" lvl="0" marL="514350" rtl="0" algn="l">
              <a:spcBef>
                <a:spcPts val="592"/>
              </a:spcBef>
              <a:spcAft>
                <a:spcPts val="0"/>
              </a:spcAft>
              <a:buClr>
                <a:schemeClr val="dk1"/>
              </a:buClr>
              <a:buSzPct val="100000"/>
              <a:buFont typeface="Georgia"/>
              <a:buAutoNum type="arabicPeriod"/>
            </a:pPr>
            <a:r>
              <a:rPr lang="en-US"/>
              <a:t>The bargaining power of customers (buyers)</a:t>
            </a:r>
            <a:endParaRPr/>
          </a:p>
          <a:p>
            <a:pPr indent="-514350" lvl="0" marL="514350" rtl="0" algn="l">
              <a:spcBef>
                <a:spcPts val="592"/>
              </a:spcBef>
              <a:spcAft>
                <a:spcPts val="0"/>
              </a:spcAft>
              <a:buClr>
                <a:schemeClr val="dk1"/>
              </a:buClr>
              <a:buSzPct val="100000"/>
              <a:buFont typeface="Georgia"/>
              <a:buAutoNum type="arabicPeriod"/>
            </a:pPr>
            <a:r>
              <a:rPr lang="en-US"/>
              <a:t>The threat of substitute products or services</a:t>
            </a:r>
            <a:endParaRPr/>
          </a:p>
          <a:p>
            <a:pPr indent="-514350" lvl="0" marL="514350" rtl="0" algn="l">
              <a:spcBef>
                <a:spcPts val="592"/>
              </a:spcBef>
              <a:spcAft>
                <a:spcPts val="0"/>
              </a:spcAft>
              <a:buClr>
                <a:schemeClr val="dk1"/>
              </a:buClr>
              <a:buSzPct val="100000"/>
              <a:buFont typeface="Georgia"/>
              <a:buAutoNum type="arabicPeriod"/>
            </a:pPr>
            <a:r>
              <a:rPr lang="en-US"/>
              <a:t>The rivalry among existing firms in the industry</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Porter’s Five Forces Model</a:t>
            </a:r>
            <a:endParaRPr/>
          </a:p>
          <a:p>
            <a:pPr indent="0" lvl="0" marL="0" rtl="0" algn="l">
              <a:spcBef>
                <a:spcPts val="1200"/>
              </a:spcBef>
              <a:spcAft>
                <a:spcPts val="0"/>
              </a:spcAft>
              <a:buClr>
                <a:srgbClr val="6600CC"/>
              </a:buClr>
              <a:buSzPts val="4400"/>
              <a:buNone/>
            </a:pPr>
            <a:r>
              <a:t/>
            </a:r>
            <a:endParaRPr/>
          </a:p>
        </p:txBody>
      </p:sp>
      <p:sp>
        <p:nvSpPr>
          <p:cNvPr id="342" name="Google Shape;342;p30"/>
          <p:cNvSpPr txBox="1"/>
          <p:nvPr>
            <p:ph idx="2" type="body"/>
          </p:nvPr>
        </p:nvSpPr>
        <p:spPr>
          <a:xfrm>
            <a:off x="190500" y="1065530"/>
            <a:ext cx="8686800" cy="5807075"/>
          </a:xfrm>
          <a:prstGeom prst="rect">
            <a:avLst/>
          </a:prstGeom>
          <a:noFill/>
          <a:ln>
            <a:noFill/>
          </a:ln>
        </p:spPr>
        <p:txBody>
          <a:bodyPr anchorCtr="0" anchor="t" bIns="45700" lIns="91425" spcFirstLastPara="1" rIns="91425" wrap="square" tIns="45700">
            <a:normAutofit fontScale="60000" lnSpcReduction="20000"/>
          </a:bodyPr>
          <a:lstStyle/>
          <a:p>
            <a:pPr indent="-342900" lvl="0" marL="342900" rtl="0" algn="l">
              <a:spcBef>
                <a:spcPts val="0"/>
              </a:spcBef>
              <a:spcAft>
                <a:spcPts val="0"/>
              </a:spcAft>
              <a:buClr>
                <a:schemeClr val="dk1"/>
              </a:buClr>
              <a:buSzPct val="100000"/>
              <a:buChar char="•"/>
            </a:pPr>
            <a:r>
              <a:rPr b="1" lang="en-US"/>
              <a:t>Threat of Entry of New Competitors: </a:t>
            </a:r>
            <a:r>
              <a:rPr lang="en-US"/>
              <a:t>The threat that new competitors will enter your market is high when entry is easy and low when there are significant barriers to entry.</a:t>
            </a:r>
            <a:endParaRPr/>
          </a:p>
          <a:p>
            <a:pPr indent="-220980" lvl="0" marL="342900" rtl="0" algn="l">
              <a:spcBef>
                <a:spcPts val="384"/>
              </a:spcBef>
              <a:spcAft>
                <a:spcPts val="0"/>
              </a:spcAft>
              <a:buClr>
                <a:schemeClr val="dk1"/>
              </a:buClr>
              <a:buSzPct val="100000"/>
              <a:buNone/>
            </a:pPr>
            <a:r>
              <a:t/>
            </a:r>
            <a:endParaRPr/>
          </a:p>
          <a:p>
            <a:pPr indent="-342900" lvl="0" marL="342900" rtl="0" algn="l">
              <a:spcBef>
                <a:spcPts val="384"/>
              </a:spcBef>
              <a:spcAft>
                <a:spcPts val="0"/>
              </a:spcAft>
              <a:buClr>
                <a:schemeClr val="dk1"/>
              </a:buClr>
              <a:buSzPct val="100000"/>
              <a:buChar char="•"/>
            </a:pPr>
            <a:r>
              <a:rPr b="1" lang="en-US"/>
              <a:t>Bargaining Power of Suppliers:</a:t>
            </a:r>
            <a:r>
              <a:rPr lang="en-US"/>
              <a:t> Supplier power is high when buyers have few choices from whom to buy and low when buyers have many choices.</a:t>
            </a:r>
            <a:endParaRPr/>
          </a:p>
          <a:p>
            <a:pPr indent="-220980" lvl="0" marL="342900" rtl="0" algn="l">
              <a:spcBef>
                <a:spcPts val="384"/>
              </a:spcBef>
              <a:spcAft>
                <a:spcPts val="0"/>
              </a:spcAft>
              <a:buClr>
                <a:schemeClr val="dk1"/>
              </a:buClr>
              <a:buSzPct val="100000"/>
              <a:buNone/>
            </a:pPr>
            <a:r>
              <a:t/>
            </a:r>
            <a:endParaRPr/>
          </a:p>
          <a:p>
            <a:pPr indent="-342900" lvl="0" marL="342900" rtl="0" algn="l">
              <a:spcBef>
                <a:spcPts val="384"/>
              </a:spcBef>
              <a:spcAft>
                <a:spcPts val="0"/>
              </a:spcAft>
              <a:buClr>
                <a:schemeClr val="dk1"/>
              </a:buClr>
              <a:buSzPct val="100000"/>
              <a:buChar char="•"/>
            </a:pPr>
            <a:r>
              <a:rPr b="1" lang="en-US"/>
              <a:t>Bargaining Power of Customers (Buyers): </a:t>
            </a:r>
            <a:r>
              <a:rPr lang="en-US"/>
              <a:t>Buyer power is high when buyers have many choices from whom to buy and low when buyers have few choices.</a:t>
            </a:r>
            <a:endParaRPr/>
          </a:p>
          <a:p>
            <a:pPr indent="-342900" lvl="0" marL="342900" rtl="0" algn="l">
              <a:spcBef>
                <a:spcPts val="384"/>
              </a:spcBef>
              <a:spcAft>
                <a:spcPts val="0"/>
              </a:spcAft>
              <a:buClr>
                <a:schemeClr val="dk1"/>
              </a:buClr>
              <a:buSzPct val="100000"/>
              <a:buChar char="•"/>
            </a:pPr>
            <a:r>
              <a:rPr b="1" lang="en-US"/>
              <a:t>Threat of Substitute Products or Services: </a:t>
            </a:r>
            <a:r>
              <a:rPr lang="en-US"/>
              <a:t>If there are many alternatives to an organization’s products or services, then the threat of substitutes is high. If there are few alternatives, then the threat is low.</a:t>
            </a:r>
            <a:endParaRPr/>
          </a:p>
          <a:p>
            <a:pPr indent="-342900" lvl="0" marL="342900" rtl="0" algn="l">
              <a:spcBef>
                <a:spcPts val="384"/>
              </a:spcBef>
              <a:spcAft>
                <a:spcPts val="0"/>
              </a:spcAft>
              <a:buClr>
                <a:schemeClr val="dk1"/>
              </a:buClr>
              <a:buSzPct val="100000"/>
              <a:buChar char="•"/>
            </a:pPr>
            <a:r>
              <a:rPr b="1" lang="en-US"/>
              <a:t>Rivalry Among Existing Firms: </a:t>
            </a:r>
            <a:r>
              <a:rPr lang="en-US"/>
              <a:t>The threat from rivalry is high when there is intense competition among many firms in an industry. The threat is low when the competition is among fewer firms and is not as intense.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Porter’s Value Chain Model</a:t>
            </a:r>
            <a:endParaRPr/>
          </a:p>
        </p:txBody>
      </p:sp>
      <p:sp>
        <p:nvSpPr>
          <p:cNvPr id="349" name="Google Shape;349;p3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chemeClr val="dk1"/>
              </a:buClr>
              <a:buSzPct val="100000"/>
              <a:buChar char="•"/>
            </a:pPr>
            <a:r>
              <a:rPr b="1" lang="en-US"/>
              <a:t>Value Chain:</a:t>
            </a:r>
            <a:endParaRPr b="1"/>
          </a:p>
          <a:p>
            <a:pPr indent="-342900" lvl="0" marL="342900" rtl="0" algn="l">
              <a:spcBef>
                <a:spcPts val="544"/>
              </a:spcBef>
              <a:spcAft>
                <a:spcPts val="0"/>
              </a:spcAft>
              <a:buClr>
                <a:schemeClr val="dk1"/>
              </a:buClr>
              <a:buSzPct val="100000"/>
              <a:buChar char="•"/>
            </a:pPr>
            <a:r>
              <a:rPr lang="en-US"/>
              <a:t>A  sequence of activities through which the organization’s inputs, whatever they are, are transformed into more valuable outputs, whatever they are.</a:t>
            </a:r>
            <a:endParaRPr/>
          </a:p>
          <a:p>
            <a:pPr indent="-170180" lvl="0" marL="342900" rtl="0" algn="l">
              <a:spcBef>
                <a:spcPts val="544"/>
              </a:spcBef>
              <a:spcAft>
                <a:spcPts val="0"/>
              </a:spcAft>
              <a:buClr>
                <a:schemeClr val="dk1"/>
              </a:buClr>
              <a:buSzPct val="100000"/>
              <a:buNone/>
            </a:pPr>
            <a:r>
              <a:t/>
            </a:r>
            <a:endParaRPr/>
          </a:p>
          <a:p>
            <a:pPr indent="-342900" lvl="0" marL="342900" rtl="0" algn="l">
              <a:spcBef>
                <a:spcPts val="544"/>
              </a:spcBef>
              <a:spcAft>
                <a:spcPts val="0"/>
              </a:spcAft>
              <a:buClr>
                <a:schemeClr val="dk1"/>
              </a:buClr>
              <a:buSzPct val="100000"/>
              <a:buChar char="•"/>
            </a:pPr>
            <a:r>
              <a:rPr lang="en-US"/>
              <a:t>Two Categories of Organization Activities in the Value Chain</a:t>
            </a:r>
            <a:endParaRPr/>
          </a:p>
          <a:p>
            <a:pPr indent="-285750" lvl="1" marL="742950" rtl="0" algn="l">
              <a:spcBef>
                <a:spcPts val="476"/>
              </a:spcBef>
              <a:spcAft>
                <a:spcPts val="0"/>
              </a:spcAft>
              <a:buClr>
                <a:schemeClr val="dk1"/>
              </a:buClr>
              <a:buSzPct val="100000"/>
              <a:buChar char="–"/>
            </a:pPr>
            <a:r>
              <a:rPr lang="en-US"/>
              <a:t>Primary Activities</a:t>
            </a:r>
            <a:endParaRPr/>
          </a:p>
          <a:p>
            <a:pPr indent="-285750" lvl="1" marL="742950" rtl="0" algn="l">
              <a:spcBef>
                <a:spcPts val="476"/>
              </a:spcBef>
              <a:spcAft>
                <a:spcPts val="0"/>
              </a:spcAft>
              <a:buClr>
                <a:schemeClr val="dk1"/>
              </a:buClr>
              <a:buSzPct val="100000"/>
              <a:buChar char="–"/>
            </a:pPr>
            <a:r>
              <a:rPr lang="en-US"/>
              <a:t>Support Activities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Porter’s Value Chain Model</a:t>
            </a:r>
            <a:endParaRPr/>
          </a:p>
        </p:txBody>
      </p:sp>
      <p:sp>
        <p:nvSpPr>
          <p:cNvPr id="356" name="Google Shape;356;p32"/>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chemeClr val="dk1"/>
              </a:buClr>
              <a:buSzPct val="100000"/>
              <a:buChar char="•"/>
            </a:pPr>
            <a:r>
              <a:rPr b="1" lang="en-US"/>
              <a:t>Two Categories of Organization Activities in the Value Chain:</a:t>
            </a:r>
            <a:endParaRPr b="1"/>
          </a:p>
          <a:p>
            <a:pPr indent="-342900" lvl="0" marL="342900" rtl="0" algn="l">
              <a:spcBef>
                <a:spcPts val="496"/>
              </a:spcBef>
              <a:spcAft>
                <a:spcPts val="0"/>
              </a:spcAft>
              <a:buClr>
                <a:schemeClr val="dk1"/>
              </a:buClr>
              <a:buSzPct val="100000"/>
              <a:buChar char="•"/>
            </a:pPr>
            <a:r>
              <a:rPr b="1" i="1" lang="en-US"/>
              <a:t>Primary Activities: </a:t>
            </a:r>
            <a:r>
              <a:rPr lang="en-US"/>
              <a:t>relate to the production and distribution of the firm’s products and services. These activities create value for which customers are willing to pay.</a:t>
            </a:r>
            <a:endParaRPr/>
          </a:p>
          <a:p>
            <a:pPr indent="-185420" lvl="0" marL="342900" rtl="0" algn="l">
              <a:spcBef>
                <a:spcPts val="496"/>
              </a:spcBef>
              <a:spcAft>
                <a:spcPts val="0"/>
              </a:spcAft>
              <a:buClr>
                <a:schemeClr val="dk1"/>
              </a:buClr>
              <a:buSzPct val="100000"/>
              <a:buNone/>
            </a:pPr>
            <a:r>
              <a:t/>
            </a:r>
            <a:endParaRPr/>
          </a:p>
          <a:p>
            <a:pPr indent="-342900" lvl="0" marL="342900" rtl="0" algn="l">
              <a:spcBef>
                <a:spcPts val="496"/>
              </a:spcBef>
              <a:spcAft>
                <a:spcPts val="0"/>
              </a:spcAft>
              <a:buClr>
                <a:schemeClr val="dk1"/>
              </a:buClr>
              <a:buSzPct val="100000"/>
              <a:buChar char="•"/>
            </a:pPr>
            <a:r>
              <a:rPr b="1" i="1" lang="en-US"/>
              <a:t>Support activities: </a:t>
            </a:r>
            <a:r>
              <a:rPr lang="en-US"/>
              <a:t>contribute to the firm’s competitive advantage by supporting the primary activities, but do not add value directly to the firm’s products or services.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3"/>
          <p:cNvSpPr txBox="1"/>
          <p:nvPr>
            <p:ph idx="1" type="subTitle"/>
          </p:nvPr>
        </p:nvSpPr>
        <p:spPr>
          <a:xfrm>
            <a:off x="457200" y="76200"/>
            <a:ext cx="8153400" cy="1073785"/>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Porter’s Value Chain Model</a:t>
            </a:r>
            <a:endParaRPr/>
          </a:p>
        </p:txBody>
      </p:sp>
      <p:sp>
        <p:nvSpPr>
          <p:cNvPr id="363" name="Google Shape;363;p33"/>
          <p:cNvSpPr txBox="1"/>
          <p:nvPr>
            <p:ph idx="2" type="body"/>
          </p:nvPr>
        </p:nvSpPr>
        <p:spPr>
          <a:xfrm>
            <a:off x="457126" y="1447800"/>
            <a:ext cx="8001000" cy="3962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800"/>
              <a:buChar char="•"/>
            </a:pPr>
            <a:r>
              <a:rPr b="1" lang="en-US" sz="2800"/>
              <a:t>Value System: </a:t>
            </a:r>
            <a:endParaRPr b="1" sz="2800"/>
          </a:p>
          <a:p>
            <a:pPr indent="-342900" lvl="0" marL="342900" rtl="0" algn="l">
              <a:spcBef>
                <a:spcPts val="560"/>
              </a:spcBef>
              <a:spcAft>
                <a:spcPts val="0"/>
              </a:spcAft>
              <a:buClr>
                <a:schemeClr val="dk1"/>
              </a:buClr>
              <a:buSzPts val="2800"/>
              <a:buChar char="•"/>
            </a:pPr>
            <a:r>
              <a:rPr lang="en-US" sz="2800"/>
              <a:t>Includes  the suppliers that provide the inputs necessary to the firm along with their value chains. After the firm creates products, these products pass through the value chains of distributors (which also have their own value chains), all the way to the customers.</a:t>
            </a:r>
            <a:endParaRPr sz="2800"/>
          </a:p>
          <a:p>
            <a:pPr indent="-342900" lvl="0" marL="342900" rtl="0" algn="l">
              <a:spcBef>
                <a:spcPts val="560"/>
              </a:spcBef>
              <a:spcAft>
                <a:spcPts val="0"/>
              </a:spcAft>
              <a:buClr>
                <a:schemeClr val="dk1"/>
              </a:buClr>
              <a:buSzPts val="2800"/>
              <a:buChar char="•"/>
            </a:pPr>
            <a:r>
              <a:rPr lang="en-US" sz="2800"/>
              <a:t> All parts of these chains are included in the value system.</a:t>
            </a:r>
            <a:endParaRPr sz="2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4"/>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Primary Activities</a:t>
            </a:r>
            <a:endParaRPr/>
          </a:p>
        </p:txBody>
      </p:sp>
      <p:sp>
        <p:nvSpPr>
          <p:cNvPr id="370" name="Google Shape;370;p34"/>
          <p:cNvSpPr txBox="1"/>
          <p:nvPr>
            <p:ph idx="2" type="body"/>
          </p:nvPr>
        </p:nvSpPr>
        <p:spPr>
          <a:xfrm>
            <a:off x="228600" y="2286000"/>
            <a:ext cx="89154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595959"/>
              </a:buClr>
              <a:buSzPts val="2800"/>
              <a:buChar char="•"/>
            </a:pPr>
            <a:r>
              <a:rPr lang="en-US" sz="2800"/>
              <a:t>Inbound logistics(inputs)</a:t>
            </a:r>
            <a:endParaRPr sz="2800"/>
          </a:p>
          <a:p>
            <a:pPr indent="-342900" lvl="0" marL="342900" rtl="0" algn="l">
              <a:spcBef>
                <a:spcPts val="560"/>
              </a:spcBef>
              <a:spcAft>
                <a:spcPts val="0"/>
              </a:spcAft>
              <a:buClr>
                <a:srgbClr val="595959"/>
              </a:buClr>
              <a:buSzPts val="2800"/>
              <a:buChar char="•"/>
            </a:pPr>
            <a:r>
              <a:rPr lang="en-US" sz="2800"/>
              <a:t>Operations(manufacturing and testing)</a:t>
            </a:r>
            <a:endParaRPr sz="2800"/>
          </a:p>
          <a:p>
            <a:pPr indent="-342900" lvl="0" marL="342900" rtl="0" algn="l">
              <a:spcBef>
                <a:spcPts val="560"/>
              </a:spcBef>
              <a:spcAft>
                <a:spcPts val="0"/>
              </a:spcAft>
              <a:buClr>
                <a:srgbClr val="595959"/>
              </a:buClr>
              <a:buSzPts val="2800"/>
              <a:buChar char="•"/>
            </a:pPr>
            <a:r>
              <a:rPr lang="en-US" sz="2800"/>
              <a:t>Outbound logistics (storage and distribution)</a:t>
            </a:r>
            <a:endParaRPr sz="2800"/>
          </a:p>
          <a:p>
            <a:pPr indent="-342900" lvl="0" marL="342900" rtl="0" algn="l">
              <a:spcBef>
                <a:spcPts val="560"/>
              </a:spcBef>
              <a:spcAft>
                <a:spcPts val="0"/>
              </a:spcAft>
              <a:buClr>
                <a:srgbClr val="595959"/>
              </a:buClr>
              <a:buSzPts val="2800"/>
              <a:buChar char="•"/>
            </a:pPr>
            <a:r>
              <a:rPr lang="en-US" sz="2800"/>
              <a:t>Marketing and sales</a:t>
            </a:r>
            <a:endParaRPr sz="2800"/>
          </a:p>
          <a:p>
            <a:pPr indent="-342900" lvl="0" marL="342900" rtl="0" algn="l">
              <a:spcBef>
                <a:spcPts val="560"/>
              </a:spcBef>
              <a:spcAft>
                <a:spcPts val="0"/>
              </a:spcAft>
              <a:buClr>
                <a:srgbClr val="595959"/>
              </a:buClr>
              <a:buSzPts val="2800"/>
              <a:buChar char="•"/>
            </a:pPr>
            <a:r>
              <a:rPr lang="en-US" sz="2800"/>
              <a:t>Services</a:t>
            </a:r>
            <a:endParaRPr sz="2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5"/>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Support Activities</a:t>
            </a:r>
            <a:endParaRPr/>
          </a:p>
        </p:txBody>
      </p:sp>
      <p:sp>
        <p:nvSpPr>
          <p:cNvPr id="377" name="Google Shape;377;p35"/>
          <p:cNvSpPr txBox="1"/>
          <p:nvPr>
            <p:ph idx="2" type="body"/>
          </p:nvPr>
        </p:nvSpPr>
        <p:spPr>
          <a:xfrm>
            <a:off x="228600" y="2286000"/>
            <a:ext cx="8686800" cy="3962400"/>
          </a:xfrm>
          <a:prstGeom prst="rect">
            <a:avLst/>
          </a:prstGeom>
          <a:noFill/>
          <a:ln>
            <a:noFill/>
          </a:ln>
        </p:spPr>
        <p:txBody>
          <a:bodyPr anchorCtr="0" anchor="t" bIns="45700" lIns="91425" spcFirstLastPara="1" rIns="91425" wrap="square" tIns="45700">
            <a:normAutofit/>
          </a:bodyPr>
          <a:lstStyle/>
          <a:p>
            <a:pPr indent="-177800" lvl="0" marL="171450" rtl="0" algn="l">
              <a:spcBef>
                <a:spcPts val="0"/>
              </a:spcBef>
              <a:spcAft>
                <a:spcPts val="0"/>
              </a:spcAft>
              <a:buClr>
                <a:srgbClr val="595959"/>
              </a:buClr>
              <a:buSzPts val="2800"/>
              <a:buChar char="•"/>
            </a:pPr>
            <a:r>
              <a:rPr lang="en-US" sz="2800"/>
              <a:t>The firm’s infrastructure (accounting, finance, management)</a:t>
            </a:r>
            <a:endParaRPr sz="2800"/>
          </a:p>
          <a:p>
            <a:pPr indent="-177800" lvl="0" marL="171450" rtl="0" algn="l">
              <a:spcBef>
                <a:spcPts val="560"/>
              </a:spcBef>
              <a:spcAft>
                <a:spcPts val="0"/>
              </a:spcAft>
              <a:buClr>
                <a:srgbClr val="595959"/>
              </a:buClr>
              <a:buSzPts val="2800"/>
              <a:buChar char="•"/>
            </a:pPr>
            <a:r>
              <a:rPr lang="en-US" sz="2800"/>
              <a:t>Human resources management</a:t>
            </a:r>
            <a:endParaRPr sz="2800"/>
          </a:p>
          <a:p>
            <a:pPr indent="-177800" lvl="0" marL="171450" rtl="0" algn="l">
              <a:spcBef>
                <a:spcPts val="560"/>
              </a:spcBef>
              <a:spcAft>
                <a:spcPts val="0"/>
              </a:spcAft>
              <a:buClr>
                <a:srgbClr val="595959"/>
              </a:buClr>
              <a:buSzPts val="2800"/>
              <a:buChar char="•"/>
            </a:pPr>
            <a:r>
              <a:rPr lang="en-US" sz="2800"/>
              <a:t>Product and technology development (R&amp;D)</a:t>
            </a:r>
            <a:endParaRPr sz="2800"/>
          </a:p>
          <a:p>
            <a:pPr indent="-177800" lvl="0" marL="171450" rtl="0" algn="l">
              <a:spcBef>
                <a:spcPts val="560"/>
              </a:spcBef>
              <a:spcAft>
                <a:spcPts val="0"/>
              </a:spcAft>
              <a:buClr>
                <a:srgbClr val="595959"/>
              </a:buClr>
              <a:buSzPts val="2800"/>
              <a:buChar char="•"/>
            </a:pPr>
            <a:r>
              <a:rPr lang="en-US" sz="2800"/>
              <a:t>Procurement</a:t>
            </a:r>
            <a:endParaRPr sz="2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6"/>
          <p:cNvSpPr txBox="1"/>
          <p:nvPr>
            <p:ph idx="1" type="subTitle"/>
          </p:nvPr>
        </p:nvSpPr>
        <p:spPr>
          <a:xfrm>
            <a:off x="457200" y="76200"/>
            <a:ext cx="8153399"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9900FF"/>
              </a:buClr>
              <a:buSzPts val="4400"/>
              <a:buNone/>
            </a:pPr>
            <a:r>
              <a:rPr lang="en-US"/>
              <a:t>Porter’s Value Chain Model</a:t>
            </a:r>
            <a:endParaRPr/>
          </a:p>
        </p:txBody>
      </p:sp>
      <p:pic>
        <p:nvPicPr>
          <p:cNvPr id="383" name="Google Shape;383;p36"/>
          <p:cNvPicPr preferRelativeResize="0"/>
          <p:nvPr>
            <p:ph idx="2" type="body"/>
          </p:nvPr>
        </p:nvPicPr>
        <p:blipFill rotWithShape="1">
          <a:blip r:embed="rId3">
            <a:alphaModFix/>
          </a:blip>
          <a:srcRect b="0" l="0" r="0" t="0"/>
          <a:stretch/>
        </p:blipFill>
        <p:spPr>
          <a:xfrm>
            <a:off x="183148" y="1219200"/>
            <a:ext cx="8579851" cy="5638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7"/>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Strategies for Competitive Advantage</a:t>
            </a:r>
            <a:endParaRPr/>
          </a:p>
        </p:txBody>
      </p:sp>
      <p:sp>
        <p:nvSpPr>
          <p:cNvPr id="390" name="Google Shape;390;p37"/>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chemeClr val="dk1"/>
              </a:buClr>
              <a:buSzPts val="3200"/>
              <a:buFont typeface="Georgia"/>
              <a:buAutoNum type="arabicPeriod"/>
            </a:pPr>
            <a:r>
              <a:rPr lang="en-US"/>
              <a:t>Cost leadership strategy</a:t>
            </a:r>
            <a:endParaRPr/>
          </a:p>
          <a:p>
            <a:pPr indent="-514350" lvl="0" marL="514350" rtl="0" algn="l">
              <a:spcBef>
                <a:spcPts val="640"/>
              </a:spcBef>
              <a:spcAft>
                <a:spcPts val="0"/>
              </a:spcAft>
              <a:buClr>
                <a:schemeClr val="dk1"/>
              </a:buClr>
              <a:buSzPts val="3200"/>
              <a:buFont typeface="Georgia"/>
              <a:buAutoNum type="arabicPeriod"/>
            </a:pPr>
            <a:r>
              <a:rPr lang="en-US"/>
              <a:t>Differentiation strategy</a:t>
            </a:r>
            <a:endParaRPr/>
          </a:p>
          <a:p>
            <a:pPr indent="-514350" lvl="0" marL="514350" rtl="0" algn="l">
              <a:spcBef>
                <a:spcPts val="640"/>
              </a:spcBef>
              <a:spcAft>
                <a:spcPts val="0"/>
              </a:spcAft>
              <a:buClr>
                <a:schemeClr val="dk1"/>
              </a:buClr>
              <a:buSzPts val="3200"/>
              <a:buFont typeface="Georgia"/>
              <a:buAutoNum type="arabicPeriod"/>
            </a:pPr>
            <a:r>
              <a:rPr lang="en-US"/>
              <a:t>Innovation strategy</a:t>
            </a:r>
            <a:endParaRPr/>
          </a:p>
          <a:p>
            <a:pPr indent="-514350" lvl="0" marL="514350" rtl="0" algn="l">
              <a:spcBef>
                <a:spcPts val="640"/>
              </a:spcBef>
              <a:spcAft>
                <a:spcPts val="0"/>
              </a:spcAft>
              <a:buClr>
                <a:schemeClr val="dk1"/>
              </a:buClr>
              <a:buSzPts val="3200"/>
              <a:buFont typeface="Georgia"/>
              <a:buAutoNum type="arabicPeriod"/>
            </a:pPr>
            <a:r>
              <a:rPr lang="en-US"/>
              <a:t>Organizational effectiveness strategy</a:t>
            </a:r>
            <a:endParaRPr/>
          </a:p>
          <a:p>
            <a:pPr indent="-514350" lvl="0" marL="514350" rtl="0" algn="l">
              <a:spcBef>
                <a:spcPts val="640"/>
              </a:spcBef>
              <a:spcAft>
                <a:spcPts val="0"/>
              </a:spcAft>
              <a:buClr>
                <a:schemeClr val="dk1"/>
              </a:buClr>
              <a:buSzPts val="3200"/>
              <a:buFont typeface="Georgia"/>
              <a:buAutoNum type="arabicPeriod"/>
            </a:pPr>
            <a:r>
              <a:rPr lang="en-US"/>
              <a:t>Customer orientation strategy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8"/>
          <p:cNvSpPr txBox="1"/>
          <p:nvPr>
            <p:ph idx="1" type="subTitle"/>
          </p:nvPr>
        </p:nvSpPr>
        <p:spPr>
          <a:xfrm>
            <a:off x="457200" y="76200"/>
            <a:ext cx="8153399" cy="1447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Figure 2.4: Strategies for Competitive Advantage</a:t>
            </a:r>
            <a:endParaRPr/>
          </a:p>
        </p:txBody>
      </p:sp>
      <p:pic>
        <p:nvPicPr>
          <p:cNvPr id="396" name="Google Shape;396;p38"/>
          <p:cNvPicPr preferRelativeResize="0"/>
          <p:nvPr>
            <p:ph idx="2" type="body"/>
          </p:nvPr>
        </p:nvPicPr>
        <p:blipFill rotWithShape="1">
          <a:blip r:embed="rId3">
            <a:alphaModFix/>
          </a:blip>
          <a:srcRect b="0" l="0" r="0" t="0"/>
          <a:stretch/>
        </p:blipFill>
        <p:spPr>
          <a:xfrm>
            <a:off x="1280500" y="1828800"/>
            <a:ext cx="6506800" cy="4800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9"/>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Strategies for Competitive Advantage</a:t>
            </a:r>
            <a:endParaRPr/>
          </a:p>
        </p:txBody>
      </p:sp>
      <p:sp>
        <p:nvSpPr>
          <p:cNvPr id="403" name="Google Shape;403;p39"/>
          <p:cNvSpPr txBox="1"/>
          <p:nvPr>
            <p:ph idx="2" type="body"/>
          </p:nvPr>
        </p:nvSpPr>
        <p:spPr>
          <a:xfrm>
            <a:off x="19492" y="1981200"/>
            <a:ext cx="9124507" cy="4648200"/>
          </a:xfrm>
          <a:prstGeom prst="rect">
            <a:avLst/>
          </a:prstGeom>
          <a:noFill/>
          <a:ln>
            <a:noFill/>
          </a:ln>
        </p:spPr>
        <p:txBody>
          <a:bodyPr anchorCtr="0" anchor="t" bIns="45700" lIns="91425" spcFirstLastPara="1" rIns="91425" wrap="square" tIns="45700">
            <a:normAutofit fontScale="75000" lnSpcReduction="20000"/>
          </a:bodyPr>
          <a:lstStyle/>
          <a:p>
            <a:pPr indent="-228600" lvl="0" marL="228600" rtl="0" algn="l">
              <a:spcBef>
                <a:spcPts val="0"/>
              </a:spcBef>
              <a:spcAft>
                <a:spcPts val="0"/>
              </a:spcAft>
              <a:buClr>
                <a:schemeClr val="dk1"/>
              </a:buClr>
              <a:buSzPct val="100000"/>
              <a:buFont typeface="Georgia"/>
              <a:buAutoNum type="arabicPeriod"/>
            </a:pPr>
            <a:r>
              <a:rPr b="1" lang="en-US"/>
              <a:t>Cost leadership strategy: </a:t>
            </a:r>
            <a:r>
              <a:rPr lang="en-US"/>
              <a:t>Produce products and/or services at the lowest cost in the industry (e.g., Walmart’s automatic inventory replenishment system).</a:t>
            </a:r>
            <a:endParaRPr/>
          </a:p>
          <a:p>
            <a:pPr indent="-76200" lvl="0" marL="228600" rtl="0" algn="l">
              <a:spcBef>
                <a:spcPts val="480"/>
              </a:spcBef>
              <a:spcAft>
                <a:spcPts val="0"/>
              </a:spcAft>
              <a:buClr>
                <a:schemeClr val="dk1"/>
              </a:buClr>
              <a:buSzPct val="100000"/>
              <a:buFont typeface="Georgia"/>
              <a:buNone/>
            </a:pPr>
            <a:r>
              <a:t/>
            </a:r>
            <a:endParaRPr/>
          </a:p>
          <a:p>
            <a:pPr indent="-228600" lvl="0" marL="228600" rtl="0" algn="l">
              <a:spcBef>
                <a:spcPts val="480"/>
              </a:spcBef>
              <a:spcAft>
                <a:spcPts val="0"/>
              </a:spcAft>
              <a:buClr>
                <a:schemeClr val="dk1"/>
              </a:buClr>
              <a:buSzPct val="100000"/>
              <a:buFont typeface="Georgia"/>
              <a:buAutoNum type="arabicPeriod"/>
            </a:pPr>
            <a:r>
              <a:rPr b="1" lang="en-US"/>
              <a:t>Differentiation Strategy: </a:t>
            </a:r>
            <a:r>
              <a:rPr lang="en-US"/>
              <a:t>Offering different products, services, or product features than your competitors (e.g., Southwest Airlines has differentiated itself as a low-cost, short-haul, express airline).</a:t>
            </a:r>
            <a:endParaRPr/>
          </a:p>
          <a:p>
            <a:pPr indent="-76200" lvl="0" marL="228600" rtl="0" algn="l">
              <a:spcBef>
                <a:spcPts val="480"/>
              </a:spcBef>
              <a:spcAft>
                <a:spcPts val="0"/>
              </a:spcAft>
              <a:buClr>
                <a:schemeClr val="dk1"/>
              </a:buClr>
              <a:buSzPct val="100000"/>
              <a:buFont typeface="Georgia"/>
              <a:buNone/>
            </a:pPr>
            <a:r>
              <a:t/>
            </a:r>
            <a:endParaRPr/>
          </a:p>
          <a:p>
            <a:pPr indent="-228600" lvl="0" marL="228600" rtl="0" algn="l">
              <a:spcBef>
                <a:spcPts val="480"/>
              </a:spcBef>
              <a:spcAft>
                <a:spcPts val="0"/>
              </a:spcAft>
              <a:buClr>
                <a:schemeClr val="dk1"/>
              </a:buClr>
              <a:buSzPct val="100000"/>
              <a:buFont typeface="Georgia"/>
              <a:buAutoNum type="arabicPeriod"/>
            </a:pPr>
            <a:r>
              <a:rPr b="1" lang="en-US"/>
              <a:t>Innovation Strategy: </a:t>
            </a:r>
            <a:r>
              <a:rPr lang="en-US"/>
              <a:t>Introduce new products and services, add new features to existing products and services, or develop new ways to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0"/>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Strategies for Competitive Advantage</a:t>
            </a:r>
            <a:endParaRPr/>
          </a:p>
        </p:txBody>
      </p:sp>
      <p:sp>
        <p:nvSpPr>
          <p:cNvPr id="410" name="Google Shape;410;p40"/>
          <p:cNvSpPr txBox="1"/>
          <p:nvPr>
            <p:ph idx="2" type="body"/>
          </p:nvPr>
        </p:nvSpPr>
        <p:spPr>
          <a:xfrm>
            <a:off x="19492" y="1981200"/>
            <a:ext cx="9124507" cy="4648200"/>
          </a:xfrm>
          <a:prstGeom prst="rect">
            <a:avLst/>
          </a:prstGeom>
          <a:noFill/>
          <a:ln>
            <a:noFill/>
          </a:ln>
        </p:spPr>
        <p:txBody>
          <a:bodyPr anchorCtr="0" anchor="t" bIns="45700" lIns="91425" spcFirstLastPara="1" rIns="91425" wrap="square" tIns="45700">
            <a:normAutofit fontScale="75000" lnSpcReduction="10000"/>
          </a:bodyPr>
          <a:lstStyle/>
          <a:p>
            <a:pPr indent="-514350" lvl="0" marL="514350" rtl="0" algn="l">
              <a:spcBef>
                <a:spcPts val="0"/>
              </a:spcBef>
              <a:spcAft>
                <a:spcPts val="0"/>
              </a:spcAft>
              <a:buClr>
                <a:schemeClr val="dk1"/>
              </a:buClr>
              <a:buSzPct val="100000"/>
              <a:buFont typeface="Georgia"/>
              <a:buAutoNum type="arabicPeriod" startAt="4"/>
            </a:pPr>
            <a:r>
              <a:rPr b="1" lang="en-US"/>
              <a:t>Operational Effectiveness Strategy: </a:t>
            </a:r>
            <a:r>
              <a:rPr lang="en-US"/>
              <a:t>Improve the manner in which a firm executes its internal business processes so that it performs these activities more effectively than its rivals. Such improvements increase quality, productivity, and employee and customer satisfaction while decreasing time to market.</a:t>
            </a:r>
            <a:endParaRPr/>
          </a:p>
          <a:p>
            <a:pPr indent="-361950" lvl="0" marL="514350" rtl="0" algn="l">
              <a:spcBef>
                <a:spcPts val="480"/>
              </a:spcBef>
              <a:spcAft>
                <a:spcPts val="0"/>
              </a:spcAft>
              <a:buClr>
                <a:schemeClr val="dk1"/>
              </a:buClr>
              <a:buSzPct val="100000"/>
              <a:buFont typeface="Georgia"/>
              <a:buNone/>
            </a:pPr>
            <a:r>
              <a:t/>
            </a:r>
            <a:endParaRPr/>
          </a:p>
          <a:p>
            <a:pPr indent="-514350" lvl="0" marL="514350" rtl="0" algn="l">
              <a:spcBef>
                <a:spcPts val="480"/>
              </a:spcBef>
              <a:spcAft>
                <a:spcPts val="0"/>
              </a:spcAft>
              <a:buClr>
                <a:schemeClr val="dk1"/>
              </a:buClr>
              <a:buSzPct val="100000"/>
              <a:buFont typeface="Georgia"/>
              <a:buAutoNum type="arabicPeriod" startAt="4"/>
            </a:pPr>
            <a:r>
              <a:rPr b="1" lang="en-US"/>
              <a:t>Customer Orientation Strategy: </a:t>
            </a:r>
            <a:r>
              <a:rPr lang="en-US"/>
              <a:t>Concentrate on making customers happy. Web-based systems are particularly effective in this area because they can create a personalized, one-to-one relationship with each customer.</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1"/>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6600CC"/>
              </a:buClr>
              <a:buSzPts val="4400"/>
              <a:buNone/>
            </a:pPr>
            <a:r>
              <a:rPr lang="en-US"/>
              <a:t>Business-Information Technology Alignment</a:t>
            </a:r>
            <a:endParaRPr/>
          </a:p>
        </p:txBody>
      </p:sp>
      <p:sp>
        <p:nvSpPr>
          <p:cNvPr id="417" name="Google Shape;417;p41"/>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Business–Information Technology Alignment</a:t>
            </a:r>
            <a:endParaRPr/>
          </a:p>
          <a:p>
            <a:pPr indent="-342900" lvl="0" marL="342900" rtl="0" algn="l">
              <a:spcBef>
                <a:spcPts val="640"/>
              </a:spcBef>
              <a:spcAft>
                <a:spcPts val="0"/>
              </a:spcAft>
              <a:buClr>
                <a:schemeClr val="dk1"/>
              </a:buClr>
              <a:buSzPts val="3200"/>
              <a:buChar char="•"/>
            </a:pPr>
            <a:r>
              <a:rPr lang="en-US"/>
              <a:t>Six Characteristics of Excellent Business-IT Alignment:</a:t>
            </a:r>
            <a:endParaRPr/>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2"/>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rgbClr val="9900FF"/>
              </a:buClr>
              <a:buSzPct val="100000"/>
              <a:buNone/>
            </a:pPr>
            <a:r>
              <a:rPr lang="en-US"/>
              <a:t>Six Characteristics of Excellent Business-IT Alignment</a:t>
            </a:r>
            <a:endParaRPr/>
          </a:p>
        </p:txBody>
      </p:sp>
      <p:sp>
        <p:nvSpPr>
          <p:cNvPr id="424" name="Google Shape;424;p42"/>
          <p:cNvSpPr txBox="1"/>
          <p:nvPr>
            <p:ph idx="2" type="body"/>
          </p:nvPr>
        </p:nvSpPr>
        <p:spPr>
          <a:xfrm>
            <a:off x="609600" y="2057400"/>
            <a:ext cx="8001000" cy="4191000"/>
          </a:xfrm>
          <a:prstGeom prst="rect">
            <a:avLst/>
          </a:prstGeom>
          <a:noFill/>
          <a:ln>
            <a:noFill/>
          </a:ln>
        </p:spPr>
        <p:txBody>
          <a:bodyPr anchorCtr="0" anchor="t" bIns="45700" lIns="91425" spcFirstLastPara="1" rIns="91425" wrap="square" tIns="45700">
            <a:normAutofit fontScale="90000" lnSpcReduction="20000"/>
          </a:bodyPr>
          <a:lstStyle/>
          <a:p>
            <a:pPr indent="-514350" lvl="0" marL="514350" rtl="0" algn="l">
              <a:spcBef>
                <a:spcPts val="0"/>
              </a:spcBef>
              <a:spcAft>
                <a:spcPts val="0"/>
              </a:spcAft>
              <a:buClr>
                <a:srgbClr val="595959"/>
              </a:buClr>
              <a:buSzPct val="100000"/>
              <a:buFont typeface="Georgia"/>
              <a:buAutoNum type="arabicPeriod"/>
            </a:pPr>
            <a:r>
              <a:rPr lang="en-US"/>
              <a:t>Organizations view IT as an engine of innovation that continually transforms the business, often creating new revenue streams.</a:t>
            </a:r>
            <a:endParaRPr/>
          </a:p>
          <a:p>
            <a:pPr indent="-331470" lvl="0" marL="514350" rtl="0" algn="l">
              <a:spcBef>
                <a:spcPts val="576"/>
              </a:spcBef>
              <a:spcAft>
                <a:spcPts val="0"/>
              </a:spcAft>
              <a:buClr>
                <a:srgbClr val="595959"/>
              </a:buClr>
              <a:buSzPct val="100000"/>
              <a:buFont typeface="Georgia"/>
              <a:buNone/>
            </a:pPr>
            <a:r>
              <a:t/>
            </a:r>
            <a:endParaRPr/>
          </a:p>
          <a:p>
            <a:pPr indent="-331470" lvl="0" marL="514350" rtl="0" algn="l">
              <a:spcBef>
                <a:spcPts val="576"/>
              </a:spcBef>
              <a:spcAft>
                <a:spcPts val="0"/>
              </a:spcAft>
              <a:buClr>
                <a:srgbClr val="595959"/>
              </a:buClr>
              <a:buSzPct val="100000"/>
              <a:buFont typeface="Georgia"/>
              <a:buNone/>
            </a:pPr>
            <a:r>
              <a:t/>
            </a:r>
            <a:endParaRPr/>
          </a:p>
          <a:p>
            <a:pPr indent="-514350" lvl="0" marL="514350" rtl="0" algn="l">
              <a:spcBef>
                <a:spcPts val="576"/>
              </a:spcBef>
              <a:spcAft>
                <a:spcPts val="0"/>
              </a:spcAft>
              <a:buClr>
                <a:srgbClr val="595959"/>
              </a:buClr>
              <a:buSzPct val="100000"/>
              <a:buFont typeface="Georgia"/>
              <a:buAutoNum type="arabicPeriod"/>
            </a:pPr>
            <a:r>
              <a:rPr lang="en-US"/>
              <a:t>Organizations view their internal &amp; external customers &amp; their customer service function as supremely important.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3"/>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rgbClr val="9900FF"/>
              </a:buClr>
              <a:buSzPct val="100000"/>
              <a:buNone/>
            </a:pPr>
            <a:r>
              <a:rPr lang="en-US"/>
              <a:t>Six Characteristics of Excellent Business-IT Alignment (continued)</a:t>
            </a:r>
            <a:endParaRPr/>
          </a:p>
        </p:txBody>
      </p:sp>
      <p:sp>
        <p:nvSpPr>
          <p:cNvPr id="431" name="Google Shape;431;p43"/>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595959"/>
              </a:buClr>
              <a:buSzPts val="2800"/>
              <a:buFont typeface="Georgia"/>
              <a:buAutoNum type="arabicPeriod" startAt="3"/>
            </a:pPr>
            <a:r>
              <a:rPr lang="en-US" sz="2800"/>
              <a:t>Organizations rotate business &amp; IT professionals across departments and job functions.</a:t>
            </a:r>
            <a:endParaRPr sz="2800"/>
          </a:p>
          <a:p>
            <a:pPr indent="-514350" lvl="0" marL="514350" rtl="0" algn="l">
              <a:spcBef>
                <a:spcPts val="560"/>
              </a:spcBef>
              <a:spcAft>
                <a:spcPts val="0"/>
              </a:spcAft>
              <a:buClr>
                <a:srgbClr val="595959"/>
              </a:buClr>
              <a:buSzPts val="2800"/>
              <a:buFont typeface="Georgia"/>
              <a:buAutoNum type="arabicPeriod" startAt="3"/>
            </a:pPr>
            <a:r>
              <a:rPr lang="en-US" sz="2800"/>
              <a:t>Organizations provide overarching goals that are completely clear to each IT and business employee.</a:t>
            </a:r>
            <a:endParaRPr sz="2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4"/>
          <p:cNvSpPr txBox="1"/>
          <p:nvPr>
            <p:ph idx="1" type="subTitle"/>
          </p:nvPr>
        </p:nvSpPr>
        <p:spPr>
          <a:xfrm>
            <a:off x="457200" y="76200"/>
            <a:ext cx="8153399" cy="1676400"/>
          </a:xfrm>
          <a:prstGeom prst="rect">
            <a:avLst/>
          </a:prstGeom>
          <a:noFill/>
          <a:ln>
            <a:noFill/>
          </a:ln>
        </p:spPr>
        <p:txBody>
          <a:bodyPr anchorCtr="0" anchor="b" bIns="45700" lIns="91425" spcFirstLastPara="1" rIns="91425" wrap="square" tIns="45700">
            <a:normAutofit fontScale="92500" lnSpcReduction="20000"/>
          </a:bodyPr>
          <a:lstStyle/>
          <a:p>
            <a:pPr indent="0" lvl="0" marL="0" rtl="0" algn="l">
              <a:spcBef>
                <a:spcPts val="0"/>
              </a:spcBef>
              <a:spcAft>
                <a:spcPts val="0"/>
              </a:spcAft>
              <a:buClr>
                <a:srgbClr val="9900FF"/>
              </a:buClr>
              <a:buSzPct val="100000"/>
              <a:buNone/>
            </a:pPr>
            <a:r>
              <a:rPr lang="en-US"/>
              <a:t>Six Characteristics of Excellent Business-IT Alignment (continued)</a:t>
            </a:r>
            <a:endParaRPr/>
          </a:p>
        </p:txBody>
      </p:sp>
      <p:sp>
        <p:nvSpPr>
          <p:cNvPr id="438" name="Google Shape;438;p44"/>
          <p:cNvSpPr txBox="1"/>
          <p:nvPr>
            <p:ph idx="2" type="body"/>
          </p:nvPr>
        </p:nvSpPr>
        <p:spPr>
          <a:xfrm>
            <a:off x="609600" y="2286000"/>
            <a:ext cx="8001000" cy="39624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Clr>
                <a:srgbClr val="595959"/>
              </a:buClr>
              <a:buSzPts val="3200"/>
              <a:buFont typeface="Georgia"/>
              <a:buAutoNum type="arabicPeriod" startAt="5"/>
            </a:pPr>
            <a:r>
              <a:rPr lang="en-US"/>
              <a:t>Organizations ensure that IT employees understand how the company makes (or loses) money.</a:t>
            </a:r>
            <a:endParaRPr/>
          </a:p>
          <a:p>
            <a:pPr indent="-514350" lvl="0" marL="514350" rtl="0" algn="l">
              <a:spcBef>
                <a:spcPts val="640"/>
              </a:spcBef>
              <a:spcAft>
                <a:spcPts val="0"/>
              </a:spcAft>
              <a:buClr>
                <a:srgbClr val="595959"/>
              </a:buClr>
              <a:buSzPts val="3200"/>
              <a:buFont typeface="Georgia"/>
              <a:buAutoNum type="arabicPeriod" startAt="5"/>
            </a:pPr>
            <a:r>
              <a:rPr lang="en-US"/>
              <a:t>Organizations create a vibrant and inclusive company culture.</a:t>
            </a:r>
            <a:endParaRPr/>
          </a:p>
          <a:p>
            <a:pPr indent="-139700" lvl="0" marL="342900" rtl="0" algn="l">
              <a:spcBef>
                <a:spcPts val="640"/>
              </a:spcBef>
              <a:spcAft>
                <a:spcPts val="0"/>
              </a:spcAft>
              <a:buClr>
                <a:srgbClr val="595959"/>
              </a:buClr>
              <a:buSzPts val="3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2013-08-07T23:49:00Z</dcterms:created>
  <dc:creator>John Kenneth Corley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9DEEB4789C1242C8A6A794375B2F2625</vt:lpwstr>
  </property>
  <property fmtid="{D5CDD505-2E9C-101B-9397-08002B2CF9AE}" pid="3" name="KSOProductBuildVer">
    <vt:lpwstr>1033-11.2.0.11191</vt:lpwstr>
  </property>
</Properties>
</file>