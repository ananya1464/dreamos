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89" r:id="rId5"/>
    <p:sldId id="259" r:id="rId6"/>
    <p:sldId id="260" r:id="rId7"/>
    <p:sldId id="261" r:id="rId8"/>
    <p:sldId id="290" r:id="rId9"/>
    <p:sldId id="262" r:id="rId10"/>
    <p:sldId id="263" r:id="rId11"/>
    <p:sldId id="264" r:id="rId12"/>
    <p:sldId id="265" r:id="rId13"/>
    <p:sldId id="266" r:id="rId14"/>
    <p:sldId id="267" r:id="rId15"/>
    <p:sldId id="291"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42" d="100"/>
          <a:sy n="42" d="100"/>
        </p:scale>
        <p:origin x="1326" y="6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8/10/2019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8/10/2019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8/10/2019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8/10/2019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8/10/2019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8/10/2019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8/10/2019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8/10/2019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8/10/2019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8/10/2019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8/10/2019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8/10/2019</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hyperlink" Target="http://www.ihg/"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dirty="0" smtClean="0"/>
              <a:t>Data and Knowledge</a:t>
            </a:r>
            <a:br>
              <a:rPr lang="en-IN" dirty="0" smtClean="0"/>
            </a:br>
            <a:r>
              <a:rPr lang="en-IN" dirty="0" smtClean="0"/>
              <a:t>Management</a:t>
            </a:r>
            <a:endParaRPr lang="en-IN" dirty="0"/>
          </a:p>
        </p:txBody>
      </p:sp>
      <p:sp>
        <p:nvSpPr>
          <p:cNvPr id="3" name="Subtitle 2"/>
          <p:cNvSpPr>
            <a:spLocks noGrp="1"/>
          </p:cNvSpPr>
          <p:nvPr>
            <p:ph type="subTitle" idx="1"/>
          </p:nvPr>
        </p:nvSpPr>
        <p:spPr/>
        <p:txBody>
          <a:bodyPr/>
          <a:lstStyle/>
          <a:p>
            <a:endParaRPr lang="en-I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pic>
        <p:nvPicPr>
          <p:cNvPr id="1026" name="Picture 2"/>
          <p:cNvPicPr>
            <a:picLocks noChangeAspect="1" noChangeArrowheads="1"/>
          </p:cNvPicPr>
          <p:nvPr/>
        </p:nvPicPr>
        <p:blipFill>
          <a:blip r:embed="rId2"/>
          <a:srcRect/>
          <a:stretch>
            <a:fillRect/>
          </a:stretch>
        </p:blipFill>
        <p:spPr bwMode="auto">
          <a:xfrm>
            <a:off x="74507" y="1524000"/>
            <a:ext cx="9182379" cy="3733799"/>
          </a:xfrm>
          <a:prstGeom prst="rect">
            <a:avLst/>
          </a:prstGeom>
          <a:noFill/>
          <a:ln w="9525">
            <a:noFill/>
            <a:miter lim="800000"/>
            <a:headEnd/>
            <a:tailEnd/>
          </a:ln>
          <a:effec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a:xfrm>
            <a:off x="457200" y="1600200"/>
            <a:ext cx="8229600" cy="4953000"/>
          </a:xfrm>
        </p:spPr>
        <p:txBody>
          <a:bodyPr>
            <a:normAutofit/>
          </a:bodyPr>
          <a:lstStyle/>
          <a:p>
            <a:r>
              <a:rPr lang="en-IN" dirty="0" smtClean="0"/>
              <a:t>The term </a:t>
            </a:r>
            <a:r>
              <a:rPr lang="en-IN" i="1" dirty="0" smtClean="0"/>
              <a:t>Big Data to refer to the vast and constantly increasing </a:t>
            </a:r>
            <a:r>
              <a:rPr lang="en-IN" dirty="0" smtClean="0"/>
              <a:t>amounts of data that modern organizations need to capture, store, process, and analyze. </a:t>
            </a:r>
          </a:p>
          <a:p>
            <a:r>
              <a:rPr lang="en-IN" dirty="0" smtClean="0"/>
              <a:t>Managing Big Data represents a very real problem that every business faces.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IN" dirty="0" smtClean="0"/>
              <a:t>The following case provides a variety of examples of companies that are utilizing Big Data in creative and profitable ways.</a:t>
            </a:r>
          </a:p>
          <a:p>
            <a:r>
              <a:rPr lang="en-IN" dirty="0" smtClean="0"/>
              <a:t>Big Data will continue to get “bigger,” so organizations will have to devise ever-more innovative solutions to manage these data.</a:t>
            </a:r>
          </a:p>
          <a:p>
            <a:endParaRPr lang="en-IN"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Human Resources</a:t>
            </a:r>
            <a:endParaRPr lang="en-IN" dirty="0"/>
          </a:p>
        </p:txBody>
      </p:sp>
      <p:sp>
        <p:nvSpPr>
          <p:cNvPr id="3" name="Content Placeholder 2"/>
          <p:cNvSpPr>
            <a:spLocks noGrp="1"/>
          </p:cNvSpPr>
          <p:nvPr>
            <p:ph idx="1"/>
          </p:nvPr>
        </p:nvSpPr>
        <p:spPr/>
        <p:txBody>
          <a:bodyPr>
            <a:normAutofit lnSpcReduction="10000"/>
          </a:bodyPr>
          <a:lstStyle/>
          <a:p>
            <a:r>
              <a:rPr lang="en-IN" dirty="0" smtClean="0"/>
              <a:t>Caesars Entertainment (www.caesars.com), for example, analyzes health insurance claim data for its 65,000 employees and their covered family members. </a:t>
            </a:r>
          </a:p>
          <a:p>
            <a:r>
              <a:rPr lang="en-IN" dirty="0" smtClean="0"/>
              <a:t>Managers can track thousands of variables that indicate how employees use medical services, such as the number of emergency room visits and whether employees choose a generic or brand name drug.</a:t>
            </a:r>
            <a:endParaRPr lang="en-IN"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92500" lnSpcReduction="20000"/>
          </a:bodyPr>
          <a:lstStyle/>
          <a:p>
            <a:r>
              <a:rPr lang="en-IN" dirty="0" smtClean="0"/>
              <a:t>For instance, data revealed that too many employees with medical emergencies were being treated at hospital emergency rooms rather than at less-expensive urgent-care facilities. </a:t>
            </a:r>
          </a:p>
          <a:p>
            <a:r>
              <a:rPr lang="en-IN" dirty="0" smtClean="0"/>
              <a:t>The company launched a campaign to remind employees of the high cost of emergency room visits and they provided a list of alternative facilities. </a:t>
            </a:r>
          </a:p>
          <a:p>
            <a:r>
              <a:rPr lang="en-IN" dirty="0" smtClean="0"/>
              <a:t>Subsequently, 10,000 emergencies shifted to less-expensive alternatives, for a total savings of $4.5 million.</a:t>
            </a:r>
            <a:endParaRPr lang="en-IN"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i="1" dirty="0" smtClean="0"/>
              <a:t>hiring.</a:t>
            </a:r>
            <a:endParaRPr lang="en-IN" dirty="0"/>
          </a:p>
        </p:txBody>
      </p:sp>
      <p:sp>
        <p:nvSpPr>
          <p:cNvPr id="3" name="Content Placeholder 2"/>
          <p:cNvSpPr>
            <a:spLocks noGrp="1"/>
          </p:cNvSpPr>
          <p:nvPr>
            <p:ph idx="1"/>
          </p:nvPr>
        </p:nvSpPr>
        <p:spPr/>
        <p:txBody>
          <a:bodyPr>
            <a:normAutofit fontScale="92500"/>
          </a:bodyPr>
          <a:lstStyle/>
          <a:p>
            <a:r>
              <a:rPr lang="en-IN" dirty="0" smtClean="0"/>
              <a:t>Catalyst IT Services (www .</a:t>
            </a:r>
            <a:r>
              <a:rPr lang="en-IN" dirty="0" err="1" smtClean="0"/>
              <a:t>catalystitservices.com</a:t>
            </a:r>
            <a:r>
              <a:rPr lang="en-IN" dirty="0" smtClean="0"/>
              <a:t>), a technology outsourcing company that hires teams for programming jobs. </a:t>
            </a:r>
          </a:p>
          <a:p>
            <a:r>
              <a:rPr lang="en-IN" dirty="0" smtClean="0"/>
              <a:t>In 2013, the company planned to screen more than 10,000 candidates. </a:t>
            </a:r>
          </a:p>
          <a:p>
            <a:r>
              <a:rPr lang="en-IN" dirty="0" smtClean="0"/>
              <a:t>Not only is traditional recruiting too slow, but too often the hiring managers subjectively choose candidates who are not the best fit for the job.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IN" dirty="0" smtClean="0"/>
              <a:t>Catalyst addresses this problem by requiring candidates fill out an online assessment. </a:t>
            </a:r>
          </a:p>
          <a:p>
            <a:r>
              <a:rPr lang="en-IN" dirty="0" smtClean="0"/>
              <a:t>It then uses the assessment to collect thousands of data points about each candidate. In fact, the company collects more data based on </a:t>
            </a:r>
            <a:r>
              <a:rPr lang="en-IN" i="1" dirty="0" smtClean="0"/>
              <a:t>how </a:t>
            </a:r>
            <a:r>
              <a:rPr lang="en-IN" dirty="0" smtClean="0"/>
              <a:t>candidates answer than on </a:t>
            </a:r>
            <a:r>
              <a:rPr lang="en-IN" i="1" dirty="0" smtClean="0"/>
              <a:t>what they answer.</a:t>
            </a:r>
            <a:endParaRPr lang="en-IN" dirty="0" smtClean="0"/>
          </a:p>
          <a:p>
            <a:endParaRPr lang="en-IN"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Product Development</a:t>
            </a:r>
            <a:endParaRPr lang="en-IN" dirty="0"/>
          </a:p>
        </p:txBody>
      </p:sp>
      <p:sp>
        <p:nvSpPr>
          <p:cNvPr id="3" name="Content Placeholder 2"/>
          <p:cNvSpPr>
            <a:spLocks noGrp="1"/>
          </p:cNvSpPr>
          <p:nvPr>
            <p:ph idx="1"/>
          </p:nvPr>
        </p:nvSpPr>
        <p:spPr/>
        <p:txBody>
          <a:bodyPr/>
          <a:lstStyle/>
          <a:p>
            <a:r>
              <a:rPr lang="en-IN" dirty="0" smtClean="0"/>
              <a:t>Big Data can help capture customer preferences and put that information to work in designing new products. </a:t>
            </a:r>
          </a:p>
          <a:p>
            <a:r>
              <a:rPr lang="en-IN" dirty="0" smtClean="0"/>
              <a:t>In this area, both online companies and traditional companies are using Big Data to achieve competitive advantage.</a:t>
            </a:r>
            <a:endParaRPr lang="en-IN"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IN" dirty="0" smtClean="0"/>
              <a:t>Physical manufacturers are using Big Data to measure customer interest. For example, as Ford Motor Company (www.ford.com) was designing the first subcompact model on its new global platform</a:t>
            </a:r>
          </a:p>
          <a:p>
            <a:r>
              <a:rPr lang="en-IN" dirty="0" smtClean="0"/>
              <a:t>One feature the company considered was a “three blink” turn indicator that had been available on its European cars for years.</a:t>
            </a:r>
            <a:endParaRPr lang="en-IN"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Marketing</a:t>
            </a:r>
            <a:endParaRPr lang="en-IN" dirty="0"/>
          </a:p>
        </p:txBody>
      </p:sp>
      <p:sp>
        <p:nvSpPr>
          <p:cNvPr id="3" name="Content Placeholder 2"/>
          <p:cNvSpPr>
            <a:spLocks noGrp="1"/>
          </p:cNvSpPr>
          <p:nvPr>
            <p:ph idx="1"/>
          </p:nvPr>
        </p:nvSpPr>
        <p:spPr/>
        <p:txBody>
          <a:bodyPr/>
          <a:lstStyle/>
          <a:p>
            <a:r>
              <a:rPr lang="en-IN" dirty="0" smtClean="0"/>
              <a:t>Marketing managers have long used data to better understand their customers and to target their marketing efforts more directly. Today, Big Data enables marketers to craft much more personalized messages.</a:t>
            </a:r>
            <a:endParaRPr lang="en-IN"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92500" lnSpcReduction="20000"/>
          </a:bodyPr>
          <a:lstStyle/>
          <a:p>
            <a:r>
              <a:rPr lang="en-IN" dirty="0" smtClean="0"/>
              <a:t>Like many hoteliers, United Kingdom’s InterContinental Hotels Group (IHG; </a:t>
            </a:r>
            <a:r>
              <a:rPr lang="en-IN" dirty="0" smtClean="0">
                <a:hlinkClick r:id="rId2"/>
              </a:rPr>
              <a:t>www.ihg</a:t>
            </a:r>
            <a:r>
              <a:rPr lang="en-IN" dirty="0" smtClean="0"/>
              <a:t> .com) has gathered details about the 71 million members of its Priority Club rewards program, such as income levels and whether members prefer family-style or business-</a:t>
            </a:r>
            <a:r>
              <a:rPr lang="en-IN" dirty="0" err="1" smtClean="0"/>
              <a:t>traveler</a:t>
            </a:r>
            <a:r>
              <a:rPr lang="en-IN" dirty="0" smtClean="0"/>
              <a:t> accommodations.</a:t>
            </a:r>
          </a:p>
          <a:p>
            <a:r>
              <a:rPr lang="en-IN" dirty="0" smtClean="0"/>
              <a:t>The company then consolidated all of this information into a single data warehouse that extracts information from social media Web sites and processes queries very quickly.</a:t>
            </a:r>
            <a:endParaRPr lang="en-IN"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IN" dirty="0" smtClean="0"/>
              <a:t>Using its data warehouse and analytics software, the hotelier launched a new marketing campaign in January 2013. </a:t>
            </a:r>
          </a:p>
          <a:p>
            <a:r>
              <a:rPr lang="en-IN" dirty="0" smtClean="0"/>
              <a:t>Where previous marketing campaigns generated, on average, between 7 and 15 customized marketing messages, the new campaign</a:t>
            </a:r>
            <a:endParaRPr lang="en-IN"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IN" dirty="0" smtClean="0"/>
              <a:t>generated more than 1,500. IHG rolled out these messages in stages to an initial core of 12 customer groups, each of which is defined by 4,000 attributes. </a:t>
            </a:r>
          </a:p>
          <a:p>
            <a:r>
              <a:rPr lang="en-IN" dirty="0" smtClean="0"/>
              <a:t>One group, for instance, tends to stay on weekends, redeem reward points for gift cards, and register through IHG marketing partners. </a:t>
            </a:r>
            <a:endParaRPr lang="en-IN"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IN" dirty="0" smtClean="0"/>
              <a:t>Utilizing this information, IHG sent these customers a marketing message that alerted them to local weekend events.</a:t>
            </a:r>
          </a:p>
          <a:p>
            <a:r>
              <a:rPr lang="en-IN" dirty="0" smtClean="0"/>
              <a:t>The campaign proved to be highly successful. It generated a 35 percent higher rate of customer conversions, or acceptances, than previous, similar campaigns.</a:t>
            </a:r>
          </a:p>
          <a:p>
            <a:endParaRPr lang="en-IN"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What We Learned from This Case</a:t>
            </a:r>
            <a:endParaRPr lang="en-IN" dirty="0"/>
          </a:p>
        </p:txBody>
      </p:sp>
      <p:sp>
        <p:nvSpPr>
          <p:cNvPr id="3" name="Content Placeholder 2"/>
          <p:cNvSpPr>
            <a:spLocks noGrp="1"/>
          </p:cNvSpPr>
          <p:nvPr>
            <p:ph idx="1"/>
          </p:nvPr>
        </p:nvSpPr>
        <p:spPr/>
        <p:txBody>
          <a:bodyPr>
            <a:normAutofit fontScale="92500" lnSpcReduction="10000"/>
          </a:bodyPr>
          <a:lstStyle/>
          <a:p>
            <a:r>
              <a:rPr lang="en-IN" dirty="0" smtClean="0"/>
              <a:t>Information technologies and systems support organizations in managing—that is, acquiring, organizing, storing, accessing, analyzing, and interpreting—data. </a:t>
            </a:r>
          </a:p>
          <a:p>
            <a:r>
              <a:rPr lang="en-IN" dirty="0" smtClean="0"/>
              <a:t>As you noted in Chapter 1, when these data are managed properly, they become </a:t>
            </a:r>
            <a:r>
              <a:rPr lang="en-IN" i="1" dirty="0" smtClean="0"/>
              <a:t>information and then knowledge. </a:t>
            </a:r>
          </a:p>
          <a:p>
            <a:r>
              <a:rPr lang="en-IN" i="1" dirty="0" smtClean="0"/>
              <a:t>Information </a:t>
            </a:r>
            <a:r>
              <a:rPr lang="en-IN" dirty="0" smtClean="0"/>
              <a:t>and knowledge are invaluable organizational resources that can provide a competitive advantage.</a:t>
            </a:r>
            <a:endParaRPr lang="en-IN"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l"/>
            <a:r>
              <a:rPr lang="en-IN" sz="3600" dirty="0" smtClean="0"/>
              <a:t>Managing data is critically important in large organizations. However, it is equally important to small organizations </a:t>
            </a:r>
            <a:endParaRPr lang="en-IN" sz="3600" dirty="0"/>
          </a:p>
        </p:txBody>
      </p:sp>
      <p:sp>
        <p:nvSpPr>
          <p:cNvPr id="3" name="Content Placeholder 2"/>
          <p:cNvSpPr>
            <a:spLocks noGrp="1"/>
          </p:cNvSpPr>
          <p:nvPr>
            <p:ph idx="1"/>
          </p:nvPr>
        </p:nvSpPr>
        <p:spPr/>
        <p:txBody>
          <a:bodyPr/>
          <a:lstStyle/>
          <a:p>
            <a:r>
              <a:rPr lang="en-IN" b="1" dirty="0" smtClean="0"/>
              <a:t>Example Rollins Automotive</a:t>
            </a:r>
            <a:endParaRPr lang="en-IN"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Managing Data</a:t>
            </a:r>
            <a:endParaRPr lang="en-IN" dirty="0"/>
          </a:p>
        </p:txBody>
      </p:sp>
      <p:sp>
        <p:nvSpPr>
          <p:cNvPr id="3" name="Content Placeholder 2"/>
          <p:cNvSpPr>
            <a:spLocks noGrp="1"/>
          </p:cNvSpPr>
          <p:nvPr>
            <p:ph idx="1"/>
          </p:nvPr>
        </p:nvSpPr>
        <p:spPr/>
        <p:txBody>
          <a:bodyPr>
            <a:normAutofit lnSpcReduction="10000"/>
          </a:bodyPr>
          <a:lstStyle/>
          <a:p>
            <a:r>
              <a:rPr lang="en-IN" dirty="0" smtClean="0"/>
              <a:t>All IT applications require data. </a:t>
            </a:r>
          </a:p>
          <a:p>
            <a:r>
              <a:rPr lang="en-IN" dirty="0" smtClean="0"/>
              <a:t>These data should be of </a:t>
            </a:r>
          </a:p>
          <a:p>
            <a:r>
              <a:rPr lang="en-IN" dirty="0" smtClean="0"/>
              <a:t>high quality, </a:t>
            </a:r>
          </a:p>
          <a:p>
            <a:r>
              <a:rPr lang="en-IN" dirty="0" smtClean="0"/>
              <a:t>meaning that they should be accurate, </a:t>
            </a:r>
          </a:p>
          <a:p>
            <a:r>
              <a:rPr lang="en-IN" dirty="0" smtClean="0"/>
              <a:t>complete, </a:t>
            </a:r>
          </a:p>
          <a:p>
            <a:r>
              <a:rPr lang="en-IN" dirty="0" smtClean="0"/>
              <a:t>timely, </a:t>
            </a:r>
          </a:p>
          <a:p>
            <a:r>
              <a:rPr lang="en-IN" dirty="0" smtClean="0"/>
              <a:t>consistent, </a:t>
            </a:r>
          </a:p>
          <a:p>
            <a:r>
              <a:rPr lang="en-IN" dirty="0" smtClean="0"/>
              <a:t>accessible, relevant, and concise.</a:t>
            </a:r>
            <a:endParaRPr lang="en-IN"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The Difficulties of Managing Data</a:t>
            </a:r>
            <a:endParaRPr lang="en-IN" dirty="0"/>
          </a:p>
        </p:txBody>
      </p:sp>
      <p:sp>
        <p:nvSpPr>
          <p:cNvPr id="3" name="Content Placeholder 2"/>
          <p:cNvSpPr>
            <a:spLocks noGrp="1"/>
          </p:cNvSpPr>
          <p:nvPr>
            <p:ph idx="1"/>
          </p:nvPr>
        </p:nvSpPr>
        <p:spPr/>
        <p:txBody>
          <a:bodyPr>
            <a:normAutofit lnSpcReduction="10000"/>
          </a:bodyPr>
          <a:lstStyle/>
          <a:p>
            <a:r>
              <a:rPr lang="en-IN" dirty="0" smtClean="0"/>
              <a:t>Managing data in organizations is difficult for many reasons.</a:t>
            </a:r>
          </a:p>
          <a:p>
            <a:r>
              <a:rPr lang="en-IN" dirty="0" smtClean="0"/>
              <a:t>First, the amount of data increases exponentially with time. </a:t>
            </a:r>
          </a:p>
          <a:p>
            <a:r>
              <a:rPr lang="en-IN" dirty="0" smtClean="0"/>
              <a:t>Much historical data must be kept for a long time, and new data are added rapidly.</a:t>
            </a:r>
          </a:p>
          <a:p>
            <a:r>
              <a:rPr lang="en-IN" dirty="0" smtClean="0"/>
              <a:t>For example, to support millions of customers, large retailers such as </a:t>
            </a:r>
            <a:r>
              <a:rPr lang="en-IN" dirty="0" err="1" smtClean="0"/>
              <a:t>Walmart</a:t>
            </a:r>
            <a:r>
              <a:rPr lang="en-IN" dirty="0" smtClean="0"/>
              <a:t> have to manage </a:t>
            </a:r>
            <a:r>
              <a:rPr lang="en-IN" dirty="0" err="1" smtClean="0"/>
              <a:t>petabytes</a:t>
            </a:r>
            <a:r>
              <a:rPr lang="en-IN" dirty="0" smtClean="0"/>
              <a:t> of data.</a:t>
            </a:r>
            <a:endParaRPr lang="en-IN"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IN" dirty="0" smtClean="0"/>
              <a:t>In addition, data are also scattered throughout organizations, and they are collected by many individuals using various methods and devices. </a:t>
            </a:r>
          </a:p>
          <a:p>
            <a:r>
              <a:rPr lang="en-IN" dirty="0" smtClean="0"/>
              <a:t>These data are frequently stored in numerous servers and locations and in different computing systems, databases, formats, and human and computer languages.</a:t>
            </a:r>
            <a:endParaRPr lang="en-IN"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smtClean="0"/>
              <a:t>How New York City is </a:t>
            </a:r>
            <a:r>
              <a:rPr lang="en-IN" dirty="0" err="1" smtClean="0"/>
              <a:t>benefi</a:t>
            </a:r>
            <a:r>
              <a:rPr lang="en-IN" dirty="0" smtClean="0"/>
              <a:t> ting</a:t>
            </a:r>
            <a:br>
              <a:rPr lang="en-IN" dirty="0" smtClean="0"/>
            </a:br>
            <a:r>
              <a:rPr lang="en-IN" dirty="0" smtClean="0"/>
              <a:t>from the system it utilizes to manage its data management problems</a:t>
            </a:r>
            <a:endParaRPr lang="en-IN" dirty="0"/>
          </a:p>
        </p:txBody>
      </p:sp>
      <p:sp>
        <p:nvSpPr>
          <p:cNvPr id="3" name="Content Placeholder 2"/>
          <p:cNvSpPr>
            <a:spLocks noGrp="1"/>
          </p:cNvSpPr>
          <p:nvPr>
            <p:ph idx="1"/>
          </p:nvPr>
        </p:nvSpPr>
        <p:spPr/>
        <p:txBody>
          <a:bodyPr/>
          <a:lstStyle/>
          <a:p>
            <a:endParaRPr lang="en-IN"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92500" lnSpcReduction="20000"/>
          </a:bodyPr>
          <a:lstStyle/>
          <a:p>
            <a:r>
              <a:rPr lang="en-IN" dirty="0" smtClean="0"/>
              <a:t>Another problem is that data are generated from multiple sources: </a:t>
            </a:r>
          </a:p>
          <a:p>
            <a:r>
              <a:rPr lang="en-IN" dirty="0" smtClean="0"/>
              <a:t>internal sources (e.g., corporate databases and company documents), </a:t>
            </a:r>
          </a:p>
          <a:p>
            <a:r>
              <a:rPr lang="en-IN" dirty="0" smtClean="0"/>
              <a:t>personal sources (e.g., personal thoughts, opinions, and experiences), and </a:t>
            </a:r>
          </a:p>
          <a:p>
            <a:r>
              <a:rPr lang="en-IN" dirty="0" smtClean="0"/>
              <a:t>external sources (e.g., commercial databases, government reports, and corporate Web sites). </a:t>
            </a:r>
          </a:p>
          <a:p>
            <a:r>
              <a:rPr lang="en-IN" dirty="0" smtClean="0"/>
              <a:t>Data also come from the Web, in the form of </a:t>
            </a:r>
            <a:r>
              <a:rPr lang="en-IN" dirty="0" err="1" smtClean="0"/>
              <a:t>clickstream</a:t>
            </a:r>
            <a:r>
              <a:rPr lang="en-IN" dirty="0" smtClean="0"/>
              <a:t> data.</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err="1" smtClean="0"/>
              <a:t>Clickstream</a:t>
            </a:r>
            <a:r>
              <a:rPr lang="en-IN" b="1" dirty="0" smtClean="0"/>
              <a:t> data</a:t>
            </a:r>
            <a:endParaRPr lang="en-IN" dirty="0"/>
          </a:p>
        </p:txBody>
      </p:sp>
      <p:sp>
        <p:nvSpPr>
          <p:cNvPr id="3" name="Content Placeholder 2"/>
          <p:cNvSpPr>
            <a:spLocks noGrp="1"/>
          </p:cNvSpPr>
          <p:nvPr>
            <p:ph idx="1"/>
          </p:nvPr>
        </p:nvSpPr>
        <p:spPr/>
        <p:txBody>
          <a:bodyPr/>
          <a:lstStyle/>
          <a:p>
            <a:r>
              <a:rPr lang="en-IN" b="1" dirty="0" err="1" smtClean="0"/>
              <a:t>Clickstream</a:t>
            </a:r>
            <a:r>
              <a:rPr lang="en-IN" b="1" dirty="0" smtClean="0"/>
              <a:t> data are those data that visitors and customers produce when they visit a Web site </a:t>
            </a:r>
            <a:r>
              <a:rPr lang="en-IN" dirty="0" smtClean="0"/>
              <a:t>and click on hyperlinks.</a:t>
            </a:r>
          </a:p>
          <a:p>
            <a:r>
              <a:rPr lang="en-IN" dirty="0" smtClean="0"/>
              <a:t> </a:t>
            </a:r>
            <a:r>
              <a:rPr lang="en-IN" dirty="0" err="1" smtClean="0"/>
              <a:t>Clickstream</a:t>
            </a:r>
            <a:r>
              <a:rPr lang="en-IN" dirty="0" smtClean="0"/>
              <a:t> data provide a trail of the users’ activities in the Web site, including user </a:t>
            </a:r>
            <a:r>
              <a:rPr lang="en-IN" dirty="0" err="1" smtClean="0"/>
              <a:t>behavior</a:t>
            </a:r>
            <a:r>
              <a:rPr lang="en-IN" dirty="0" smtClean="0"/>
              <a:t> and browsing patterns.</a:t>
            </a:r>
          </a:p>
          <a:p>
            <a:endParaRPr lang="en-IN"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92500" lnSpcReduction="20000"/>
          </a:bodyPr>
          <a:lstStyle/>
          <a:p>
            <a:r>
              <a:rPr lang="en-IN" dirty="0" smtClean="0"/>
              <a:t>Adding to these problems is the fact that new sources of data, such as blogs, podcasts, </a:t>
            </a:r>
            <a:r>
              <a:rPr lang="en-IN" dirty="0" err="1" smtClean="0"/>
              <a:t>videocasts</a:t>
            </a:r>
            <a:r>
              <a:rPr lang="en-IN" dirty="0" smtClean="0"/>
              <a:t>, and radio frequency identification (RFID) tags and other wireless sensors, are constantly being developed. </a:t>
            </a:r>
          </a:p>
          <a:p>
            <a:r>
              <a:rPr lang="en-IN" dirty="0" smtClean="0"/>
              <a:t>In addition, data degrade over time. For example, customers move to new addresses or change their names, companies go out of business or are bought, new products are developed, employees are hired or fired, and companies expand into new countries.</a:t>
            </a:r>
          </a:p>
          <a:p>
            <a:endParaRPr lang="en-IN" dirty="0" smtClean="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92500" lnSpcReduction="10000"/>
          </a:bodyPr>
          <a:lstStyle/>
          <a:p>
            <a:r>
              <a:rPr lang="en-IN" dirty="0" smtClean="0"/>
              <a:t>Data are also subject to </a:t>
            </a:r>
            <a:r>
              <a:rPr lang="en-IN" i="1" dirty="0" smtClean="0"/>
              <a:t>data rot. Data rot refers primarily to problems with the media on </a:t>
            </a:r>
            <a:r>
              <a:rPr lang="en-IN" dirty="0" smtClean="0"/>
              <a:t>which the data are stored. </a:t>
            </a:r>
          </a:p>
          <a:p>
            <a:r>
              <a:rPr lang="en-IN" dirty="0" smtClean="0"/>
              <a:t>Over time, temperature, humidity, and exposure to light can cause physical problems with storage media and thus make it </a:t>
            </a:r>
            <a:r>
              <a:rPr lang="en-IN" dirty="0" err="1" smtClean="0"/>
              <a:t>diffi</a:t>
            </a:r>
            <a:r>
              <a:rPr lang="en-IN" dirty="0" smtClean="0"/>
              <a:t> cult to access the data. </a:t>
            </a:r>
          </a:p>
          <a:p>
            <a:r>
              <a:rPr lang="en-IN" dirty="0" smtClean="0"/>
              <a:t>The second aspect of data rot is that </a:t>
            </a:r>
            <a:r>
              <a:rPr lang="en-IN" dirty="0" err="1" smtClean="0"/>
              <a:t>fi</a:t>
            </a:r>
            <a:r>
              <a:rPr lang="en-IN" dirty="0" smtClean="0"/>
              <a:t> </a:t>
            </a:r>
            <a:r>
              <a:rPr lang="en-IN" dirty="0" err="1" smtClean="0"/>
              <a:t>nding</a:t>
            </a:r>
            <a:r>
              <a:rPr lang="en-IN" dirty="0" smtClean="0"/>
              <a:t> the machines needed to access the data can be </a:t>
            </a:r>
            <a:r>
              <a:rPr lang="en-IN" dirty="0" err="1" smtClean="0"/>
              <a:t>diffi</a:t>
            </a:r>
            <a:r>
              <a:rPr lang="en-IN" dirty="0" smtClean="0"/>
              <a:t> cult.</a:t>
            </a:r>
            <a:endParaRPr lang="en-IN"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IN" dirty="0" smtClean="0"/>
              <a:t>Data security, quality, and integrity are critical, yet they are easily jeopardized. </a:t>
            </a:r>
          </a:p>
          <a:p>
            <a:r>
              <a:rPr lang="en-IN" dirty="0" smtClean="0"/>
              <a:t>In addition, legal requirements relating to data differ among countries as well as among industries, and they change frequently.</a:t>
            </a:r>
            <a:endParaRPr lang="en-IN"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a:xfrm>
            <a:off x="228600" y="1600200"/>
            <a:ext cx="8458200" cy="4525963"/>
          </a:xfrm>
        </p:spPr>
        <p:txBody>
          <a:bodyPr>
            <a:normAutofit fontScale="92500"/>
          </a:bodyPr>
          <a:lstStyle/>
          <a:p>
            <a:r>
              <a:rPr lang="en-IN" dirty="0" smtClean="0"/>
              <a:t>Another problem arises from the fact that, over time, organizations have developed information systems for specific business processes, such as transaction processing, supply chain management, and customer relationship management. </a:t>
            </a:r>
          </a:p>
          <a:p>
            <a:r>
              <a:rPr lang="en-IN" dirty="0" smtClean="0"/>
              <a:t>Information systems that specifically support these processes impose unique requirements on data, which results in repetition and conflicts across the organization.</a:t>
            </a:r>
            <a:endParaRPr lang="en-IN"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IN" dirty="0" smtClean="0"/>
              <a:t>For example, the marketing function might maintain information on customers, sales territories, and markets. </a:t>
            </a:r>
          </a:p>
          <a:p>
            <a:r>
              <a:rPr lang="en-IN" dirty="0" smtClean="0"/>
              <a:t>These data might be duplicated within the billing or customer service functions. </a:t>
            </a:r>
          </a:p>
          <a:p>
            <a:r>
              <a:rPr lang="en-IN" dirty="0" smtClean="0"/>
              <a:t>This situation can produce inconsistent data within the enterprise.</a:t>
            </a:r>
            <a:endParaRPr lang="en-IN"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IN" dirty="0" smtClean="0"/>
              <a:t>There are two additional problems with data management: Big Data and data hoarding.</a:t>
            </a:r>
            <a:endParaRPr lang="en-IN"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Data Governance</a:t>
            </a:r>
            <a:endParaRPr lang="en-IN" dirty="0"/>
          </a:p>
        </p:txBody>
      </p:sp>
      <p:sp>
        <p:nvSpPr>
          <p:cNvPr id="3" name="Content Placeholder 2"/>
          <p:cNvSpPr>
            <a:spLocks noGrp="1"/>
          </p:cNvSpPr>
          <p:nvPr>
            <p:ph idx="1"/>
          </p:nvPr>
        </p:nvSpPr>
        <p:spPr>
          <a:xfrm>
            <a:off x="457200" y="1600200"/>
            <a:ext cx="8229600" cy="5257800"/>
          </a:xfrm>
        </p:spPr>
        <p:txBody>
          <a:bodyPr>
            <a:normAutofit fontScale="92500" lnSpcReduction="10000"/>
          </a:bodyPr>
          <a:lstStyle/>
          <a:p>
            <a:r>
              <a:rPr lang="en-IN" dirty="0" smtClean="0"/>
              <a:t>To address the numerous problems associated with managing data, organizations are turning to data governance. </a:t>
            </a:r>
          </a:p>
          <a:p>
            <a:r>
              <a:rPr lang="en-IN" b="1" dirty="0" smtClean="0"/>
              <a:t>Data governance is an approach to managing information across an entire </a:t>
            </a:r>
            <a:r>
              <a:rPr lang="en-IN" dirty="0" smtClean="0"/>
              <a:t>organization. </a:t>
            </a:r>
          </a:p>
          <a:p>
            <a:r>
              <a:rPr lang="en-IN" dirty="0" smtClean="0"/>
              <a:t>It involves a formal set of business processes and policies that are designed to ensure that data are handled in a certain, well-defined fashion. </a:t>
            </a:r>
          </a:p>
          <a:p>
            <a:r>
              <a:rPr lang="en-IN" dirty="0" smtClean="0"/>
              <a:t>That is, the organization follows unambiguous rules for creating, collecting, handling, and protecting its information.</a:t>
            </a:r>
            <a:endParaRPr lang="en-IN"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IN" dirty="0" smtClean="0"/>
              <a:t>The objective is to make information available, transparent, and useful for the people who are authorized to access it, from the moment it enters an organization until it is outdated and deleted.</a:t>
            </a:r>
            <a:endParaRPr lang="en-IN"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dirty="0"/>
          </a:p>
        </p:txBody>
      </p:sp>
      <p:sp>
        <p:nvSpPr>
          <p:cNvPr id="3" name="Content Placeholder 2"/>
          <p:cNvSpPr>
            <a:spLocks noGrp="1"/>
          </p:cNvSpPr>
          <p:nvPr>
            <p:ph idx="1"/>
          </p:nvPr>
        </p:nvSpPr>
        <p:spPr/>
        <p:txBody>
          <a:bodyPr>
            <a:normAutofit/>
          </a:bodyPr>
          <a:lstStyle/>
          <a:p>
            <a:r>
              <a:rPr lang="en-IN" dirty="0" smtClean="0"/>
              <a:t>One strategy for implementing data governance is master data management. </a:t>
            </a:r>
          </a:p>
          <a:p>
            <a:r>
              <a:rPr lang="en-IN" b="1" dirty="0" smtClean="0"/>
              <a:t>Master data management is a process that spans all organizational business processes and applications. </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Master 	Data</a:t>
            </a:r>
            <a:endParaRPr lang="en-IN" dirty="0"/>
          </a:p>
        </p:txBody>
      </p:sp>
      <p:sp>
        <p:nvSpPr>
          <p:cNvPr id="3" name="Content Placeholder 2"/>
          <p:cNvSpPr>
            <a:spLocks noGrp="1"/>
          </p:cNvSpPr>
          <p:nvPr>
            <p:ph idx="1"/>
          </p:nvPr>
        </p:nvSpPr>
        <p:spPr/>
        <p:txBody>
          <a:bodyPr>
            <a:normAutofit lnSpcReduction="10000"/>
          </a:bodyPr>
          <a:lstStyle/>
          <a:p>
            <a:r>
              <a:rPr lang="en-IN" b="1" dirty="0" smtClean="0"/>
              <a:t>It </a:t>
            </a:r>
            <a:r>
              <a:rPr lang="en-IN" dirty="0" smtClean="0"/>
              <a:t>provides companies with the ability to store, maintain, exchange, and synchronize a consistent, accurate, and timely “single version of the truth” for the company’s master data.</a:t>
            </a:r>
          </a:p>
          <a:p>
            <a:r>
              <a:rPr lang="en-IN" b="1" dirty="0" smtClean="0"/>
              <a:t>Master data are a set of core data, such as customer, product, employee, vendor, geographic </a:t>
            </a:r>
            <a:r>
              <a:rPr lang="en-IN" dirty="0" smtClean="0"/>
              <a:t>location, and so on, that span the enterprise information systems.</a:t>
            </a:r>
            <a:endParaRPr lang="en-IN"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Master data </a:t>
            </a:r>
            <a:r>
              <a:rPr lang="en-US" dirty="0" err="1" smtClean="0"/>
              <a:t>vs</a:t>
            </a:r>
            <a:r>
              <a:rPr lang="en-US" dirty="0" smtClean="0"/>
              <a:t> Transaction data</a:t>
            </a:r>
            <a:endParaRPr lang="en-IN" dirty="0"/>
          </a:p>
        </p:txBody>
      </p:sp>
      <p:sp>
        <p:nvSpPr>
          <p:cNvPr id="3" name="Content Placeholder 2"/>
          <p:cNvSpPr>
            <a:spLocks noGrp="1"/>
          </p:cNvSpPr>
          <p:nvPr>
            <p:ph idx="1"/>
          </p:nvPr>
        </p:nvSpPr>
        <p:spPr/>
        <p:txBody>
          <a:bodyPr/>
          <a:lstStyle/>
          <a:p>
            <a:r>
              <a:rPr lang="en-IN" i="1" dirty="0" smtClean="0"/>
              <a:t>Transaction data, which are generated </a:t>
            </a:r>
            <a:r>
              <a:rPr lang="en-IN" dirty="0" smtClean="0"/>
              <a:t>and captured by operational systems, describe the business’s activities, or transactions. </a:t>
            </a:r>
          </a:p>
          <a:p>
            <a:r>
              <a:rPr lang="en-IN" dirty="0" smtClean="0"/>
              <a:t>In contrast, master data are applied to multiple transactions and are used to categorize, aggregate, and evaluate the transaction data.</a:t>
            </a:r>
            <a:endParaRPr lang="en-IN"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6553200"/>
          </a:xfrm>
        </p:spPr>
        <p:txBody>
          <a:bodyPr>
            <a:normAutofit fontScale="92500"/>
          </a:bodyPr>
          <a:lstStyle/>
          <a:p>
            <a:r>
              <a:rPr lang="en-IN" dirty="0" smtClean="0"/>
              <a:t>Let’s look at an example of a transaction: You (Mary Jones) purchase one Samsung 42-inch plasma television, part number 1234, from Bill Roberts at Best Buy, for $2,000, on April 20, 2013. In this example, the master data are “product sold,” “vendor,” “salesperson,”  “store,” “part number,” “purchase price,” and “date.” </a:t>
            </a:r>
          </a:p>
          <a:p>
            <a:r>
              <a:rPr lang="en-IN" dirty="0" smtClean="0"/>
              <a:t>When specific values are applied to the master data, then a transaction is represented. Therefore, transaction data would be, respectively, “42-inch plasma television,” “Samsung,” “Best Buy,” “Bill Roberts,” “1234,” “$2,000,” and “April 20, 2013.”</a:t>
            </a:r>
            <a:endParaRPr lang="en-IN"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506</TotalTime>
  <Words>1721</Words>
  <Application>Microsoft Office PowerPoint</Application>
  <PresentationFormat>On-screen Show (4:3)</PresentationFormat>
  <Paragraphs>92</Paragraphs>
  <Slides>36</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36</vt:i4>
      </vt:variant>
    </vt:vector>
  </HeadingPairs>
  <TitlesOfParts>
    <vt:vector size="39" baseType="lpstr">
      <vt:lpstr>Arial</vt:lpstr>
      <vt:lpstr>Calibri</vt:lpstr>
      <vt:lpstr>Office Theme</vt:lpstr>
      <vt:lpstr>Data and Knowledge Management</vt:lpstr>
      <vt:lpstr>PowerPoint Presentation</vt:lpstr>
      <vt:lpstr>PowerPoint Presentation</vt:lpstr>
      <vt:lpstr>PowerPoint Presentation</vt:lpstr>
      <vt:lpstr>Human Resources</vt:lpstr>
      <vt:lpstr>PowerPoint Presentation</vt:lpstr>
      <vt:lpstr>hiring.</vt:lpstr>
      <vt:lpstr>PowerPoint Presentation</vt:lpstr>
      <vt:lpstr>Product Development</vt:lpstr>
      <vt:lpstr>PowerPoint Presentation</vt:lpstr>
      <vt:lpstr>Marketing</vt:lpstr>
      <vt:lpstr>PowerPoint Presentation</vt:lpstr>
      <vt:lpstr>PowerPoint Presentation</vt:lpstr>
      <vt:lpstr>PowerPoint Presentation</vt:lpstr>
      <vt:lpstr>PowerPoint Presentation</vt:lpstr>
      <vt:lpstr>What We Learned from This Case</vt:lpstr>
      <vt:lpstr>Managing data is critically important in large organizations. However, it is equally important to small organizations </vt:lpstr>
      <vt:lpstr>Managing Data</vt:lpstr>
      <vt:lpstr>The Difficulties of Managing Data</vt:lpstr>
      <vt:lpstr>PowerPoint Presentation</vt:lpstr>
      <vt:lpstr>How New York City is benefi ting from the system it utilizes to manage its data management problems</vt:lpstr>
      <vt:lpstr>PowerPoint Presentation</vt:lpstr>
      <vt:lpstr>Clickstream data</vt:lpstr>
      <vt:lpstr>PowerPoint Presentation</vt:lpstr>
      <vt:lpstr>PowerPoint Presentation</vt:lpstr>
      <vt:lpstr>PowerPoint Presentation</vt:lpstr>
      <vt:lpstr>PowerPoint Presentation</vt:lpstr>
      <vt:lpstr>PowerPoint Presentation</vt:lpstr>
      <vt:lpstr>PowerPoint Presentation</vt:lpstr>
      <vt:lpstr>Data Governance</vt:lpstr>
      <vt:lpstr>PowerPoint Presentation</vt:lpstr>
      <vt:lpstr>PowerPoint Presentation</vt:lpstr>
      <vt:lpstr>Master  Data</vt:lpstr>
      <vt:lpstr>Master data vs Transaction data</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and Knowledge Management</dc:title>
  <dc:creator>Administrator</dc:creator>
  <cp:lastModifiedBy>Dell</cp:lastModifiedBy>
  <cp:revision>27</cp:revision>
  <dcterms:created xsi:type="dcterms:W3CDTF">2006-08-16T00:00:00Z</dcterms:created>
  <dcterms:modified xsi:type="dcterms:W3CDTF">2019-08-10T07:23:03Z</dcterms:modified>
</cp:coreProperties>
</file>