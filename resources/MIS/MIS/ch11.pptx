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400" r:id="rId2"/>
    <p:sldId id="412" r:id="rId3"/>
    <p:sldId id="413" r:id="rId4"/>
    <p:sldId id="522" r:id="rId5"/>
    <p:sldId id="414" r:id="rId6"/>
    <p:sldId id="458" r:id="rId7"/>
    <p:sldId id="971" r:id="rId8"/>
    <p:sldId id="459" r:id="rId9"/>
    <p:sldId id="973" r:id="rId10"/>
    <p:sldId id="941" r:id="rId11"/>
    <p:sldId id="946" r:id="rId12"/>
    <p:sldId id="947" r:id="rId13"/>
    <p:sldId id="949" r:id="rId14"/>
    <p:sldId id="943" r:id="rId15"/>
    <p:sldId id="944" r:id="rId16"/>
    <p:sldId id="950" r:id="rId17"/>
    <p:sldId id="945" r:id="rId18"/>
    <p:sldId id="972" r:id="rId19"/>
    <p:sldId id="460" r:id="rId20"/>
    <p:sldId id="974" r:id="rId21"/>
    <p:sldId id="951" r:id="rId22"/>
    <p:sldId id="952" r:id="rId23"/>
    <p:sldId id="953" r:id="rId24"/>
    <p:sldId id="954" r:id="rId25"/>
    <p:sldId id="955" r:id="rId26"/>
    <p:sldId id="435" r:id="rId27"/>
    <p:sldId id="461" r:id="rId28"/>
    <p:sldId id="956" r:id="rId29"/>
    <p:sldId id="975" r:id="rId30"/>
    <p:sldId id="976" r:id="rId31"/>
    <p:sldId id="977" r:id="rId32"/>
    <p:sldId id="978" r:id="rId33"/>
    <p:sldId id="957"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FF"/>
    <a:srgbClr val="9900FF"/>
    <a:srgbClr val="6600FF"/>
    <a:srgbClr val="6600CC"/>
    <a:srgbClr val="FF9900"/>
    <a:srgbClr val="000099"/>
    <a:srgbClr val="0000CC"/>
    <a:srgbClr val="00CCFF"/>
    <a:srgbClr val="CC3399"/>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6" autoAdjust="0"/>
    <p:restoredTop sz="81345" autoAdjust="0"/>
  </p:normalViewPr>
  <p:slideViewPr>
    <p:cSldViewPr>
      <p:cViewPr varScale="1">
        <p:scale>
          <a:sx n="63" d="100"/>
          <a:sy n="63" d="100"/>
        </p:scale>
        <p:origin x="-1206" y="-102"/>
      </p:cViewPr>
      <p:guideLst>
        <p:guide orient="horz" pos="2160"/>
        <p:guide pos="2880"/>
      </p:guideLst>
    </p:cSldViewPr>
  </p:slideViewPr>
  <p:outlineViewPr>
    <p:cViewPr>
      <p:scale>
        <a:sx n="33" d="100"/>
        <a:sy n="33" d="100"/>
      </p:scale>
      <p:origin x="0" y="141348"/>
    </p:cViewPr>
  </p:outlineViewPr>
  <p:notesTextViewPr>
    <p:cViewPr>
      <p:scale>
        <a:sx n="1" d="1"/>
        <a:sy n="1" d="1"/>
      </p:scale>
      <p:origin x="0" y="0"/>
    </p:cViewPr>
  </p:notesTextViewPr>
  <p:sorterViewPr>
    <p:cViewPr>
      <p:scale>
        <a:sx n="100" d="100"/>
        <a:sy n="100" d="100"/>
      </p:scale>
      <p:origin x="0" y="7200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EB6D6B-9C86-499A-A636-38829A5F60B2}" type="datetimeFigureOut">
              <a:rPr lang="en-US" smtClean="0"/>
              <a:t>10/27/2014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F41C25-7A1F-47FB-B705-003A328B9163}" type="slidenum">
              <a:rPr lang="en-US" smtClean="0"/>
              <a:t>‹#›</a:t>
            </a:fld>
            <a:endParaRPr lang="en-US"/>
          </a:p>
        </p:txBody>
      </p:sp>
    </p:spTree>
    <p:extLst>
      <p:ext uri="{BB962C8B-B14F-4D97-AF65-F5344CB8AC3E}">
        <p14:creationId xmlns:p14="http://schemas.microsoft.com/office/powerpoint/2010/main" val="425230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Transaction: </a:t>
            </a:r>
            <a:r>
              <a:rPr lang="en-US" dirty="0" smtClean="0"/>
              <a:t>any business event that generates data worthy of being captured and stored in a database (e.g., product manufactured, a service sold, a person hired, and a payroll check generated)</a:t>
            </a:r>
          </a:p>
          <a:p>
            <a:r>
              <a:rPr lang="en-US" b="1" dirty="0" smtClean="0"/>
              <a:t>Transaction Processing System (TPS): </a:t>
            </a:r>
            <a:r>
              <a:rPr lang="en-US" dirty="0" smtClean="0"/>
              <a:t>supports the monitoring, collection, storage, and processing of data from the organization’s basic business transactions, each of which generates and collects data continuously, in real time.</a:t>
            </a:r>
          </a:p>
          <a:p>
            <a:r>
              <a:rPr lang="en-US" b="1" dirty="0" smtClean="0"/>
              <a:t>Source Data Automation: </a:t>
            </a:r>
            <a:r>
              <a:rPr lang="en-US" dirty="0" smtClean="0"/>
              <a:t>a process in which organizations try to automate the TPS data entry as much as possible because of the large volume involved.</a:t>
            </a:r>
          </a:p>
          <a:p>
            <a:r>
              <a:rPr lang="en-US" b="1" dirty="0" smtClean="0"/>
              <a:t>Batch Processing: </a:t>
            </a:r>
            <a:r>
              <a:rPr lang="en-US" dirty="0" smtClean="0"/>
              <a:t>the firm collects data from transactions as they occur, placing them in groups or batches then prepares and processes the batches periodically.</a:t>
            </a:r>
          </a:p>
          <a:p>
            <a:r>
              <a:rPr lang="en-US" b="1" dirty="0" smtClean="0"/>
              <a:t>Online Transaction Processing (OLTP): </a:t>
            </a:r>
            <a:r>
              <a:rPr lang="en-US" dirty="0" smtClean="0"/>
              <a:t>business transactions are processed online as soon as they occur and system performs these tasks in real time by means of online technologies.</a:t>
            </a:r>
          </a:p>
        </p:txBody>
      </p:sp>
      <p:sp>
        <p:nvSpPr>
          <p:cNvPr id="4" name="Slide Number Placeholder 3"/>
          <p:cNvSpPr>
            <a:spLocks noGrp="1"/>
          </p:cNvSpPr>
          <p:nvPr>
            <p:ph type="sldNum" sz="quarter" idx="10"/>
          </p:nvPr>
        </p:nvSpPr>
        <p:spPr/>
        <p:txBody>
          <a:bodyPr/>
          <a:lstStyle/>
          <a:p>
            <a:fld id="{2CF41C25-7A1F-47FB-B705-003A328B9163}" type="slidenum">
              <a:rPr lang="en-US" smtClean="0"/>
              <a:t>6</a:t>
            </a:fld>
            <a:endParaRPr lang="en-US"/>
          </a:p>
        </p:txBody>
      </p:sp>
    </p:spTree>
    <p:extLst>
      <p:ext uri="{BB962C8B-B14F-4D97-AF65-F5344CB8AC3E}">
        <p14:creationId xmlns:p14="http://schemas.microsoft.com/office/powerpoint/2010/main" val="2487362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Information Systems for Marketing: </a:t>
            </a:r>
            <a:r>
              <a:rPr lang="en-US" dirty="0" smtClean="0"/>
              <a:t>Any successful organization must understand its customers’ needs and wants and then develop its marketing and advertising strategies around them.</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8</a:t>
            </a:fld>
            <a:endParaRPr lang="en-US"/>
          </a:p>
        </p:txBody>
      </p:sp>
    </p:spTree>
    <p:extLst>
      <p:ext uri="{BB962C8B-B14F-4D97-AF65-F5344CB8AC3E}">
        <p14:creationId xmlns:p14="http://schemas.microsoft.com/office/powerpoint/2010/main" val="20487462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Financial Planning and Budgeting: </a:t>
            </a:r>
            <a:r>
              <a:rPr lang="en-US" dirty="0" smtClean="0"/>
              <a:t>Appropriate management of financial assets and is an important part of managerial planning for both acquiring and utilizing resources.</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Managing Financial Transactions: </a:t>
            </a:r>
            <a:r>
              <a:rPr lang="en-US" dirty="0" smtClean="0"/>
              <a:t>accounting/finance software packages that are integrated with other functional areas (e.g., Peachtree  offers a sales ledger, a purchase ledger, a cash book, sales order processing, invoicing, stock control, a fixed assets register, etc.). Organizations, business processes, and business activities operate with, and manage, financial transactions.</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Investment Management: </a:t>
            </a:r>
            <a:r>
              <a:rPr lang="en-US" dirty="0" smtClean="0"/>
              <a:t>Systems for managing organization investments in in stocks, bonds, real estate, and other assets that are subject to complex regulations and tax laws, which vary from one location to another.</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Control and Auditing: </a:t>
            </a:r>
            <a:r>
              <a:rPr lang="en-US" dirty="0" smtClean="0"/>
              <a:t>effectively control their finances and financial statements. Let us examine some of the most common forms of financial control.</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10</a:t>
            </a:fld>
            <a:endParaRPr lang="en-US"/>
          </a:p>
        </p:txBody>
      </p:sp>
    </p:spTree>
    <p:extLst>
      <p:ext uri="{BB962C8B-B14F-4D97-AF65-F5344CB8AC3E}">
        <p14:creationId xmlns:p14="http://schemas.microsoft.com/office/powerpoint/2010/main" val="33407974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Financial Planning and Budgeting: </a:t>
            </a:r>
            <a:r>
              <a:rPr lang="en-US" dirty="0" smtClean="0"/>
              <a:t>Appropriate management of financial assets and is an important part of managerial planning for both acquiring and utilizing resources.</a:t>
            </a:r>
          </a:p>
          <a:p>
            <a:r>
              <a:rPr lang="en-US" b="1" dirty="0" smtClean="0"/>
              <a:t>Financial and Economic Forecasting: </a:t>
            </a:r>
            <a:r>
              <a:rPr lang="en-US" dirty="0" smtClean="0"/>
              <a:t>Knowledge about the availability and cost of money a key ingredient for successful financial planning including flow projections which inform organizations what funds they need, when they need them, and how they will acquire them.</a:t>
            </a:r>
          </a:p>
          <a:p>
            <a:r>
              <a:rPr lang="en-US" b="1" dirty="0" smtClean="0"/>
              <a:t>Budgeting: </a:t>
            </a:r>
            <a:r>
              <a:rPr lang="en-US" dirty="0" smtClean="0"/>
              <a:t>allocates the organization’s financial resources among participants and activities allowing management to distribute resources in the way that best supports the organization’s mission and goals.</a:t>
            </a:r>
          </a:p>
        </p:txBody>
      </p:sp>
      <p:sp>
        <p:nvSpPr>
          <p:cNvPr id="4" name="Slide Number Placeholder 3"/>
          <p:cNvSpPr>
            <a:spLocks noGrp="1"/>
          </p:cNvSpPr>
          <p:nvPr>
            <p:ph type="sldNum" sz="quarter" idx="10"/>
          </p:nvPr>
        </p:nvSpPr>
        <p:spPr/>
        <p:txBody>
          <a:bodyPr/>
          <a:lstStyle/>
          <a:p>
            <a:fld id="{2CF41C25-7A1F-47FB-B705-003A328B9163}" type="slidenum">
              <a:rPr lang="en-US" smtClean="0"/>
              <a:t>11</a:t>
            </a:fld>
            <a:endParaRPr lang="en-US"/>
          </a:p>
        </p:txBody>
      </p:sp>
    </p:spTree>
    <p:extLst>
      <p:ext uri="{BB962C8B-B14F-4D97-AF65-F5344CB8AC3E}">
        <p14:creationId xmlns:p14="http://schemas.microsoft.com/office/powerpoint/2010/main" val="26451787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Managing Financial Transactions: </a:t>
            </a:r>
            <a:r>
              <a:rPr lang="en-US" dirty="0" smtClean="0"/>
              <a:t>accounting/finance software packages that are integrated with other functional areas (e.g., Peachtree  offers a sales ledger, a purchase ledger, a cash book, sales order processing, invoicing, stock control, a fixed assets register, etc.). Organizations, business processes, and business activities operate with, and manage, financial transactions.</a:t>
            </a:r>
          </a:p>
          <a:p>
            <a:r>
              <a:rPr lang="en-US" b="1" dirty="0" smtClean="0"/>
              <a:t>Global stock exchanges: </a:t>
            </a:r>
            <a:r>
              <a:rPr lang="en-US" dirty="0" smtClean="0"/>
              <a:t>Financial markets operate in global, 24/7/365, distributed electronic stock exchanges that use the Internet both to buy and sell stocks and to broadcast real-time stock prices</a:t>
            </a:r>
          </a:p>
          <a:p>
            <a:r>
              <a:rPr lang="en-US" b="1" dirty="0" smtClean="0"/>
              <a:t>Managing multiple currencies: </a:t>
            </a:r>
            <a:r>
              <a:rPr lang="en-US" dirty="0" smtClean="0"/>
              <a:t>Financial and accounting systems utilize financial data from different countries to convert currencies (with conversion ratios that constantly flux) in seconds.</a:t>
            </a:r>
          </a:p>
          <a:p>
            <a:r>
              <a:rPr lang="en-US" b="1" dirty="0" smtClean="0"/>
              <a:t>Virtual close: </a:t>
            </a:r>
            <a:r>
              <a:rPr lang="en-US" dirty="0" smtClean="0"/>
              <a:t>the ability the books quickly at any time, on very short notice (rather than quarterly) which provides almost real-time information on the organization’s financial health.</a:t>
            </a:r>
          </a:p>
          <a:p>
            <a:r>
              <a:rPr lang="en-US" b="1" dirty="0" smtClean="0"/>
              <a:t>Expense management automation (EMA): </a:t>
            </a:r>
            <a:r>
              <a:rPr lang="en-US" dirty="0" smtClean="0"/>
              <a:t>systems that automate the data entry and processing of travel and entertainment expenses through Web-based applications that enable companies to quickly and consistently collect expense information, enforce company policies and contracts, and reduce unplanned purchases as well as airline and hotel expenses.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12</a:t>
            </a:fld>
            <a:endParaRPr lang="en-US"/>
          </a:p>
        </p:txBody>
      </p:sp>
    </p:spTree>
    <p:extLst>
      <p:ext uri="{BB962C8B-B14F-4D97-AF65-F5344CB8AC3E}">
        <p14:creationId xmlns:p14="http://schemas.microsoft.com/office/powerpoint/2010/main" val="2393990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Control and Auditing: </a:t>
            </a:r>
            <a:r>
              <a:rPr lang="en-US" dirty="0" smtClean="0"/>
              <a:t>effectively control their finances and financial statements. Let us examine some of the most common forms of financial control.</a:t>
            </a:r>
          </a:p>
          <a:p>
            <a:r>
              <a:rPr lang="en-US" b="1" dirty="0" smtClean="0"/>
              <a:t>Budgetary control: </a:t>
            </a:r>
            <a:r>
              <a:rPr lang="en-US" dirty="0" smtClean="0"/>
              <a:t>managers at various levels monitor departmental expenditures and compare them against the budget and the operational progress of corporate plans.</a:t>
            </a:r>
          </a:p>
          <a:p>
            <a:r>
              <a:rPr lang="en-US" b="1" dirty="0" smtClean="0"/>
              <a:t>Auditing: </a:t>
            </a:r>
            <a:r>
              <a:rPr lang="en-US" dirty="0" smtClean="0"/>
              <a:t>monitoring how the organization’s monies are being spent and assessing the organization’s financial health.</a:t>
            </a:r>
          </a:p>
          <a:p>
            <a:r>
              <a:rPr lang="en-US" b="1" dirty="0" smtClean="0"/>
              <a:t>Financial ratio analysis: </a:t>
            </a:r>
            <a:r>
              <a:rPr lang="en-US" dirty="0" smtClean="0"/>
              <a:t>monitoring the company’s financial health by assessing a set of fi </a:t>
            </a:r>
            <a:r>
              <a:rPr lang="en-US" dirty="0" err="1" smtClean="0"/>
              <a:t>nancial</a:t>
            </a:r>
            <a:r>
              <a:rPr lang="en-US" dirty="0" smtClean="0"/>
              <a:t> ratios including liquidity ratios (the availability of cash to pay debt), activity ratios (how quickly a firm converts noncash assets to cash assets), debt ratios (measure </a:t>
            </a:r>
            <a:r>
              <a:rPr lang="en-US" dirty="0" err="1" smtClean="0"/>
              <a:t>thefi</a:t>
            </a:r>
            <a:r>
              <a:rPr lang="en-US" dirty="0" smtClean="0"/>
              <a:t> </a:t>
            </a:r>
            <a:r>
              <a:rPr lang="en-US" dirty="0" err="1" smtClean="0"/>
              <a:t>rm’s</a:t>
            </a:r>
            <a:r>
              <a:rPr lang="en-US" dirty="0" smtClean="0"/>
              <a:t> ability to repay long-term debt), and profitability ratios (measure the fi </a:t>
            </a:r>
            <a:r>
              <a:rPr lang="en-US" dirty="0" err="1" smtClean="0"/>
              <a:t>rm’s</a:t>
            </a:r>
            <a:r>
              <a:rPr lang="en-US" dirty="0" smtClean="0"/>
              <a:t> use of its assets and control of its expenses to generate an acceptable rate of return).</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13</a:t>
            </a:fld>
            <a:endParaRPr lang="en-US"/>
          </a:p>
        </p:txBody>
      </p:sp>
    </p:spTree>
    <p:extLst>
      <p:ext uri="{BB962C8B-B14F-4D97-AF65-F5344CB8AC3E}">
        <p14:creationId xmlns:p14="http://schemas.microsoft.com/office/powerpoint/2010/main" val="3704023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14</a:t>
            </a:fld>
            <a:endParaRPr lang="en-US"/>
          </a:p>
        </p:txBody>
      </p:sp>
    </p:spTree>
    <p:extLst>
      <p:ext uri="{BB962C8B-B14F-4D97-AF65-F5344CB8AC3E}">
        <p14:creationId xmlns:p14="http://schemas.microsoft.com/office/powerpoint/2010/main" val="15903878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Recruitment: </a:t>
            </a:r>
            <a:r>
              <a:rPr lang="en-US" dirty="0" smtClean="0"/>
              <a:t>systems that assist human resource personnel in finding potential employees, evaluating them, and deciding which ones to hire.</a:t>
            </a:r>
          </a:p>
          <a:p>
            <a:r>
              <a:rPr lang="en-US" b="1" dirty="0" smtClean="0"/>
              <a:t>Human Resources Development: </a:t>
            </a:r>
            <a:r>
              <a:rPr lang="en-US" dirty="0" smtClean="0"/>
              <a:t>IS that assist human resource personnel in helping new hires become part of the corporate human resources pool through evaluation and development.</a:t>
            </a:r>
          </a:p>
          <a:p>
            <a:r>
              <a:rPr lang="en-US" b="1" dirty="0" smtClean="0"/>
              <a:t>Human Resources Planning and Management: </a:t>
            </a:r>
            <a:r>
              <a:rPr lang="en-US" dirty="0" smtClean="0"/>
              <a:t>Managing human resources in large organizations requires extensive planning and detailed strategy.</a:t>
            </a:r>
          </a:p>
        </p:txBody>
      </p:sp>
      <p:sp>
        <p:nvSpPr>
          <p:cNvPr id="4" name="Slide Number Placeholder 3"/>
          <p:cNvSpPr>
            <a:spLocks noGrp="1"/>
          </p:cNvSpPr>
          <p:nvPr>
            <p:ph type="sldNum" sz="quarter" idx="10"/>
          </p:nvPr>
        </p:nvSpPr>
        <p:spPr/>
        <p:txBody>
          <a:bodyPr/>
          <a:lstStyle/>
          <a:p>
            <a:fld id="{2CF41C25-7A1F-47FB-B705-003A328B9163}" type="slidenum">
              <a:rPr lang="en-US" smtClean="0"/>
              <a:t>15</a:t>
            </a:fld>
            <a:endParaRPr lang="en-US"/>
          </a:p>
        </p:txBody>
      </p:sp>
    </p:spTree>
    <p:extLst>
      <p:ext uri="{BB962C8B-B14F-4D97-AF65-F5344CB8AC3E}">
        <p14:creationId xmlns:p14="http://schemas.microsoft.com/office/powerpoint/2010/main" val="11802729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Human Resources Planning and Management: </a:t>
            </a:r>
            <a:r>
              <a:rPr lang="en-US" dirty="0" smtClean="0"/>
              <a:t>Managing human resources in large organizations requires extensive planning and detailed strategy.</a:t>
            </a:r>
          </a:p>
          <a:p>
            <a:endParaRPr lang="en-US" dirty="0" smtClean="0"/>
          </a:p>
          <a:p>
            <a:r>
              <a:rPr lang="en-US" b="1" dirty="0" smtClean="0"/>
              <a:t>Three Areas of IT support in HR Planning and Management:</a:t>
            </a:r>
          </a:p>
          <a:p>
            <a:pPr marL="228600" indent="-228600">
              <a:buFont typeface="+mj-lt"/>
              <a:buAutoNum type="arabicPeriod"/>
            </a:pPr>
            <a:r>
              <a:rPr lang="en-US" dirty="0" smtClean="0"/>
              <a:t>Payroll and employees’ records</a:t>
            </a:r>
          </a:p>
          <a:p>
            <a:pPr marL="228600" indent="-228600">
              <a:buFont typeface="+mj-lt"/>
              <a:buAutoNum type="arabicPeriod"/>
            </a:pPr>
            <a:r>
              <a:rPr lang="en-US" dirty="0" smtClean="0"/>
              <a:t>Benefits administration</a:t>
            </a:r>
          </a:p>
          <a:p>
            <a:pPr marL="228600" indent="-228600">
              <a:buFont typeface="+mj-lt"/>
              <a:buAutoNum type="arabicPeriod"/>
            </a:pPr>
            <a:r>
              <a:rPr lang="en-US" dirty="0" smtClean="0"/>
              <a:t>Employee relationship management</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16</a:t>
            </a:fld>
            <a:endParaRPr lang="en-US"/>
          </a:p>
        </p:txBody>
      </p:sp>
    </p:spTree>
    <p:extLst>
      <p:ext uri="{BB962C8B-B14F-4D97-AF65-F5344CB8AC3E}">
        <p14:creationId xmlns:p14="http://schemas.microsoft.com/office/powerpoint/2010/main" val="38449002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Routine Reports: </a:t>
            </a:r>
            <a:r>
              <a:rPr lang="en-US" dirty="0" smtClean="0"/>
              <a:t>reports produced at scheduled intervals.</a:t>
            </a:r>
          </a:p>
          <a:p>
            <a:r>
              <a:rPr lang="en-US" b="1" dirty="0" smtClean="0"/>
              <a:t>Ad-hoc Reports: </a:t>
            </a:r>
            <a:r>
              <a:rPr lang="en-US" dirty="0" smtClean="0"/>
              <a:t>out-of-the routine reports.</a:t>
            </a:r>
          </a:p>
          <a:p>
            <a:pPr marL="171450" indent="-171450">
              <a:buFont typeface="Arial" panose="020B0604020202020204" pitchFamily="34" charset="0"/>
              <a:buChar char="•"/>
            </a:pPr>
            <a:r>
              <a:rPr lang="en-US" b="1" dirty="0" smtClean="0"/>
              <a:t>Drill-Down Reports: </a:t>
            </a:r>
            <a:r>
              <a:rPr lang="en-US" dirty="0" smtClean="0"/>
              <a:t>display a greater level of detail.</a:t>
            </a:r>
          </a:p>
          <a:p>
            <a:pPr marL="171450" indent="-171450">
              <a:buFont typeface="Arial" panose="020B0604020202020204" pitchFamily="34" charset="0"/>
              <a:buChar char="•"/>
            </a:pPr>
            <a:r>
              <a:rPr lang="en-US" b="1" dirty="0" smtClean="0"/>
              <a:t>Key Indicator Reports: </a:t>
            </a:r>
            <a:r>
              <a:rPr lang="en-US" dirty="0" smtClean="0"/>
              <a:t>summarize the performance of critical activities.</a:t>
            </a:r>
          </a:p>
          <a:p>
            <a:pPr marL="171450" indent="-171450">
              <a:buFont typeface="Arial" panose="020B0604020202020204" pitchFamily="34" charset="0"/>
              <a:buChar char="•"/>
            </a:pPr>
            <a:r>
              <a:rPr lang="en-US" b="1" dirty="0" smtClean="0"/>
              <a:t>Comparative Reports: </a:t>
            </a:r>
            <a:r>
              <a:rPr lang="en-US" dirty="0" smtClean="0"/>
              <a:t>compare and contrast the performances of different business units or of a single unit during different time periods.</a:t>
            </a:r>
          </a:p>
          <a:p>
            <a:pPr marL="171450" indent="-171450">
              <a:buFont typeface="Arial" panose="020B0604020202020204" pitchFamily="34" charset="0"/>
              <a:buChar char="•"/>
            </a:pPr>
            <a:r>
              <a:rPr lang="en-US" b="1" dirty="0" smtClean="0"/>
              <a:t>Exception Reports: </a:t>
            </a:r>
            <a:r>
              <a:rPr lang="en-US" dirty="0" smtClean="0"/>
              <a:t>include only information that falls outside certain threshold standards.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17</a:t>
            </a:fld>
            <a:endParaRPr lang="en-US"/>
          </a:p>
        </p:txBody>
      </p:sp>
    </p:spTree>
    <p:extLst>
      <p:ext uri="{BB962C8B-B14F-4D97-AF65-F5344CB8AC3E}">
        <p14:creationId xmlns:p14="http://schemas.microsoft.com/office/powerpoint/2010/main" val="7262670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Enterprise Resource Planning (ERP) Systems: </a:t>
            </a:r>
            <a:r>
              <a:rPr lang="en-US" dirty="0" smtClean="0"/>
              <a:t>systems designed to correct a lack of communication among the functional area IS and they adopt a business process view of the overall organization to integrate the planning, management, and use of all of an organization’s resources, employing a common software platform and database.</a:t>
            </a:r>
          </a:p>
          <a:p>
            <a:r>
              <a:rPr lang="en-US" b="1" dirty="0" smtClean="0"/>
              <a:t>ERP II Systems: </a:t>
            </a:r>
            <a:r>
              <a:rPr lang="en-US" dirty="0" err="1" smtClean="0"/>
              <a:t>interorganizational</a:t>
            </a:r>
            <a:r>
              <a:rPr lang="en-US" dirty="0" smtClean="0"/>
              <a:t> ERP systems that provide Web-enabled links among a company’s key business systems—such as inventory and production—and its customers, suppliers, distributors, and other relevant parties.</a:t>
            </a:r>
          </a:p>
          <a:p>
            <a:r>
              <a:rPr lang="en-US" b="1" dirty="0" smtClean="0"/>
              <a:t>Enterprise Application Integration (EAI) System: </a:t>
            </a:r>
            <a:r>
              <a:rPr lang="en-US" dirty="0" smtClean="0"/>
              <a:t>integrates existing systems by providing software, called middleware, that connects multiple applications allowing existing applications to communicate and share data.</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19</a:t>
            </a:fld>
            <a:endParaRPr lang="en-US"/>
          </a:p>
        </p:txBody>
      </p:sp>
    </p:spTree>
    <p:extLst>
      <p:ext uri="{BB962C8B-B14F-4D97-AF65-F5344CB8AC3E}">
        <p14:creationId xmlns:p14="http://schemas.microsoft.com/office/powerpoint/2010/main" val="9174647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Organizational Flexibility and Agility: </a:t>
            </a:r>
            <a:r>
              <a:rPr lang="en-US" dirty="0" smtClean="0"/>
              <a:t>ERP systems break down many former departmental and functional silos of business processes, information systems, and information resources making organizations more flexible, agile, and adaptive.</a:t>
            </a:r>
          </a:p>
          <a:p>
            <a:r>
              <a:rPr lang="en-US" b="1" dirty="0" smtClean="0"/>
              <a:t>Decision Support: </a:t>
            </a:r>
            <a:r>
              <a:rPr lang="en-US" dirty="0" smtClean="0"/>
              <a:t>provide essential information on business performance across functional areas which significantly improves managers’ ability to make better, more timely decisions.</a:t>
            </a:r>
          </a:p>
          <a:p>
            <a:r>
              <a:rPr lang="en-US" b="1" dirty="0" smtClean="0"/>
              <a:t>Quality and Efficiency: </a:t>
            </a:r>
            <a:r>
              <a:rPr lang="en-US" dirty="0" smtClean="0"/>
              <a:t>ERP systems integrate and improve an organization’s business processes, generating </a:t>
            </a:r>
            <a:r>
              <a:rPr lang="en-US" dirty="0" err="1" smtClean="0"/>
              <a:t>signifi</a:t>
            </a:r>
            <a:r>
              <a:rPr lang="en-US" dirty="0" smtClean="0"/>
              <a:t> cant improvements in the quality of production, distribution, and customer service.</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21</a:t>
            </a:fld>
            <a:endParaRPr lang="en-US"/>
          </a:p>
        </p:txBody>
      </p:sp>
    </p:spTree>
    <p:extLst>
      <p:ext uri="{BB962C8B-B14F-4D97-AF65-F5344CB8AC3E}">
        <p14:creationId xmlns:p14="http://schemas.microsoft.com/office/powerpoint/2010/main" val="1349759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Business Processes Predefined by Best Practices: </a:t>
            </a:r>
            <a:r>
              <a:rPr lang="en-US" dirty="0" smtClean="0"/>
              <a:t>may require companies need to change their existing business processes to fit the predefined business processes incorporated into the ERP software.</a:t>
            </a:r>
          </a:p>
          <a:p>
            <a:r>
              <a:rPr lang="en-US" b="1" dirty="0" smtClean="0"/>
              <a:t>Difficult to Implement: </a:t>
            </a:r>
            <a:r>
              <a:rPr lang="en-US" dirty="0" smtClean="0"/>
              <a:t>ERP systems can be extremely complex, expensive, and time consuming to implement.</a:t>
            </a:r>
          </a:p>
          <a:p>
            <a:r>
              <a:rPr lang="en-US" b="1" dirty="0" smtClean="0"/>
              <a:t>Potential for Failure</a:t>
            </a:r>
          </a:p>
        </p:txBody>
      </p:sp>
      <p:sp>
        <p:nvSpPr>
          <p:cNvPr id="4" name="Slide Number Placeholder 3"/>
          <p:cNvSpPr>
            <a:spLocks noGrp="1"/>
          </p:cNvSpPr>
          <p:nvPr>
            <p:ph type="sldNum" sz="quarter" idx="10"/>
          </p:nvPr>
        </p:nvSpPr>
        <p:spPr/>
        <p:txBody>
          <a:bodyPr/>
          <a:lstStyle/>
          <a:p>
            <a:fld id="{2CF41C25-7A1F-47FB-B705-003A328B9163}" type="slidenum">
              <a:rPr lang="en-US" smtClean="0"/>
              <a:t>22</a:t>
            </a:fld>
            <a:endParaRPr lang="en-US"/>
          </a:p>
        </p:txBody>
      </p:sp>
    </p:spTree>
    <p:extLst>
      <p:ext uri="{BB962C8B-B14F-4D97-AF65-F5344CB8AC3E}">
        <p14:creationId xmlns:p14="http://schemas.microsoft.com/office/powerpoint/2010/main" val="23502779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Major Causes of ERP Implementation Failure:</a:t>
            </a:r>
          </a:p>
          <a:p>
            <a:pPr marL="171450" indent="-171450">
              <a:buFont typeface="Arial" panose="020B0604020202020204" pitchFamily="34" charset="0"/>
              <a:buChar char="•"/>
            </a:pPr>
            <a:r>
              <a:rPr lang="en-US" dirty="0" smtClean="0"/>
              <a:t>Failure to involve affected employees in the planning and development phases and in change management processes</a:t>
            </a:r>
          </a:p>
          <a:p>
            <a:pPr marL="171450" indent="-171450">
              <a:buFont typeface="Arial" panose="020B0604020202020204" pitchFamily="34" charset="0"/>
              <a:buChar char="•"/>
            </a:pPr>
            <a:r>
              <a:rPr lang="en-US" dirty="0" smtClean="0"/>
              <a:t>Trying to accomplish too much too fast in the conversion process</a:t>
            </a:r>
          </a:p>
          <a:p>
            <a:pPr marL="171450" indent="-171450">
              <a:buFont typeface="Arial" panose="020B0604020202020204" pitchFamily="34" charset="0"/>
              <a:buChar char="•"/>
            </a:pPr>
            <a:r>
              <a:rPr lang="en-US" dirty="0" smtClean="0"/>
              <a:t>Insufficient training in the new work tasks required by the ERP system</a:t>
            </a:r>
          </a:p>
          <a:p>
            <a:pPr marL="171450" indent="-171450">
              <a:buFont typeface="Arial" panose="020B0604020202020204" pitchFamily="34" charset="0"/>
              <a:buChar char="•"/>
            </a:pPr>
            <a:r>
              <a:rPr lang="en-US" dirty="0" smtClean="0"/>
              <a:t>Failure to perform proper data conversion and testing for the new system</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23</a:t>
            </a:fld>
            <a:endParaRPr lang="en-US"/>
          </a:p>
        </p:txBody>
      </p:sp>
    </p:spTree>
    <p:extLst>
      <p:ext uri="{BB962C8B-B14F-4D97-AF65-F5344CB8AC3E}">
        <p14:creationId xmlns:p14="http://schemas.microsoft.com/office/powerpoint/2010/main" val="34378079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ERP Software-as-a-Service (SaaS): </a:t>
            </a:r>
            <a:r>
              <a:rPr lang="en-US" dirty="0" smtClean="0"/>
              <a:t>a cloud based solution in which the company rents the software from an ERP vendor who offers its products over the Internet, manages software updates, and is responsible for the system’s security and availability.</a:t>
            </a:r>
          </a:p>
        </p:txBody>
      </p:sp>
      <p:sp>
        <p:nvSpPr>
          <p:cNvPr id="4" name="Slide Number Placeholder 3"/>
          <p:cNvSpPr>
            <a:spLocks noGrp="1"/>
          </p:cNvSpPr>
          <p:nvPr>
            <p:ph type="sldNum" sz="quarter" idx="10"/>
          </p:nvPr>
        </p:nvSpPr>
        <p:spPr/>
        <p:txBody>
          <a:bodyPr/>
          <a:lstStyle/>
          <a:p>
            <a:fld id="{2CF41C25-7A1F-47FB-B705-003A328B9163}" type="slidenum">
              <a:rPr lang="en-US" smtClean="0"/>
              <a:t>24</a:t>
            </a:fld>
            <a:endParaRPr lang="en-US"/>
          </a:p>
        </p:txBody>
      </p:sp>
    </p:spTree>
    <p:extLst>
      <p:ext uri="{BB962C8B-B14F-4D97-AF65-F5344CB8AC3E}">
        <p14:creationId xmlns:p14="http://schemas.microsoft.com/office/powerpoint/2010/main" val="36991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Vanilla Approach: </a:t>
            </a:r>
            <a:r>
              <a:rPr lang="en-US" dirty="0" smtClean="0"/>
              <a:t>a company implements a standard ERP package, using the package’s built-in configuration options.</a:t>
            </a:r>
          </a:p>
          <a:p>
            <a:r>
              <a:rPr lang="en-US" b="1" dirty="0" smtClean="0"/>
              <a:t>Custom Approach:</a:t>
            </a:r>
            <a:r>
              <a:rPr lang="en-US" dirty="0" smtClean="0"/>
              <a:t> a company implements a more customized ERP system by developing new ERP functions designed specifically for that firm.</a:t>
            </a:r>
          </a:p>
          <a:p>
            <a:r>
              <a:rPr lang="en-US" b="1" dirty="0" smtClean="0"/>
              <a:t>Best of Breed Approach: </a:t>
            </a:r>
            <a:r>
              <a:rPr lang="en-US" dirty="0" smtClean="0"/>
              <a:t>combines the benefits of the vanilla and customized systems while avoiding the extensive costs and risks associated with complete customization.</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25</a:t>
            </a:fld>
            <a:endParaRPr lang="en-US"/>
          </a:p>
        </p:txBody>
      </p:sp>
    </p:spTree>
    <p:extLst>
      <p:ext uri="{BB962C8B-B14F-4D97-AF65-F5344CB8AC3E}">
        <p14:creationId xmlns:p14="http://schemas.microsoft.com/office/powerpoint/2010/main" val="5622477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Procurement Process: </a:t>
            </a:r>
            <a:r>
              <a:rPr lang="en-US" dirty="0" smtClean="0"/>
              <a:t>originates when a company needs to acquire goods or services from external sources, and it concludes when the company receives and pays for them.</a:t>
            </a:r>
          </a:p>
          <a:p>
            <a:r>
              <a:rPr lang="en-US" b="1" dirty="0" smtClean="0"/>
              <a:t>Order Fulfillment Process: </a:t>
            </a:r>
            <a:r>
              <a:rPr lang="en-US" dirty="0" smtClean="0"/>
              <a:t>(order-to-cash process) process in which the company sells goods to a customer originating when the company receives a customer order, and concluding when the company receives a payment from the customer.</a:t>
            </a:r>
          </a:p>
          <a:p>
            <a:r>
              <a:rPr lang="en-US" b="1" dirty="0" smtClean="0"/>
              <a:t>Production Process: </a:t>
            </a:r>
            <a:r>
              <a:rPr lang="en-US" dirty="0" smtClean="0"/>
              <a:t>occurring only in companies that produce physical goods, this process follows one of two strategies: make-to-stock and make-to-order.</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28</a:t>
            </a:fld>
            <a:endParaRPr lang="en-US"/>
          </a:p>
        </p:txBody>
      </p:sp>
    </p:spTree>
    <p:extLst>
      <p:ext uri="{BB962C8B-B14F-4D97-AF65-F5344CB8AC3E}">
        <p14:creationId xmlns:p14="http://schemas.microsoft.com/office/powerpoint/2010/main" val="36544059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SCM and CRM Processes: </a:t>
            </a:r>
            <a:r>
              <a:rPr lang="en-US" dirty="0" smtClean="0"/>
              <a:t>help multiple firms in an industry coordinate activities such as the production-to-sale of goods and services.</a:t>
            </a:r>
          </a:p>
          <a:p>
            <a:r>
              <a:rPr lang="en-US" b="1" dirty="0" smtClean="0"/>
              <a:t>ERP SCM Systems: </a:t>
            </a:r>
            <a:r>
              <a:rPr lang="en-US" dirty="0" smtClean="0"/>
              <a:t>have the capability to place automatic requests to </a:t>
            </a:r>
            <a:r>
              <a:rPr lang="en-US" dirty="0" err="1" smtClean="0"/>
              <a:t>replinish</a:t>
            </a:r>
            <a:r>
              <a:rPr lang="en-US" dirty="0" smtClean="0"/>
              <a:t> raw materials/goods based on established criteria (e.g., below minimum quantity, expiration dates on perishable goods, etc.).</a:t>
            </a:r>
          </a:p>
          <a:p>
            <a:r>
              <a:rPr lang="en-US" b="1" dirty="0" smtClean="0"/>
              <a:t>ERP CRM Systems: </a:t>
            </a:r>
            <a:r>
              <a:rPr lang="en-US" dirty="0" smtClean="0"/>
              <a:t>generate forecasting analyses of product consumption based on critical variables such as geographical area, season, day of the week, and type of customer; and, identify particular customer needs and then utilize this information to suggest specific product campaigns.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33</a:t>
            </a:fld>
            <a:endParaRPr lang="en-US"/>
          </a:p>
        </p:txBody>
      </p:sp>
    </p:spTree>
    <p:extLst>
      <p:ext uri="{BB962C8B-B14F-4D97-AF65-F5344CB8AC3E}">
        <p14:creationId xmlns:p14="http://schemas.microsoft.com/office/powerpoint/2010/main" val="17286221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l="813" t="1641" r="1785"/>
          <a:stretch/>
        </p:blipFill>
        <p:spPr>
          <a:xfrm>
            <a:off x="-1" y="0"/>
            <a:ext cx="9144001" cy="4571999"/>
          </a:xfrm>
          <a:prstGeom prst="rect">
            <a:avLst/>
          </a:prstGeom>
        </p:spPr>
      </p:pic>
      <p:sp>
        <p:nvSpPr>
          <p:cNvPr id="8" name="Rectangle 7"/>
          <p:cNvSpPr/>
          <p:nvPr userDrawn="1"/>
        </p:nvSpPr>
        <p:spPr>
          <a:xfrm>
            <a:off x="-4762" y="1478378"/>
            <a:ext cx="9154254" cy="5387145"/>
          </a:xfrm>
          <a:custGeom>
            <a:avLst/>
            <a:gdLst>
              <a:gd name="connsiteX0" fmla="*/ 0 w 9159175"/>
              <a:gd name="connsiteY0" fmla="*/ 0 h 6841524"/>
              <a:gd name="connsiteX1" fmla="*/ 9159175 w 9159175"/>
              <a:gd name="connsiteY1" fmla="*/ 0 h 6841524"/>
              <a:gd name="connsiteX2" fmla="*/ 9159175 w 9159175"/>
              <a:gd name="connsiteY2" fmla="*/ 6841524 h 6841524"/>
              <a:gd name="connsiteX3" fmla="*/ 0 w 9159175"/>
              <a:gd name="connsiteY3" fmla="*/ 6841524 h 6841524"/>
              <a:gd name="connsiteX4" fmla="*/ 0 w 9159175"/>
              <a:gd name="connsiteY4" fmla="*/ 0 h 6841524"/>
              <a:gd name="connsiteX0" fmla="*/ 0 w 9207301"/>
              <a:gd name="connsiteY0" fmla="*/ 3140242 h 6841524"/>
              <a:gd name="connsiteX1" fmla="*/ 9207301 w 9207301"/>
              <a:gd name="connsiteY1" fmla="*/ 0 h 6841524"/>
              <a:gd name="connsiteX2" fmla="*/ 9207301 w 9207301"/>
              <a:gd name="connsiteY2" fmla="*/ 6841524 h 6841524"/>
              <a:gd name="connsiteX3" fmla="*/ 48126 w 9207301"/>
              <a:gd name="connsiteY3" fmla="*/ 6841524 h 6841524"/>
              <a:gd name="connsiteX4" fmla="*/ 0 w 9207301"/>
              <a:gd name="connsiteY4" fmla="*/ 3140242 h 6841524"/>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140297 h 3841579"/>
              <a:gd name="connsiteX1" fmla="*/ 3985595 w 9219332"/>
              <a:gd name="connsiteY1" fmla="*/ 790002 h 3841579"/>
              <a:gd name="connsiteX2" fmla="*/ 9219332 w 9219332"/>
              <a:gd name="connsiteY2" fmla="*/ 922350 h 3841579"/>
              <a:gd name="connsiteX3" fmla="*/ 9207301 w 9219332"/>
              <a:gd name="connsiteY3" fmla="*/ 3841579 h 3841579"/>
              <a:gd name="connsiteX4" fmla="*/ 48126 w 9219332"/>
              <a:gd name="connsiteY4" fmla="*/ 3841579 h 3841579"/>
              <a:gd name="connsiteX5" fmla="*/ 0 w 9219332"/>
              <a:gd name="connsiteY5" fmla="*/ 140297 h 3841579"/>
              <a:gd name="connsiteX0" fmla="*/ 0 w 9219332"/>
              <a:gd name="connsiteY0" fmla="*/ 1454745 h 5156027"/>
              <a:gd name="connsiteX1" fmla="*/ 2662121 w 9219332"/>
              <a:gd name="connsiteY1" fmla="*/ 10956 h 5156027"/>
              <a:gd name="connsiteX2" fmla="*/ 9219332 w 9219332"/>
              <a:gd name="connsiteY2" fmla="*/ 2236798 h 5156027"/>
              <a:gd name="connsiteX3" fmla="*/ 9207301 w 9219332"/>
              <a:gd name="connsiteY3" fmla="*/ 5156027 h 5156027"/>
              <a:gd name="connsiteX4" fmla="*/ 48126 w 9219332"/>
              <a:gd name="connsiteY4" fmla="*/ 5156027 h 5156027"/>
              <a:gd name="connsiteX5" fmla="*/ 0 w 9219332"/>
              <a:gd name="connsiteY5" fmla="*/ 1454745 h 5156027"/>
              <a:gd name="connsiteX0" fmla="*/ 0 w 9219332"/>
              <a:gd name="connsiteY0" fmla="*/ 1443789 h 5145071"/>
              <a:gd name="connsiteX1" fmla="*/ 2662121 w 9219332"/>
              <a:gd name="connsiteY1" fmla="*/ 0 h 5145071"/>
              <a:gd name="connsiteX2" fmla="*/ 9219332 w 9219332"/>
              <a:gd name="connsiteY2" fmla="*/ 2225842 h 5145071"/>
              <a:gd name="connsiteX3" fmla="*/ 9207301 w 9219332"/>
              <a:gd name="connsiteY3" fmla="*/ 5145071 h 5145071"/>
              <a:gd name="connsiteX4" fmla="*/ 48126 w 9219332"/>
              <a:gd name="connsiteY4" fmla="*/ 5145071 h 5145071"/>
              <a:gd name="connsiteX5" fmla="*/ 0 w 9219332"/>
              <a:gd name="connsiteY5" fmla="*/ 1443789 h 5145071"/>
              <a:gd name="connsiteX0" fmla="*/ 0 w 9219332"/>
              <a:gd name="connsiteY0" fmla="*/ 1449612 h 5150894"/>
              <a:gd name="connsiteX1" fmla="*/ 2662121 w 9219332"/>
              <a:gd name="connsiteY1" fmla="*/ 5823 h 5150894"/>
              <a:gd name="connsiteX2" fmla="*/ 9219332 w 9219332"/>
              <a:gd name="connsiteY2" fmla="*/ 2231665 h 5150894"/>
              <a:gd name="connsiteX3" fmla="*/ 9207301 w 9219332"/>
              <a:gd name="connsiteY3" fmla="*/ 5150894 h 5150894"/>
              <a:gd name="connsiteX4" fmla="*/ 48126 w 9219332"/>
              <a:gd name="connsiteY4" fmla="*/ 5150894 h 5150894"/>
              <a:gd name="connsiteX5" fmla="*/ 0 w 9219332"/>
              <a:gd name="connsiteY5" fmla="*/ 1449612 h 5150894"/>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72999 h 5174281"/>
              <a:gd name="connsiteX1" fmla="*/ 2613995 w 9219332"/>
              <a:gd name="connsiteY1" fmla="*/ 5147 h 5174281"/>
              <a:gd name="connsiteX2" fmla="*/ 6223468 w 9219332"/>
              <a:gd name="connsiteY2" fmla="*/ 2026453 h 5174281"/>
              <a:gd name="connsiteX3" fmla="*/ 9219332 w 9219332"/>
              <a:gd name="connsiteY3" fmla="*/ 2255052 h 5174281"/>
              <a:gd name="connsiteX4" fmla="*/ 9207301 w 9219332"/>
              <a:gd name="connsiteY4" fmla="*/ 5174281 h 5174281"/>
              <a:gd name="connsiteX5" fmla="*/ 48126 w 9219332"/>
              <a:gd name="connsiteY5" fmla="*/ 5174281 h 5174281"/>
              <a:gd name="connsiteX6" fmla="*/ 0 w 9219332"/>
              <a:gd name="connsiteY6" fmla="*/ 1472999 h 5174281"/>
              <a:gd name="connsiteX0" fmla="*/ 0 w 9219332"/>
              <a:gd name="connsiteY0" fmla="*/ 1479523 h 5180805"/>
              <a:gd name="connsiteX1" fmla="*/ 2613995 w 9219332"/>
              <a:gd name="connsiteY1" fmla="*/ 11671 h 5180805"/>
              <a:gd name="connsiteX2" fmla="*/ 6223468 w 9219332"/>
              <a:gd name="connsiteY2" fmla="*/ 2032977 h 5180805"/>
              <a:gd name="connsiteX3" fmla="*/ 9219332 w 9219332"/>
              <a:gd name="connsiteY3" fmla="*/ 2261576 h 5180805"/>
              <a:gd name="connsiteX4" fmla="*/ 9207301 w 9219332"/>
              <a:gd name="connsiteY4" fmla="*/ 5180805 h 5180805"/>
              <a:gd name="connsiteX5" fmla="*/ 48126 w 9219332"/>
              <a:gd name="connsiteY5" fmla="*/ 5180805 h 5180805"/>
              <a:gd name="connsiteX6" fmla="*/ 0 w 9219332"/>
              <a:gd name="connsiteY6" fmla="*/ 1479523 h 5180805"/>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5965 h 5177247"/>
              <a:gd name="connsiteX1" fmla="*/ 2613995 w 9219332"/>
              <a:gd name="connsiteY1" fmla="*/ 8113 h 5177247"/>
              <a:gd name="connsiteX2" fmla="*/ 6223468 w 9219332"/>
              <a:gd name="connsiteY2" fmla="*/ 2029419 h 5177247"/>
              <a:gd name="connsiteX3" fmla="*/ 9219332 w 9219332"/>
              <a:gd name="connsiteY3" fmla="*/ 2258018 h 5177247"/>
              <a:gd name="connsiteX4" fmla="*/ 9207301 w 9219332"/>
              <a:gd name="connsiteY4" fmla="*/ 5177247 h 5177247"/>
              <a:gd name="connsiteX5" fmla="*/ 48126 w 9219332"/>
              <a:gd name="connsiteY5" fmla="*/ 5177247 h 5177247"/>
              <a:gd name="connsiteX6" fmla="*/ 0 w 9219332"/>
              <a:gd name="connsiteY6" fmla="*/ 1475965 h 5177247"/>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68793 h 5170075"/>
              <a:gd name="connsiteX1" fmla="*/ 2613995 w 9219332"/>
              <a:gd name="connsiteY1" fmla="*/ 941 h 5170075"/>
              <a:gd name="connsiteX2" fmla="*/ 6223468 w 9219332"/>
              <a:gd name="connsiteY2" fmla="*/ 2022247 h 5170075"/>
              <a:gd name="connsiteX3" fmla="*/ 9219332 w 9219332"/>
              <a:gd name="connsiteY3" fmla="*/ 2178656 h 5170075"/>
              <a:gd name="connsiteX4" fmla="*/ 9207301 w 9219332"/>
              <a:gd name="connsiteY4" fmla="*/ 5170075 h 5170075"/>
              <a:gd name="connsiteX5" fmla="*/ 48126 w 9219332"/>
              <a:gd name="connsiteY5" fmla="*/ 5170075 h 5170075"/>
              <a:gd name="connsiteX6" fmla="*/ 0 w 9219332"/>
              <a:gd name="connsiteY6" fmla="*/ 1468793 h 5170075"/>
              <a:gd name="connsiteX0" fmla="*/ 0 w 9219332"/>
              <a:gd name="connsiteY0" fmla="*/ 1482160 h 5183442"/>
              <a:gd name="connsiteX1" fmla="*/ 2613995 w 9219332"/>
              <a:gd name="connsiteY1" fmla="*/ 14308 h 5183442"/>
              <a:gd name="connsiteX2" fmla="*/ 6223468 w 9219332"/>
              <a:gd name="connsiteY2" fmla="*/ 2035614 h 5183442"/>
              <a:gd name="connsiteX3" fmla="*/ 9219332 w 9219332"/>
              <a:gd name="connsiteY3" fmla="*/ 2192023 h 5183442"/>
              <a:gd name="connsiteX4" fmla="*/ 9207301 w 9219332"/>
              <a:gd name="connsiteY4" fmla="*/ 5183442 h 5183442"/>
              <a:gd name="connsiteX5" fmla="*/ 48126 w 9219332"/>
              <a:gd name="connsiteY5" fmla="*/ 5183442 h 5183442"/>
              <a:gd name="connsiteX6" fmla="*/ 0 w 9219332"/>
              <a:gd name="connsiteY6" fmla="*/ 1482160 h 5183442"/>
              <a:gd name="connsiteX0" fmla="*/ 0 w 9219332"/>
              <a:gd name="connsiteY0" fmla="*/ 1493749 h 5195031"/>
              <a:gd name="connsiteX1" fmla="*/ 2613995 w 9219332"/>
              <a:gd name="connsiteY1" fmla="*/ 25897 h 5195031"/>
              <a:gd name="connsiteX2" fmla="*/ 6223468 w 9219332"/>
              <a:gd name="connsiteY2" fmla="*/ 2047203 h 5195031"/>
              <a:gd name="connsiteX3" fmla="*/ 9219332 w 9219332"/>
              <a:gd name="connsiteY3" fmla="*/ 2203612 h 5195031"/>
              <a:gd name="connsiteX4" fmla="*/ 9207301 w 9219332"/>
              <a:gd name="connsiteY4" fmla="*/ 5195031 h 5195031"/>
              <a:gd name="connsiteX5" fmla="*/ 48126 w 9219332"/>
              <a:gd name="connsiteY5" fmla="*/ 5195031 h 5195031"/>
              <a:gd name="connsiteX6" fmla="*/ 0 w 9219332"/>
              <a:gd name="connsiteY6" fmla="*/ 1493749 h 5195031"/>
              <a:gd name="connsiteX0" fmla="*/ 0 w 9219332"/>
              <a:gd name="connsiteY0" fmla="*/ 1539121 h 5240403"/>
              <a:gd name="connsiteX1" fmla="*/ 2493679 w 9219332"/>
              <a:gd name="connsiteY1" fmla="*/ 23143 h 5240403"/>
              <a:gd name="connsiteX2" fmla="*/ 6223468 w 9219332"/>
              <a:gd name="connsiteY2" fmla="*/ 2092575 h 5240403"/>
              <a:gd name="connsiteX3" fmla="*/ 9219332 w 9219332"/>
              <a:gd name="connsiteY3" fmla="*/ 2248984 h 5240403"/>
              <a:gd name="connsiteX4" fmla="*/ 9207301 w 9219332"/>
              <a:gd name="connsiteY4" fmla="*/ 5240403 h 5240403"/>
              <a:gd name="connsiteX5" fmla="*/ 48126 w 9219332"/>
              <a:gd name="connsiteY5" fmla="*/ 5240403 h 5240403"/>
              <a:gd name="connsiteX6" fmla="*/ 0 w 9219332"/>
              <a:gd name="connsiteY6" fmla="*/ 1539121 h 5240403"/>
              <a:gd name="connsiteX0" fmla="*/ 0 w 9219332"/>
              <a:gd name="connsiteY0" fmla="*/ 1556620 h 5257902"/>
              <a:gd name="connsiteX1" fmla="*/ 2493679 w 9219332"/>
              <a:gd name="connsiteY1" fmla="*/ 40642 h 5257902"/>
              <a:gd name="connsiteX2" fmla="*/ 6223468 w 9219332"/>
              <a:gd name="connsiteY2" fmla="*/ 2110074 h 5257902"/>
              <a:gd name="connsiteX3" fmla="*/ 9219332 w 9219332"/>
              <a:gd name="connsiteY3" fmla="*/ 2266483 h 5257902"/>
              <a:gd name="connsiteX4" fmla="*/ 9207301 w 9219332"/>
              <a:gd name="connsiteY4" fmla="*/ 5257902 h 5257902"/>
              <a:gd name="connsiteX5" fmla="*/ 48126 w 9219332"/>
              <a:gd name="connsiteY5" fmla="*/ 5257902 h 5257902"/>
              <a:gd name="connsiteX6" fmla="*/ 0 w 9219332"/>
              <a:gd name="connsiteY6" fmla="*/ 1556620 h 5257902"/>
              <a:gd name="connsiteX0" fmla="*/ 0 w 9219332"/>
              <a:gd name="connsiteY0" fmla="*/ 1562740 h 5264022"/>
              <a:gd name="connsiteX1" fmla="*/ 2493679 w 9219332"/>
              <a:gd name="connsiteY1" fmla="*/ 46762 h 5264022"/>
              <a:gd name="connsiteX2" fmla="*/ 6223468 w 9219332"/>
              <a:gd name="connsiteY2" fmla="*/ 2116194 h 5264022"/>
              <a:gd name="connsiteX3" fmla="*/ 9219332 w 9219332"/>
              <a:gd name="connsiteY3" fmla="*/ 2272603 h 5264022"/>
              <a:gd name="connsiteX4" fmla="*/ 9207301 w 9219332"/>
              <a:gd name="connsiteY4" fmla="*/ 5264022 h 5264022"/>
              <a:gd name="connsiteX5" fmla="*/ 48126 w 9219332"/>
              <a:gd name="connsiteY5" fmla="*/ 5264022 h 5264022"/>
              <a:gd name="connsiteX6" fmla="*/ 0 w 9219332"/>
              <a:gd name="connsiteY6" fmla="*/ 1562740 h 5264022"/>
              <a:gd name="connsiteX0" fmla="*/ 0 w 9219332"/>
              <a:gd name="connsiteY0" fmla="*/ 1556621 h 5257903"/>
              <a:gd name="connsiteX1" fmla="*/ 2469615 w 9219332"/>
              <a:gd name="connsiteY1" fmla="*/ 40643 h 5257903"/>
              <a:gd name="connsiteX2" fmla="*/ 6223468 w 9219332"/>
              <a:gd name="connsiteY2" fmla="*/ 2110075 h 5257903"/>
              <a:gd name="connsiteX3" fmla="*/ 9219332 w 9219332"/>
              <a:gd name="connsiteY3" fmla="*/ 2266484 h 5257903"/>
              <a:gd name="connsiteX4" fmla="*/ 9207301 w 9219332"/>
              <a:gd name="connsiteY4" fmla="*/ 5257903 h 5257903"/>
              <a:gd name="connsiteX5" fmla="*/ 48126 w 9219332"/>
              <a:gd name="connsiteY5" fmla="*/ 5257903 h 5257903"/>
              <a:gd name="connsiteX6" fmla="*/ 0 w 9219332"/>
              <a:gd name="connsiteY6" fmla="*/ 1556621 h 5257903"/>
              <a:gd name="connsiteX0" fmla="*/ 0 w 9219332"/>
              <a:gd name="connsiteY0" fmla="*/ 1545248 h 5246530"/>
              <a:gd name="connsiteX1" fmla="*/ 2469615 w 9219332"/>
              <a:gd name="connsiteY1" fmla="*/ 29270 h 5246530"/>
              <a:gd name="connsiteX2" fmla="*/ 6223468 w 9219332"/>
              <a:gd name="connsiteY2" fmla="*/ 2098702 h 5246530"/>
              <a:gd name="connsiteX3" fmla="*/ 9219332 w 9219332"/>
              <a:gd name="connsiteY3" fmla="*/ 2255111 h 5246530"/>
              <a:gd name="connsiteX4" fmla="*/ 9207301 w 9219332"/>
              <a:gd name="connsiteY4" fmla="*/ 5246530 h 5246530"/>
              <a:gd name="connsiteX5" fmla="*/ 48126 w 9219332"/>
              <a:gd name="connsiteY5" fmla="*/ 5246530 h 5246530"/>
              <a:gd name="connsiteX6" fmla="*/ 0 w 9219332"/>
              <a:gd name="connsiteY6" fmla="*/ 1545248 h 5246530"/>
              <a:gd name="connsiteX0" fmla="*/ 0 w 9219332"/>
              <a:gd name="connsiteY0" fmla="*/ 1547962 h 5249244"/>
              <a:gd name="connsiteX1" fmla="*/ 2469615 w 9219332"/>
              <a:gd name="connsiteY1" fmla="*/ 31984 h 5249244"/>
              <a:gd name="connsiteX2" fmla="*/ 6223468 w 9219332"/>
              <a:gd name="connsiteY2" fmla="*/ 2101416 h 5249244"/>
              <a:gd name="connsiteX3" fmla="*/ 9219332 w 9219332"/>
              <a:gd name="connsiteY3" fmla="*/ 2257825 h 5249244"/>
              <a:gd name="connsiteX4" fmla="*/ 9207301 w 9219332"/>
              <a:gd name="connsiteY4" fmla="*/ 5249244 h 5249244"/>
              <a:gd name="connsiteX5" fmla="*/ 48126 w 9219332"/>
              <a:gd name="connsiteY5" fmla="*/ 5249244 h 5249244"/>
              <a:gd name="connsiteX6" fmla="*/ 0 w 9219332"/>
              <a:gd name="connsiteY6" fmla="*/ 1547962 h 5249244"/>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52938 h 5254220"/>
              <a:gd name="connsiteX1" fmla="*/ 2469615 w 9219332"/>
              <a:gd name="connsiteY1" fmla="*/ 36960 h 5254220"/>
              <a:gd name="connsiteX2" fmla="*/ 6223468 w 9219332"/>
              <a:gd name="connsiteY2" fmla="*/ 2046234 h 5254220"/>
              <a:gd name="connsiteX3" fmla="*/ 9219332 w 9219332"/>
              <a:gd name="connsiteY3" fmla="*/ 2262801 h 5254220"/>
              <a:gd name="connsiteX4" fmla="*/ 9207301 w 9219332"/>
              <a:gd name="connsiteY4" fmla="*/ 5254220 h 5254220"/>
              <a:gd name="connsiteX5" fmla="*/ 48126 w 9219332"/>
              <a:gd name="connsiteY5" fmla="*/ 5254220 h 5254220"/>
              <a:gd name="connsiteX6" fmla="*/ 0 w 9219332"/>
              <a:gd name="connsiteY6" fmla="*/ 1552938 h 5254220"/>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53368 h 5254650"/>
              <a:gd name="connsiteX1" fmla="*/ 2469615 w 9243396"/>
              <a:gd name="connsiteY1" fmla="*/ 37390 h 5254650"/>
              <a:gd name="connsiteX2" fmla="*/ 6223468 w 9243396"/>
              <a:gd name="connsiteY2" fmla="*/ 2046664 h 5254650"/>
              <a:gd name="connsiteX3" fmla="*/ 9243396 w 9243396"/>
              <a:gd name="connsiteY3" fmla="*/ 2191042 h 5254650"/>
              <a:gd name="connsiteX4" fmla="*/ 9207301 w 9243396"/>
              <a:gd name="connsiteY4" fmla="*/ 5254650 h 5254650"/>
              <a:gd name="connsiteX5" fmla="*/ 48126 w 9243396"/>
              <a:gd name="connsiteY5" fmla="*/ 5254650 h 5254650"/>
              <a:gd name="connsiteX6" fmla="*/ 0 w 9243396"/>
              <a:gd name="connsiteY6" fmla="*/ 1553368 h 5254650"/>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14369 h 5215651"/>
              <a:gd name="connsiteX1" fmla="*/ 2373363 w 9243396"/>
              <a:gd name="connsiteY1" fmla="*/ 34486 h 5215651"/>
              <a:gd name="connsiteX2" fmla="*/ 6223468 w 9243396"/>
              <a:gd name="connsiteY2" fmla="*/ 2007665 h 5215651"/>
              <a:gd name="connsiteX3" fmla="*/ 9243396 w 9243396"/>
              <a:gd name="connsiteY3" fmla="*/ 2152043 h 5215651"/>
              <a:gd name="connsiteX4" fmla="*/ 9207301 w 9243396"/>
              <a:gd name="connsiteY4" fmla="*/ 5215651 h 5215651"/>
              <a:gd name="connsiteX5" fmla="*/ 48126 w 9243396"/>
              <a:gd name="connsiteY5" fmla="*/ 5215651 h 5215651"/>
              <a:gd name="connsiteX6" fmla="*/ 0 w 9243396"/>
              <a:gd name="connsiteY6" fmla="*/ 1514369 h 5215651"/>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0225 h 5181507"/>
              <a:gd name="connsiteX1" fmla="*/ 2373363 w 9243396"/>
              <a:gd name="connsiteY1" fmla="*/ 342 h 5181507"/>
              <a:gd name="connsiteX2" fmla="*/ 5537669 w 9243396"/>
              <a:gd name="connsiteY2" fmla="*/ 1371942 h 5181507"/>
              <a:gd name="connsiteX3" fmla="*/ 9243396 w 9243396"/>
              <a:gd name="connsiteY3" fmla="*/ 2117899 h 5181507"/>
              <a:gd name="connsiteX4" fmla="*/ 9207301 w 9243396"/>
              <a:gd name="connsiteY4" fmla="*/ 5181507 h 5181507"/>
              <a:gd name="connsiteX5" fmla="*/ 48126 w 9243396"/>
              <a:gd name="connsiteY5" fmla="*/ 5181507 h 5181507"/>
              <a:gd name="connsiteX6" fmla="*/ 0 w 9243396"/>
              <a:gd name="connsiteY6" fmla="*/ 1480225 h 5181507"/>
              <a:gd name="connsiteX0" fmla="*/ 0 w 9243396"/>
              <a:gd name="connsiteY0" fmla="*/ 1480319 h 5181601"/>
              <a:gd name="connsiteX1" fmla="*/ 2373363 w 9243396"/>
              <a:gd name="connsiteY1" fmla="*/ 436 h 5181601"/>
              <a:gd name="connsiteX2" fmla="*/ 5537669 w 9243396"/>
              <a:gd name="connsiteY2" fmla="*/ 1372036 h 5181601"/>
              <a:gd name="connsiteX3" fmla="*/ 9243396 w 9243396"/>
              <a:gd name="connsiteY3" fmla="*/ 2117993 h 5181601"/>
              <a:gd name="connsiteX4" fmla="*/ 9207301 w 9243396"/>
              <a:gd name="connsiteY4" fmla="*/ 5181601 h 5181601"/>
              <a:gd name="connsiteX5" fmla="*/ 48126 w 9243396"/>
              <a:gd name="connsiteY5" fmla="*/ 5181601 h 5181601"/>
              <a:gd name="connsiteX6" fmla="*/ 0 w 9243396"/>
              <a:gd name="connsiteY6" fmla="*/ 1480319 h 5181601"/>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237 h 5181519"/>
              <a:gd name="connsiteX1" fmla="*/ 2373363 w 9231365"/>
              <a:gd name="connsiteY1" fmla="*/ 354 h 5181519"/>
              <a:gd name="connsiteX2" fmla="*/ 5537669 w 9231365"/>
              <a:gd name="connsiteY2" fmla="*/ 1371954 h 5181519"/>
              <a:gd name="connsiteX3" fmla="*/ 9231365 w 9231365"/>
              <a:gd name="connsiteY3" fmla="*/ 1985563 h 5181519"/>
              <a:gd name="connsiteX4" fmla="*/ 9207301 w 9231365"/>
              <a:gd name="connsiteY4" fmla="*/ 5181519 h 5181519"/>
              <a:gd name="connsiteX5" fmla="*/ 48126 w 9231365"/>
              <a:gd name="connsiteY5" fmla="*/ 5181519 h 5181519"/>
              <a:gd name="connsiteX6" fmla="*/ 0 w 9231365"/>
              <a:gd name="connsiteY6" fmla="*/ 1480237 h 5181519"/>
              <a:gd name="connsiteX0" fmla="*/ 0 w 9231365"/>
              <a:gd name="connsiteY0" fmla="*/ 1480660 h 5181942"/>
              <a:gd name="connsiteX1" fmla="*/ 2373363 w 9231365"/>
              <a:gd name="connsiteY1" fmla="*/ 777 h 5181942"/>
              <a:gd name="connsiteX2" fmla="*/ 5537669 w 9231365"/>
              <a:gd name="connsiteY2" fmla="*/ 1324251 h 5181942"/>
              <a:gd name="connsiteX3" fmla="*/ 9231365 w 9231365"/>
              <a:gd name="connsiteY3" fmla="*/ 1985986 h 5181942"/>
              <a:gd name="connsiteX4" fmla="*/ 9207301 w 9231365"/>
              <a:gd name="connsiteY4" fmla="*/ 5181942 h 5181942"/>
              <a:gd name="connsiteX5" fmla="*/ 48126 w 9231365"/>
              <a:gd name="connsiteY5" fmla="*/ 5181942 h 5181942"/>
              <a:gd name="connsiteX6" fmla="*/ 0 w 9231365"/>
              <a:gd name="connsiteY6" fmla="*/ 1480660 h 5181942"/>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4814 h 5186096"/>
              <a:gd name="connsiteX1" fmla="*/ 2373363 w 9231365"/>
              <a:gd name="connsiteY1" fmla="*/ 4931 h 5186096"/>
              <a:gd name="connsiteX2" fmla="*/ 5537669 w 9231365"/>
              <a:gd name="connsiteY2" fmla="*/ 1328405 h 5186096"/>
              <a:gd name="connsiteX3" fmla="*/ 9231365 w 9231365"/>
              <a:gd name="connsiteY3" fmla="*/ 1990140 h 5186096"/>
              <a:gd name="connsiteX4" fmla="*/ 9207301 w 9231365"/>
              <a:gd name="connsiteY4" fmla="*/ 5186096 h 5186096"/>
              <a:gd name="connsiteX5" fmla="*/ 48126 w 9231365"/>
              <a:gd name="connsiteY5" fmla="*/ 5186096 h 5186096"/>
              <a:gd name="connsiteX6" fmla="*/ 0 w 9231365"/>
              <a:gd name="connsiteY6" fmla="*/ 1484814 h 5186096"/>
              <a:gd name="connsiteX0" fmla="*/ 0 w 9231365"/>
              <a:gd name="connsiteY0" fmla="*/ 1519567 h 5220849"/>
              <a:gd name="connsiteX1" fmla="*/ 2662121 w 9231365"/>
              <a:gd name="connsiteY1" fmla="*/ 3589 h 5220849"/>
              <a:gd name="connsiteX2" fmla="*/ 5537669 w 9231365"/>
              <a:gd name="connsiteY2" fmla="*/ 1363158 h 5220849"/>
              <a:gd name="connsiteX3" fmla="*/ 9231365 w 9231365"/>
              <a:gd name="connsiteY3" fmla="*/ 2024893 h 5220849"/>
              <a:gd name="connsiteX4" fmla="*/ 9207301 w 9231365"/>
              <a:gd name="connsiteY4" fmla="*/ 5220849 h 5220849"/>
              <a:gd name="connsiteX5" fmla="*/ 48126 w 9231365"/>
              <a:gd name="connsiteY5" fmla="*/ 5220849 h 5220849"/>
              <a:gd name="connsiteX6" fmla="*/ 0 w 9231365"/>
              <a:gd name="connsiteY6" fmla="*/ 1519567 h 5220849"/>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94 h 5217292"/>
              <a:gd name="connsiteX1" fmla="*/ 2662121 w 9231365"/>
              <a:gd name="connsiteY1" fmla="*/ 32 h 5217292"/>
              <a:gd name="connsiteX2" fmla="*/ 5537669 w 9231365"/>
              <a:gd name="connsiteY2" fmla="*/ 1359601 h 5217292"/>
              <a:gd name="connsiteX3" fmla="*/ 9231365 w 9231365"/>
              <a:gd name="connsiteY3" fmla="*/ 2021336 h 5217292"/>
              <a:gd name="connsiteX4" fmla="*/ 9207301 w 9231365"/>
              <a:gd name="connsiteY4" fmla="*/ 5217292 h 5217292"/>
              <a:gd name="connsiteX5" fmla="*/ 48126 w 9231365"/>
              <a:gd name="connsiteY5" fmla="*/ 5217292 h 5217292"/>
              <a:gd name="connsiteX6" fmla="*/ 0 w 9231365"/>
              <a:gd name="connsiteY6" fmla="*/ 1395694 h 5217292"/>
              <a:gd name="connsiteX0" fmla="*/ 0 w 9231365"/>
              <a:gd name="connsiteY0" fmla="*/ 1395697 h 5217295"/>
              <a:gd name="connsiteX1" fmla="*/ 2662121 w 9231365"/>
              <a:gd name="connsiteY1" fmla="*/ 35 h 5217295"/>
              <a:gd name="connsiteX2" fmla="*/ 5537669 w 9231365"/>
              <a:gd name="connsiteY2" fmla="*/ 1359604 h 5217295"/>
              <a:gd name="connsiteX3" fmla="*/ 9231365 w 9231365"/>
              <a:gd name="connsiteY3" fmla="*/ 2021339 h 5217295"/>
              <a:gd name="connsiteX4" fmla="*/ 9207301 w 9231365"/>
              <a:gd name="connsiteY4" fmla="*/ 5217295 h 5217295"/>
              <a:gd name="connsiteX5" fmla="*/ 48126 w 9231365"/>
              <a:gd name="connsiteY5" fmla="*/ 5217295 h 5217295"/>
              <a:gd name="connsiteX6" fmla="*/ 0 w 9231365"/>
              <a:gd name="connsiteY6" fmla="*/ 1395697 h 5217295"/>
              <a:gd name="connsiteX0" fmla="*/ 0 w 9231365"/>
              <a:gd name="connsiteY0" fmla="*/ 1399409 h 5221007"/>
              <a:gd name="connsiteX1" fmla="*/ 2662121 w 9231365"/>
              <a:gd name="connsiteY1" fmla="*/ 3747 h 5221007"/>
              <a:gd name="connsiteX2" fmla="*/ 5537669 w 9231365"/>
              <a:gd name="connsiteY2" fmla="*/ 1363316 h 5221007"/>
              <a:gd name="connsiteX3" fmla="*/ 9231365 w 9231365"/>
              <a:gd name="connsiteY3" fmla="*/ 2025051 h 5221007"/>
              <a:gd name="connsiteX4" fmla="*/ 9207301 w 9231365"/>
              <a:gd name="connsiteY4" fmla="*/ 5221007 h 5221007"/>
              <a:gd name="connsiteX5" fmla="*/ 48126 w 9231365"/>
              <a:gd name="connsiteY5" fmla="*/ 5221007 h 5221007"/>
              <a:gd name="connsiteX6" fmla="*/ 0 w 9231365"/>
              <a:gd name="connsiteY6" fmla="*/ 1399409 h 5221007"/>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8527 h 5220125"/>
              <a:gd name="connsiteX1" fmla="*/ 2662121 w 9231365"/>
              <a:gd name="connsiteY1" fmla="*/ 2865 h 5220125"/>
              <a:gd name="connsiteX2" fmla="*/ 5537669 w 9231365"/>
              <a:gd name="connsiteY2" fmla="*/ 1362434 h 5220125"/>
              <a:gd name="connsiteX3" fmla="*/ 9231365 w 9231365"/>
              <a:gd name="connsiteY3" fmla="*/ 1964012 h 5220125"/>
              <a:gd name="connsiteX4" fmla="*/ 9207301 w 9231365"/>
              <a:gd name="connsiteY4" fmla="*/ 5220125 h 5220125"/>
              <a:gd name="connsiteX5" fmla="*/ 48126 w 9231365"/>
              <a:gd name="connsiteY5" fmla="*/ 5220125 h 5220125"/>
              <a:gd name="connsiteX6" fmla="*/ 0 w 9231365"/>
              <a:gd name="connsiteY6" fmla="*/ 1398527 h 5220125"/>
              <a:gd name="connsiteX0" fmla="*/ 0 w 9231365"/>
              <a:gd name="connsiteY0" fmla="*/ 1399319 h 5220917"/>
              <a:gd name="connsiteX1" fmla="*/ 2662121 w 9231365"/>
              <a:gd name="connsiteY1" fmla="*/ 3657 h 5220917"/>
              <a:gd name="connsiteX2" fmla="*/ 5537669 w 9231365"/>
              <a:gd name="connsiteY2" fmla="*/ 1363226 h 5220917"/>
              <a:gd name="connsiteX3" fmla="*/ 9231365 w 9231365"/>
              <a:gd name="connsiteY3" fmla="*/ 1964804 h 5220917"/>
              <a:gd name="connsiteX4" fmla="*/ 9207301 w 9231365"/>
              <a:gd name="connsiteY4" fmla="*/ 5220917 h 5220917"/>
              <a:gd name="connsiteX5" fmla="*/ 48126 w 9231365"/>
              <a:gd name="connsiteY5" fmla="*/ 5220917 h 5220917"/>
              <a:gd name="connsiteX6" fmla="*/ 0 w 9231365"/>
              <a:gd name="connsiteY6" fmla="*/ 1399319 h 5220917"/>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688 h 5221286"/>
              <a:gd name="connsiteX1" fmla="*/ 2662121 w 9231365"/>
              <a:gd name="connsiteY1" fmla="*/ 4026 h 5221286"/>
              <a:gd name="connsiteX2" fmla="*/ 5537669 w 9231365"/>
              <a:gd name="connsiteY2" fmla="*/ 1363595 h 5221286"/>
              <a:gd name="connsiteX3" fmla="*/ 9231365 w 9231365"/>
              <a:gd name="connsiteY3" fmla="*/ 1965173 h 5221286"/>
              <a:gd name="connsiteX4" fmla="*/ 9207301 w 9231365"/>
              <a:gd name="connsiteY4" fmla="*/ 5221286 h 5221286"/>
              <a:gd name="connsiteX5" fmla="*/ 48126 w 9231365"/>
              <a:gd name="connsiteY5" fmla="*/ 5221286 h 5221286"/>
              <a:gd name="connsiteX6" fmla="*/ 0 w 9231365"/>
              <a:gd name="connsiteY6" fmla="*/ 1399688 h 5221286"/>
              <a:gd name="connsiteX0" fmla="*/ 0 w 9219333"/>
              <a:gd name="connsiteY0" fmla="*/ 1215923 h 5217995"/>
              <a:gd name="connsiteX1" fmla="*/ 2650089 w 9219333"/>
              <a:gd name="connsiteY1" fmla="*/ 735 h 5217995"/>
              <a:gd name="connsiteX2" fmla="*/ 5525637 w 9219333"/>
              <a:gd name="connsiteY2" fmla="*/ 1360304 h 5217995"/>
              <a:gd name="connsiteX3" fmla="*/ 9219333 w 9219333"/>
              <a:gd name="connsiteY3" fmla="*/ 1961882 h 5217995"/>
              <a:gd name="connsiteX4" fmla="*/ 9195269 w 9219333"/>
              <a:gd name="connsiteY4" fmla="*/ 5217995 h 5217995"/>
              <a:gd name="connsiteX5" fmla="*/ 36094 w 9219333"/>
              <a:gd name="connsiteY5" fmla="*/ 5217995 h 5217995"/>
              <a:gd name="connsiteX6" fmla="*/ 0 w 9219333"/>
              <a:gd name="connsiteY6" fmla="*/ 1215923 h 5217995"/>
              <a:gd name="connsiteX0" fmla="*/ 0 w 9219333"/>
              <a:gd name="connsiteY0" fmla="*/ 1396225 h 5398297"/>
              <a:gd name="connsiteX1" fmla="*/ 2674153 w 9219333"/>
              <a:gd name="connsiteY1" fmla="*/ 563 h 5398297"/>
              <a:gd name="connsiteX2" fmla="*/ 5525637 w 9219333"/>
              <a:gd name="connsiteY2" fmla="*/ 1540606 h 5398297"/>
              <a:gd name="connsiteX3" fmla="*/ 9219333 w 9219333"/>
              <a:gd name="connsiteY3" fmla="*/ 2142184 h 5398297"/>
              <a:gd name="connsiteX4" fmla="*/ 9195269 w 9219333"/>
              <a:gd name="connsiteY4" fmla="*/ 5398297 h 5398297"/>
              <a:gd name="connsiteX5" fmla="*/ 36094 w 9219333"/>
              <a:gd name="connsiteY5" fmla="*/ 5398297 h 5398297"/>
              <a:gd name="connsiteX6" fmla="*/ 0 w 9219333"/>
              <a:gd name="connsiteY6" fmla="*/ 1396225 h 539829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141624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009276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6 h 5397738"/>
              <a:gd name="connsiteX1" fmla="*/ 2674153 w 9219333"/>
              <a:gd name="connsiteY1" fmla="*/ 4 h 5397738"/>
              <a:gd name="connsiteX2" fmla="*/ 5585795 w 9219333"/>
              <a:gd name="connsiteY2" fmla="*/ 1383637 h 5397738"/>
              <a:gd name="connsiteX3" fmla="*/ 9219333 w 9219333"/>
              <a:gd name="connsiteY3" fmla="*/ 2009277 h 5397738"/>
              <a:gd name="connsiteX4" fmla="*/ 9195269 w 9219333"/>
              <a:gd name="connsiteY4" fmla="*/ 5397738 h 5397738"/>
              <a:gd name="connsiteX5" fmla="*/ 36094 w 9219333"/>
              <a:gd name="connsiteY5" fmla="*/ 5397738 h 5397738"/>
              <a:gd name="connsiteX6" fmla="*/ 0 w 9219333"/>
              <a:gd name="connsiteY6" fmla="*/ 1395666 h 5397738"/>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36094 w 9219333"/>
              <a:gd name="connsiteY5" fmla="*/ 5402259 h 5402259"/>
              <a:gd name="connsiteX6" fmla="*/ 0 w 9219333"/>
              <a:gd name="connsiteY6" fmla="*/ 1400187 h 5402259"/>
              <a:gd name="connsiteX0" fmla="*/ 10488 w 9229821"/>
              <a:gd name="connsiteY0" fmla="*/ 1400187 h 5426411"/>
              <a:gd name="connsiteX1" fmla="*/ 2684641 w 9229821"/>
              <a:gd name="connsiteY1" fmla="*/ 4525 h 5426411"/>
              <a:gd name="connsiteX2" fmla="*/ 5596283 w 9229821"/>
              <a:gd name="connsiteY2" fmla="*/ 1388158 h 5426411"/>
              <a:gd name="connsiteX3" fmla="*/ 9229821 w 9229821"/>
              <a:gd name="connsiteY3" fmla="*/ 1965672 h 5426411"/>
              <a:gd name="connsiteX4" fmla="*/ 9205757 w 9229821"/>
              <a:gd name="connsiteY4" fmla="*/ 5402259 h 5426411"/>
              <a:gd name="connsiteX5" fmla="*/ 0 w 9229821"/>
              <a:gd name="connsiteY5" fmla="*/ 5426411 h 5426411"/>
              <a:gd name="connsiteX6" fmla="*/ 10488 w 9229821"/>
              <a:gd name="connsiteY6" fmla="*/ 1400187 h 5426411"/>
              <a:gd name="connsiteX0" fmla="*/ 0 w 9219333"/>
              <a:gd name="connsiteY0" fmla="*/ 1400187 h 5426411"/>
              <a:gd name="connsiteX1" fmla="*/ 2674153 w 9219333"/>
              <a:gd name="connsiteY1" fmla="*/ 4525 h 5426411"/>
              <a:gd name="connsiteX2" fmla="*/ 5585795 w 9219333"/>
              <a:gd name="connsiteY2" fmla="*/ 1388158 h 5426411"/>
              <a:gd name="connsiteX3" fmla="*/ 9219333 w 9219333"/>
              <a:gd name="connsiteY3" fmla="*/ 1965672 h 5426411"/>
              <a:gd name="connsiteX4" fmla="*/ 9195269 w 9219333"/>
              <a:gd name="connsiteY4" fmla="*/ 5402259 h 5426411"/>
              <a:gd name="connsiteX5" fmla="*/ 12803 w 9219333"/>
              <a:gd name="connsiteY5" fmla="*/ 5426411 h 5426411"/>
              <a:gd name="connsiteX6" fmla="*/ 0 w 9219333"/>
              <a:gd name="connsiteY6" fmla="*/ 1400187 h 5426411"/>
              <a:gd name="connsiteX0" fmla="*/ 11116 w 9230449"/>
              <a:gd name="connsiteY0" fmla="*/ 1400187 h 5426411"/>
              <a:gd name="connsiteX1" fmla="*/ 2685269 w 9230449"/>
              <a:gd name="connsiteY1" fmla="*/ 4525 h 5426411"/>
              <a:gd name="connsiteX2" fmla="*/ 5596911 w 9230449"/>
              <a:gd name="connsiteY2" fmla="*/ 1388158 h 5426411"/>
              <a:gd name="connsiteX3" fmla="*/ 9230449 w 9230449"/>
              <a:gd name="connsiteY3" fmla="*/ 1965672 h 5426411"/>
              <a:gd name="connsiteX4" fmla="*/ 9206385 w 9230449"/>
              <a:gd name="connsiteY4" fmla="*/ 5402259 h 5426411"/>
              <a:gd name="connsiteX5" fmla="*/ 628 w 9230449"/>
              <a:gd name="connsiteY5" fmla="*/ 5426411 h 5426411"/>
              <a:gd name="connsiteX6" fmla="*/ 11116 w 9230449"/>
              <a:gd name="connsiteY6" fmla="*/ 1400187 h 5426411"/>
              <a:gd name="connsiteX0" fmla="*/ 225 w 9219558"/>
              <a:gd name="connsiteY0" fmla="*/ 1400187 h 5438486"/>
              <a:gd name="connsiteX1" fmla="*/ 2674378 w 9219558"/>
              <a:gd name="connsiteY1" fmla="*/ 4525 h 5438486"/>
              <a:gd name="connsiteX2" fmla="*/ 5586020 w 9219558"/>
              <a:gd name="connsiteY2" fmla="*/ 1388158 h 5438486"/>
              <a:gd name="connsiteX3" fmla="*/ 9219558 w 9219558"/>
              <a:gd name="connsiteY3" fmla="*/ 1965672 h 5438486"/>
              <a:gd name="connsiteX4" fmla="*/ 9195494 w 9219558"/>
              <a:gd name="connsiteY4" fmla="*/ 5402259 h 5438486"/>
              <a:gd name="connsiteX5" fmla="*/ 1383 w 9219558"/>
              <a:gd name="connsiteY5" fmla="*/ 5438486 h 5438486"/>
              <a:gd name="connsiteX6" fmla="*/ 225 w 9219558"/>
              <a:gd name="connsiteY6" fmla="*/ 1400187 h 5438486"/>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58781 w 9219333"/>
              <a:gd name="connsiteY5" fmla="*/ 5371568 h 5402259"/>
              <a:gd name="connsiteX6" fmla="*/ 0 w 9219333"/>
              <a:gd name="connsiteY6" fmla="*/ 1400187 h 5402259"/>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199834 w 9223898"/>
              <a:gd name="connsiteY4" fmla="*/ 5402259 h 5409807"/>
              <a:gd name="connsiteX5" fmla="*/ 921 w 9223898"/>
              <a:gd name="connsiteY5" fmla="*/ 5409807 h 5409807"/>
              <a:gd name="connsiteX6" fmla="*/ 4565 w 9223898"/>
              <a:gd name="connsiteY6" fmla="*/ 1400187 h 5409807"/>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079788 w 9223898"/>
              <a:gd name="connsiteY4" fmla="*/ 5254083 h 5409807"/>
              <a:gd name="connsiteX5" fmla="*/ 921 w 9223898"/>
              <a:gd name="connsiteY5" fmla="*/ 5409807 h 5409807"/>
              <a:gd name="connsiteX6" fmla="*/ 4565 w 9223898"/>
              <a:gd name="connsiteY6" fmla="*/ 1400187 h 5409807"/>
              <a:gd name="connsiteX0" fmla="*/ 4565 w 9229434"/>
              <a:gd name="connsiteY0" fmla="*/ 1400187 h 5409807"/>
              <a:gd name="connsiteX1" fmla="*/ 2678718 w 9229434"/>
              <a:gd name="connsiteY1" fmla="*/ 4525 h 5409807"/>
              <a:gd name="connsiteX2" fmla="*/ 5590360 w 9229434"/>
              <a:gd name="connsiteY2" fmla="*/ 1388158 h 5409807"/>
              <a:gd name="connsiteX3" fmla="*/ 9223898 w 9229434"/>
              <a:gd name="connsiteY3" fmla="*/ 1965672 h 5409807"/>
              <a:gd name="connsiteX4" fmla="*/ 9228645 w 9229434"/>
              <a:gd name="connsiteY4" fmla="*/ 5407039 h 5409807"/>
              <a:gd name="connsiteX5" fmla="*/ 921 w 9229434"/>
              <a:gd name="connsiteY5" fmla="*/ 5409807 h 5409807"/>
              <a:gd name="connsiteX6" fmla="*/ 4565 w 9229434"/>
              <a:gd name="connsiteY6" fmla="*/ 1400187 h 5409807"/>
              <a:gd name="connsiteX0" fmla="*/ 4565 w 9229434"/>
              <a:gd name="connsiteY0" fmla="*/ 1399152 h 5408772"/>
              <a:gd name="connsiteX1" fmla="*/ 2678718 w 9229434"/>
              <a:gd name="connsiteY1" fmla="*/ 3490 h 5408772"/>
              <a:gd name="connsiteX2" fmla="*/ 5590360 w 9229434"/>
              <a:gd name="connsiteY2" fmla="*/ 1387123 h 5408772"/>
              <a:gd name="connsiteX3" fmla="*/ 9223898 w 9229434"/>
              <a:gd name="connsiteY3" fmla="*/ 1969416 h 5408772"/>
              <a:gd name="connsiteX4" fmla="*/ 9228645 w 9229434"/>
              <a:gd name="connsiteY4" fmla="*/ 5406004 h 5408772"/>
              <a:gd name="connsiteX5" fmla="*/ 921 w 9229434"/>
              <a:gd name="connsiteY5" fmla="*/ 5408772 h 5408772"/>
              <a:gd name="connsiteX6" fmla="*/ 4565 w 9229434"/>
              <a:gd name="connsiteY6" fmla="*/ 1399152 h 5408772"/>
              <a:gd name="connsiteX0" fmla="*/ 224 w 9229895"/>
              <a:gd name="connsiteY0" fmla="*/ 1400449 h 5405288"/>
              <a:gd name="connsiteX1" fmla="*/ 2679179 w 9229895"/>
              <a:gd name="connsiteY1" fmla="*/ 6 h 5405288"/>
              <a:gd name="connsiteX2" fmla="*/ 5590821 w 9229895"/>
              <a:gd name="connsiteY2" fmla="*/ 1383639 h 5405288"/>
              <a:gd name="connsiteX3" fmla="*/ 9224359 w 9229895"/>
              <a:gd name="connsiteY3" fmla="*/ 1965932 h 5405288"/>
              <a:gd name="connsiteX4" fmla="*/ 9229106 w 9229895"/>
              <a:gd name="connsiteY4" fmla="*/ 5402520 h 5405288"/>
              <a:gd name="connsiteX5" fmla="*/ 1382 w 9229895"/>
              <a:gd name="connsiteY5" fmla="*/ 5405288 h 5405288"/>
              <a:gd name="connsiteX6" fmla="*/ 224 w 9229895"/>
              <a:gd name="connsiteY6" fmla="*/ 1400449 h 5405288"/>
              <a:gd name="connsiteX0" fmla="*/ 157384 w 9228594"/>
              <a:gd name="connsiteY0" fmla="*/ 1371769 h 5405287"/>
              <a:gd name="connsiteX1" fmla="*/ 2677878 w 9228594"/>
              <a:gd name="connsiteY1" fmla="*/ 5 h 5405287"/>
              <a:gd name="connsiteX2" fmla="*/ 5589520 w 9228594"/>
              <a:gd name="connsiteY2" fmla="*/ 1383638 h 5405287"/>
              <a:gd name="connsiteX3" fmla="*/ 9223058 w 9228594"/>
              <a:gd name="connsiteY3" fmla="*/ 1965931 h 5405287"/>
              <a:gd name="connsiteX4" fmla="*/ 9227805 w 9228594"/>
              <a:gd name="connsiteY4" fmla="*/ 5402519 h 5405287"/>
              <a:gd name="connsiteX5" fmla="*/ 81 w 9228594"/>
              <a:gd name="connsiteY5" fmla="*/ 5405287 h 5405287"/>
              <a:gd name="connsiteX6" fmla="*/ 157384 w 9228594"/>
              <a:gd name="connsiteY6" fmla="*/ 1371769 h 5405287"/>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3702 h 5406780"/>
              <a:gd name="connsiteX1" fmla="*/ 2679179 w 9229895"/>
              <a:gd name="connsiteY1" fmla="*/ 1498 h 5406780"/>
              <a:gd name="connsiteX2" fmla="*/ 5590821 w 9229895"/>
              <a:gd name="connsiteY2" fmla="*/ 1385131 h 5406780"/>
              <a:gd name="connsiteX3" fmla="*/ 9224359 w 9229895"/>
              <a:gd name="connsiteY3" fmla="*/ 1967424 h 5406780"/>
              <a:gd name="connsiteX4" fmla="*/ 9229106 w 9229895"/>
              <a:gd name="connsiteY4" fmla="*/ 5404012 h 5406780"/>
              <a:gd name="connsiteX5" fmla="*/ 1382 w 9229895"/>
              <a:gd name="connsiteY5" fmla="*/ 5406780 h 5406780"/>
              <a:gd name="connsiteX6" fmla="*/ 223 w 9229895"/>
              <a:gd name="connsiteY6" fmla="*/ 1363702 h 540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29895" h="5406780">
                <a:moveTo>
                  <a:pt x="223" y="1363702"/>
                </a:moveTo>
                <a:cubicBezTo>
                  <a:pt x="776784" y="694686"/>
                  <a:pt x="1565447" y="46228"/>
                  <a:pt x="2679179" y="1498"/>
                </a:cubicBezTo>
                <a:cubicBezTo>
                  <a:pt x="3792911" y="-43232"/>
                  <a:pt x="4924544" y="924647"/>
                  <a:pt x="5590821" y="1385131"/>
                </a:cubicBezTo>
                <a:cubicBezTo>
                  <a:pt x="6257098" y="1845615"/>
                  <a:pt x="7574028" y="2886575"/>
                  <a:pt x="9224359" y="1967424"/>
                </a:cubicBezTo>
                <a:cubicBezTo>
                  <a:pt x="9220349" y="2940500"/>
                  <a:pt x="9233116" y="4430936"/>
                  <a:pt x="9229106" y="5404012"/>
                </a:cubicBezTo>
                <a:lnTo>
                  <a:pt x="1382" y="5406780"/>
                </a:lnTo>
                <a:cubicBezTo>
                  <a:pt x="-2886" y="4064705"/>
                  <a:pt x="4491" y="2705777"/>
                  <a:pt x="223" y="1363702"/>
                </a:cubicBezTo>
                <a:close/>
              </a:path>
            </a:pathLst>
          </a:custGeom>
          <a:gradFill flip="none" rotWithShape="1">
            <a:gsLst>
              <a:gs pos="0">
                <a:schemeClr val="bg1">
                  <a:lumMod val="85000"/>
                </a:schemeClr>
              </a:gs>
              <a:gs pos="29000">
                <a:srgbClr val="F3F3F3"/>
              </a:gs>
              <a:gs pos="82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13" name="Text Placeholder 12"/>
          <p:cNvSpPr>
            <a:spLocks noGrp="1"/>
          </p:cNvSpPr>
          <p:nvPr>
            <p:ph type="body" sz="quarter" idx="13" hasCustomPrompt="1"/>
          </p:nvPr>
        </p:nvSpPr>
        <p:spPr>
          <a:xfrm>
            <a:off x="2590799" y="1752600"/>
            <a:ext cx="2057401" cy="1752600"/>
          </a:xfrm>
        </p:spPr>
        <p:txBody>
          <a:bodyPr anchor="ctr" anchorCtr="0">
            <a:noAutofit/>
          </a:bodyPr>
          <a:lstStyle>
            <a:lvl1pPr marL="0" indent="0" algn="ctr">
              <a:buFontTx/>
              <a:buNone/>
              <a:defRPr sz="11500" b="0" i="0" baseline="0">
                <a:solidFill>
                  <a:srgbClr val="A0B94F"/>
                </a:solidFill>
                <a:effectLst/>
                <a:latin typeface="Adobe Fan Heiti Std B" pitchFamily="34" charset="-128"/>
                <a:ea typeface="Adobe Fan Heiti Std B" pitchFamily="34" charset="-128"/>
              </a:defRPr>
            </a:lvl1pPr>
          </a:lstStyle>
          <a:p>
            <a:pPr lvl="0"/>
            <a:r>
              <a:rPr lang="en-US" dirty="0" smtClean="0"/>
              <a:t>1</a:t>
            </a:r>
            <a:endParaRPr lang="en-US" dirty="0"/>
          </a:p>
        </p:txBody>
      </p:sp>
      <p:sp>
        <p:nvSpPr>
          <p:cNvPr id="11" name="Subtitle 2"/>
          <p:cNvSpPr txBox="1">
            <a:spLocks/>
          </p:cNvSpPr>
          <p:nvPr userDrawn="1"/>
        </p:nvSpPr>
        <p:spPr>
          <a:xfrm>
            <a:off x="685800" y="2133600"/>
            <a:ext cx="2362200" cy="1066800"/>
          </a:xfrm>
          <a:prstGeom prst="rect">
            <a:avLst/>
          </a:prstGeom>
          <a:noFill/>
        </p:spPr>
        <p:txBody>
          <a:bodyPr vert="horz" lIns="91440" tIns="45720" rIns="91440" bIns="45720" rtlCol="0">
            <a:normAutofit/>
          </a:bodyPr>
          <a:lstStyle>
            <a:lvl1pPr marL="0" indent="0" algn="l" defTabSz="914400" rtl="0" eaLnBrk="1" latinLnBrk="0" hangingPunct="1">
              <a:lnSpc>
                <a:spcPts val="6800"/>
              </a:lnSpc>
              <a:spcBef>
                <a:spcPts val="600"/>
              </a:spcBef>
              <a:spcAft>
                <a:spcPts val="600"/>
              </a:spcAft>
              <a:buFont typeface="Arial" pitchFamily="34" charset="0"/>
              <a:buNone/>
              <a:defRPr sz="6600" kern="1200" baseline="0">
                <a:solidFill>
                  <a:schemeClr val="accent6">
                    <a:lumMod val="75000"/>
                  </a:schemeClr>
                </a:solidFill>
                <a:latin typeface="Verdana" panose="020B0604030504040204" pitchFamily="34" charset="0"/>
                <a:ea typeface="Verdana" panose="020B0604030504040204" pitchFamily="34" charset="0"/>
                <a:cs typeface="Verdana" panose="020B0604030504040204"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3600" dirty="0" smtClean="0">
                <a:solidFill>
                  <a:schemeClr val="bg1">
                    <a:lumMod val="50000"/>
                  </a:schemeClr>
                </a:solidFill>
              </a:rPr>
              <a:t>CHAPTER</a:t>
            </a:r>
            <a:endParaRPr lang="en-US" sz="3600" dirty="0">
              <a:solidFill>
                <a:schemeClr val="bg1">
                  <a:lumMod val="50000"/>
                </a:schemeClr>
              </a:solidFill>
            </a:endParaRPr>
          </a:p>
        </p:txBody>
      </p:sp>
      <p:cxnSp>
        <p:nvCxnSpPr>
          <p:cNvPr id="14" name="Straight Connector 13"/>
          <p:cNvCxnSpPr/>
          <p:nvPr userDrawn="1"/>
        </p:nvCxnSpPr>
        <p:spPr>
          <a:xfrm flipH="1">
            <a:off x="3048000" y="3352800"/>
            <a:ext cx="1143000"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Subtitle 2"/>
          <p:cNvSpPr>
            <a:spLocks noGrp="1"/>
          </p:cNvSpPr>
          <p:nvPr>
            <p:ph type="subTitle" idx="1" hasCustomPrompt="1"/>
          </p:nvPr>
        </p:nvSpPr>
        <p:spPr>
          <a:xfrm>
            <a:off x="609600" y="3810000"/>
            <a:ext cx="8382000" cy="2895600"/>
          </a:xfrm>
        </p:spPr>
        <p:txBody>
          <a:bodyPr>
            <a:normAutofit/>
          </a:bodyPr>
          <a:lstStyle>
            <a:lvl1pPr marL="0" indent="0" algn="l">
              <a:lnSpc>
                <a:spcPts val="7200"/>
              </a:lnSpc>
              <a:spcBef>
                <a:spcPts val="600"/>
              </a:spcBef>
              <a:spcAft>
                <a:spcPts val="600"/>
              </a:spcAft>
              <a:buNone/>
              <a:defRPr sz="7200" baseline="0">
                <a:solidFill>
                  <a:srgbClr val="D74B13"/>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Enter Chapter Title</a:t>
            </a:r>
            <a:endParaRPr lang="en-US" dirty="0"/>
          </a:p>
        </p:txBody>
      </p:sp>
    </p:spTree>
    <p:extLst>
      <p:ext uri="{BB962C8B-B14F-4D97-AF65-F5344CB8AC3E}">
        <p14:creationId xmlns:p14="http://schemas.microsoft.com/office/powerpoint/2010/main" val="27520202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h_Outline">
    <p:spTree>
      <p:nvGrpSpPr>
        <p:cNvPr id="1" name=""/>
        <p:cNvGrpSpPr/>
        <p:nvPr/>
      </p:nvGrpSpPr>
      <p:grpSpPr>
        <a:xfrm>
          <a:off x="0" y="0"/>
          <a:ext cx="0" cy="0"/>
          <a:chOff x="0" y="0"/>
          <a:chExt cx="0" cy="0"/>
        </a:xfrm>
      </p:grpSpPr>
      <p:sp>
        <p:nvSpPr>
          <p:cNvPr id="8" name="Rectangle 7"/>
          <p:cNvSpPr/>
          <p:nvPr userDrawn="1"/>
        </p:nvSpPr>
        <p:spPr>
          <a:xfrm>
            <a:off x="6781800" y="6362700"/>
            <a:ext cx="2362200" cy="342900"/>
          </a:xfrm>
          <a:prstGeom prst="rect">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57200" y="228600"/>
            <a:ext cx="8229600" cy="1143000"/>
          </a:xfrm>
        </p:spPr>
        <p:txBody>
          <a:bodyPr>
            <a:noAutofit/>
          </a:bodyPr>
          <a:lstStyle>
            <a:lvl1pPr algn="l">
              <a:defRPr sz="4400" b="0" baseline="0">
                <a:solidFill>
                  <a:srgbClr val="00CCFF"/>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t>CHAPTER OUTLINE</a:t>
            </a:r>
            <a:endParaRPr lang="en-US" dirty="0"/>
          </a:p>
        </p:txBody>
      </p:sp>
      <p:sp>
        <p:nvSpPr>
          <p:cNvPr id="3" name="Content Placeholder 2"/>
          <p:cNvSpPr>
            <a:spLocks noGrp="1"/>
          </p:cNvSpPr>
          <p:nvPr>
            <p:ph idx="1"/>
          </p:nvPr>
        </p:nvSpPr>
        <p:spPr>
          <a:xfrm>
            <a:off x="457200" y="1371600"/>
            <a:ext cx="8229600" cy="4754563"/>
          </a:xfrm>
        </p:spPr>
        <p:txBody>
          <a:bodyPr/>
          <a:lstStyle>
            <a:lvl1pPr marL="514350" indent="-514350">
              <a:buClr>
                <a:srgbClr val="00B0F0"/>
              </a:buClr>
              <a:buSzPct val="100000"/>
              <a:buFont typeface="+mj-lt"/>
              <a:buAutoNum type="arabicPeriod"/>
              <a:defRPr baseline="0">
                <a:latin typeface="Verdana" panose="020B0604030504040204" pitchFamily="34" charset="0"/>
                <a:ea typeface="Verdana" panose="020B0604030504040204" pitchFamily="34" charset="0"/>
                <a:cs typeface="Verdana" panose="020B0604030504040204" pitchFamily="34"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0" y="3048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83928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_Learning_Obj">
    <p:spTree>
      <p:nvGrpSpPr>
        <p:cNvPr id="1" name=""/>
        <p:cNvGrpSpPr/>
        <p:nvPr/>
      </p:nvGrpSpPr>
      <p:grpSpPr>
        <a:xfrm>
          <a:off x="0" y="0"/>
          <a:ext cx="0" cy="0"/>
          <a:chOff x="0" y="0"/>
          <a:chExt cx="0" cy="0"/>
        </a:xfrm>
      </p:grpSpPr>
      <p:sp>
        <p:nvSpPr>
          <p:cNvPr id="8" name="Rectangle 7"/>
          <p:cNvSpPr/>
          <p:nvPr userDrawn="1"/>
        </p:nvSpPr>
        <p:spPr>
          <a:xfrm>
            <a:off x="6781800" y="6362700"/>
            <a:ext cx="2362200" cy="342900"/>
          </a:xfrm>
          <a:prstGeom prst="rect">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600200"/>
            <a:ext cx="8229600" cy="4525963"/>
          </a:xfrm>
        </p:spPr>
        <p:txBody>
          <a:bodyPr/>
          <a:lstStyle>
            <a:lvl1pPr marL="514350" indent="-514350">
              <a:buClr>
                <a:srgbClr val="FF9900"/>
              </a:buClr>
              <a:buSzPct val="100000"/>
              <a:buFont typeface="+mj-lt"/>
              <a:buAutoNum type="arabicPeriod"/>
              <a:defRPr baseline="0">
                <a:latin typeface="Times New Roman" panose="02020603050405020304" pitchFamily="18" charset="0"/>
                <a:ea typeface="Verdana" panose="020B0604030504040204" pitchFamily="34" charset="0"/>
                <a:cs typeface="Times New Roman" panose="02020603050405020304"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0" y="3048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Subtitle 2"/>
          <p:cNvSpPr>
            <a:spLocks noGrp="1"/>
          </p:cNvSpPr>
          <p:nvPr>
            <p:ph type="subTitle" idx="13" hasCustomPrompt="1"/>
          </p:nvPr>
        </p:nvSpPr>
        <p:spPr>
          <a:xfrm>
            <a:off x="457200" y="533400"/>
            <a:ext cx="8686800" cy="1066800"/>
          </a:xfrm>
        </p:spPr>
        <p:txBody>
          <a:bodyPr>
            <a:normAutofit/>
          </a:bodyPr>
          <a:lstStyle>
            <a:lvl1pPr marL="0" indent="0" algn="l">
              <a:lnSpc>
                <a:spcPts val="6800"/>
              </a:lnSpc>
              <a:spcBef>
                <a:spcPts val="600"/>
              </a:spcBef>
              <a:spcAft>
                <a:spcPts val="600"/>
              </a:spcAft>
              <a:buNone/>
              <a:defRPr sz="4400"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LEARNING OBJECTIVES</a:t>
            </a:r>
            <a:endParaRPr lang="en-US" dirty="0"/>
          </a:p>
        </p:txBody>
      </p:sp>
      <p:sp>
        <p:nvSpPr>
          <p:cNvPr id="11" name="Subtitle 2"/>
          <p:cNvSpPr txBox="1">
            <a:spLocks/>
          </p:cNvSpPr>
          <p:nvPr userDrawn="1"/>
        </p:nvSpPr>
        <p:spPr>
          <a:xfrm>
            <a:off x="7263063" y="533400"/>
            <a:ext cx="1652337" cy="1066800"/>
          </a:xfrm>
          <a:prstGeom prst="rect">
            <a:avLst/>
          </a:prstGeom>
        </p:spPr>
        <p:txBody>
          <a:bodyPr vert="horz" lIns="91440" tIns="45720" rIns="91440" bIns="45720" rtlCol="0">
            <a:normAutofit/>
          </a:bodyPr>
          <a:lstStyle>
            <a:lvl1pPr marL="0" indent="0" algn="l" defTabSz="914400" rtl="0" eaLnBrk="1" latinLnBrk="0" hangingPunct="1">
              <a:lnSpc>
                <a:spcPts val="6800"/>
              </a:lnSpc>
              <a:spcBef>
                <a:spcPts val="600"/>
              </a:spcBef>
              <a:spcAft>
                <a:spcPts val="600"/>
              </a:spcAft>
              <a:buFont typeface="Arial" pitchFamily="34" charset="0"/>
              <a:buNone/>
              <a:defRPr sz="4400" kern="1200" baseline="0">
                <a:solidFill>
                  <a:srgbClr val="FFC0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dirty="0" smtClean="0">
                <a:solidFill>
                  <a:schemeClr val="tx2">
                    <a:lumMod val="60000"/>
                    <a:lumOff val="40000"/>
                  </a:schemeClr>
                </a:solidFill>
              </a:rPr>
              <a:t>&gt;&gt;&gt;</a:t>
            </a:r>
            <a:endParaRPr lang="en-US" dirty="0">
              <a:solidFill>
                <a:schemeClr val="tx2">
                  <a:lumMod val="60000"/>
                  <a:lumOff val="40000"/>
                </a:schemeClr>
              </a:solidFill>
            </a:endParaRPr>
          </a:p>
        </p:txBody>
      </p:sp>
    </p:spTree>
    <p:extLst>
      <p:ext uri="{BB962C8B-B14F-4D97-AF65-F5344CB8AC3E}">
        <p14:creationId xmlns:p14="http://schemas.microsoft.com/office/powerpoint/2010/main" val="405939335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pening Case">
    <p:spTree>
      <p:nvGrpSpPr>
        <p:cNvPr id="1" name=""/>
        <p:cNvGrpSpPr/>
        <p:nvPr/>
      </p:nvGrpSpPr>
      <p:grpSpPr>
        <a:xfrm>
          <a:off x="0" y="0"/>
          <a:ext cx="0" cy="0"/>
          <a:chOff x="0" y="0"/>
          <a:chExt cx="0" cy="0"/>
        </a:xfrm>
      </p:grpSpPr>
      <p:cxnSp>
        <p:nvCxnSpPr>
          <p:cNvPr id="8" name="Straight Connector 7"/>
          <p:cNvCxnSpPr/>
          <p:nvPr userDrawn="1"/>
        </p:nvCxnSpPr>
        <p:spPr>
          <a:xfrm>
            <a:off x="0" y="6477000"/>
            <a:ext cx="86868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8382000" y="5715000"/>
            <a:ext cx="304800" cy="762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609600" y="12192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a:xfrm>
            <a:off x="6553200" y="6119896"/>
            <a:ext cx="2133600" cy="365125"/>
          </a:xfrm>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1371600"/>
            <a:ext cx="8229600" cy="4876800"/>
          </a:xfrm>
        </p:spPr>
        <p:txBody>
          <a:bodyPr>
            <a:normAutofit/>
          </a:bodyPr>
          <a:lstStyle>
            <a:lvl1pPr>
              <a:defRPr sz="3200" b="1" baseline="0">
                <a:latin typeface="Verdana" panose="020B0604030504040204" pitchFamily="34" charset="0"/>
                <a:ea typeface="Verdana" panose="020B0604030504040204" pitchFamily="34" charset="0"/>
                <a:cs typeface="Verdana" panose="020B0604030504040204" pitchFamily="34" charset="0"/>
              </a:defRPr>
            </a:lvl1pPr>
            <a:lvl2pPr marL="914400" indent="-457200">
              <a:buClr>
                <a:schemeClr val="accent1">
                  <a:lumMod val="75000"/>
                </a:schemeClr>
              </a:buClr>
              <a:buFont typeface="+mj-lt"/>
              <a:buAutoNum type="arabicPeriod"/>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2000"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itle 1"/>
          <p:cNvSpPr>
            <a:spLocks noGrp="1"/>
          </p:cNvSpPr>
          <p:nvPr>
            <p:ph type="title" hasCustomPrompt="1"/>
          </p:nvPr>
        </p:nvSpPr>
        <p:spPr>
          <a:xfrm>
            <a:off x="3276600" y="228600"/>
            <a:ext cx="2209800" cy="1143000"/>
          </a:xfrm>
        </p:spPr>
        <p:txBody>
          <a:bodyPr>
            <a:noAutofit/>
          </a:bodyPr>
          <a:lstStyle>
            <a:lvl1pPr algn="l">
              <a:defRPr sz="4400" b="1" baseline="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t>CASE</a:t>
            </a:r>
            <a:endParaRPr lang="en-US" dirty="0"/>
          </a:p>
        </p:txBody>
      </p:sp>
      <p:sp>
        <p:nvSpPr>
          <p:cNvPr id="14" name="Title 1"/>
          <p:cNvSpPr txBox="1">
            <a:spLocks/>
          </p:cNvSpPr>
          <p:nvPr userDrawn="1"/>
        </p:nvSpPr>
        <p:spPr>
          <a:xfrm>
            <a:off x="457200" y="228600"/>
            <a:ext cx="3276600" cy="1143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b="1" kern="1200" baseline="0">
                <a:solidFill>
                  <a:srgbClr val="00CCFF"/>
                </a:solidFill>
                <a:latin typeface="Verdana" panose="020B0604030504040204" pitchFamily="34" charset="0"/>
                <a:ea typeface="Verdana" panose="020B0604030504040204" pitchFamily="34" charset="0"/>
                <a:cs typeface="Verdana" panose="020B0604030504040204" pitchFamily="34" charset="0"/>
              </a:defRPr>
            </a:lvl1pPr>
          </a:lstStyle>
          <a:p>
            <a:r>
              <a:rPr lang="en-US" b="0" dirty="0" smtClean="0">
                <a:solidFill>
                  <a:schemeClr val="accent1">
                    <a:lumMod val="75000"/>
                  </a:schemeClr>
                </a:solidFill>
              </a:rPr>
              <a:t>OPENING</a:t>
            </a:r>
            <a:endParaRPr lang="en-US" b="0" dirty="0">
              <a:solidFill>
                <a:schemeClr val="accent1">
                  <a:lumMod val="75000"/>
                </a:schemeClr>
              </a:solidFill>
            </a:endParaRPr>
          </a:p>
        </p:txBody>
      </p:sp>
      <p:sp>
        <p:nvSpPr>
          <p:cNvPr id="15" name="Title 1"/>
          <p:cNvSpPr txBox="1">
            <a:spLocks/>
          </p:cNvSpPr>
          <p:nvPr userDrawn="1"/>
        </p:nvSpPr>
        <p:spPr>
          <a:xfrm>
            <a:off x="5181600" y="228600"/>
            <a:ext cx="2438400" cy="1143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b="1" kern="1200" baseline="0">
                <a:solidFill>
                  <a:srgbClr val="00CCFF"/>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solidFill>
                  <a:srgbClr val="6600CC"/>
                </a:solidFill>
              </a:rPr>
              <a:t>&gt;</a:t>
            </a:r>
            <a:endParaRPr lang="en-US" dirty="0">
              <a:solidFill>
                <a:srgbClr val="6600CC"/>
              </a:solidFill>
            </a:endParaRPr>
          </a:p>
        </p:txBody>
      </p:sp>
    </p:spTree>
    <p:extLst>
      <p:ext uri="{BB962C8B-B14F-4D97-AF65-F5344CB8AC3E}">
        <p14:creationId xmlns:p14="http://schemas.microsoft.com/office/powerpoint/2010/main" val="3856188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ts_about_bus">
    <p:spTree>
      <p:nvGrpSpPr>
        <p:cNvPr id="1" name=""/>
        <p:cNvGrpSpPr/>
        <p:nvPr/>
      </p:nvGrpSpPr>
      <p:grpSpPr>
        <a:xfrm>
          <a:off x="0" y="0"/>
          <a:ext cx="0" cy="0"/>
          <a:chOff x="0" y="0"/>
          <a:chExt cx="0" cy="0"/>
        </a:xfrm>
      </p:grpSpPr>
      <p:sp>
        <p:nvSpPr>
          <p:cNvPr id="4" name="Rectangle 3"/>
          <p:cNvSpPr/>
          <p:nvPr userDrawn="1"/>
        </p:nvSpPr>
        <p:spPr>
          <a:xfrm>
            <a:off x="0" y="1397296"/>
            <a:ext cx="9144000" cy="4927304"/>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25" name="Text Placeholder 24"/>
          <p:cNvSpPr>
            <a:spLocks noGrp="1"/>
          </p:cNvSpPr>
          <p:nvPr>
            <p:ph type="body" sz="quarter" idx="15" hasCustomPrompt="1"/>
          </p:nvPr>
        </p:nvSpPr>
        <p:spPr>
          <a:xfrm>
            <a:off x="1295400" y="635296"/>
            <a:ext cx="7772400" cy="990600"/>
          </a:xfrm>
        </p:spPr>
        <p:txBody>
          <a:bodyPr>
            <a:normAutofit/>
          </a:bodyPr>
          <a:lstStyle>
            <a:lvl1pPr marL="0" indent="0">
              <a:buNone/>
              <a:defRPr sz="4400" b="0" i="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smtClean="0"/>
              <a:t>’S ABOUT BUSINESS  0.0</a:t>
            </a:r>
            <a:endParaRPr lang="en-US" dirty="0"/>
          </a:p>
        </p:txBody>
      </p:sp>
      <p:cxnSp>
        <p:nvCxnSpPr>
          <p:cNvPr id="15" name="Straight Connector 14"/>
          <p:cNvCxnSpPr/>
          <p:nvPr userDrawn="1"/>
        </p:nvCxnSpPr>
        <p:spPr>
          <a:xfrm>
            <a:off x="0" y="1397296"/>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userDrawn="1"/>
        </p:nvGrpSpPr>
        <p:grpSpPr>
          <a:xfrm>
            <a:off x="609600" y="228600"/>
            <a:ext cx="923260" cy="1473496"/>
            <a:chOff x="495300" y="888704"/>
            <a:chExt cx="923260" cy="1473496"/>
          </a:xfrm>
          <a:effectLst>
            <a:outerShdw blurRad="76200" dist="88900" dir="4620000" sx="109000" sy="109000" algn="ctr" rotWithShape="0">
              <a:schemeClr val="bg1">
                <a:lumMod val="65000"/>
                <a:alpha val="19000"/>
              </a:schemeClr>
            </a:outerShdw>
          </a:effectLst>
        </p:grpSpPr>
        <p:sp>
          <p:nvSpPr>
            <p:cNvPr id="5" name="Rectangle 4"/>
            <p:cNvSpPr/>
            <p:nvPr userDrawn="1"/>
          </p:nvSpPr>
          <p:spPr>
            <a:xfrm>
              <a:off x="838200" y="1008888"/>
              <a:ext cx="246888" cy="1353312"/>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495300" y="1219200"/>
              <a:ext cx="246888" cy="1143000"/>
            </a:xfrm>
            <a:prstGeom prst="rect">
              <a:avLst/>
            </a:prstGeom>
            <a:solidFill>
              <a:srgbClr val="99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rot="5400000">
              <a:off x="847060" y="545804"/>
              <a:ext cx="228600" cy="9144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Content Placeholder 20"/>
          <p:cNvSpPr>
            <a:spLocks noGrp="1"/>
          </p:cNvSpPr>
          <p:nvPr>
            <p:ph sz="quarter" idx="16"/>
          </p:nvPr>
        </p:nvSpPr>
        <p:spPr>
          <a:xfrm>
            <a:off x="609600" y="1828800"/>
            <a:ext cx="8001000" cy="4419600"/>
          </a:xfrm>
        </p:spPr>
        <p:txBody>
          <a:bodyPr/>
          <a:lstStyle>
            <a:lvl1pPr>
              <a:defRPr sz="3200" b="1"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971550" indent="-514350">
              <a:buClr>
                <a:srgbClr val="0000CC"/>
              </a:buClr>
              <a:buFont typeface="+mj-lt"/>
              <a:buAutoNum type="arabicPeriod"/>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2000"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13859488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opic Level2">
    <p:spTree>
      <p:nvGrpSpPr>
        <p:cNvPr id="1" name=""/>
        <p:cNvGrpSpPr/>
        <p:nvPr/>
      </p:nvGrpSpPr>
      <p:grpSpPr>
        <a:xfrm>
          <a:off x="0" y="0"/>
          <a:ext cx="0" cy="0"/>
          <a:chOff x="0" y="0"/>
          <a:chExt cx="0" cy="0"/>
        </a:xfrm>
      </p:grpSpPr>
      <p:sp>
        <p:nvSpPr>
          <p:cNvPr id="13" name="Rectangle 12"/>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2057400" y="304800"/>
            <a:ext cx="6553199" cy="1676400"/>
          </a:xfrm>
        </p:spPr>
        <p:txBody>
          <a:bodyPr>
            <a:normAutofit/>
          </a:bodyPr>
          <a:lstStyle>
            <a:lvl1pPr marL="0" indent="0" algn="l">
              <a:spcBef>
                <a:spcPts val="600"/>
              </a:spcBef>
              <a:spcAft>
                <a:spcPts val="600"/>
              </a:spcAft>
              <a:buNone/>
              <a:defRPr sz="4400"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10" name="Text Placeholder 9"/>
          <p:cNvSpPr>
            <a:spLocks noGrp="1"/>
          </p:cNvSpPr>
          <p:nvPr>
            <p:ph type="body" sz="quarter" idx="14" hasCustomPrompt="1"/>
          </p:nvPr>
        </p:nvSpPr>
        <p:spPr>
          <a:xfrm>
            <a:off x="76200" y="0"/>
            <a:ext cx="1981200" cy="1524000"/>
          </a:xfrm>
        </p:spPr>
        <p:txBody>
          <a:bodyPr>
            <a:noAutofit/>
          </a:bodyPr>
          <a:lstStyle>
            <a:lvl1pPr marL="0" indent="0" algn="ctr">
              <a:buNone/>
              <a:defRPr sz="7200" baseline="0">
                <a:solidFill>
                  <a:schemeClr val="bg1">
                    <a:lumMod val="50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1066800" y="2438400"/>
            <a:ext cx="7543800" cy="3810000"/>
          </a:xfrm>
        </p:spPr>
        <p:txBody>
          <a:bodyPr/>
          <a:lstStyle>
            <a:lvl1pPr>
              <a:defRPr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945643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Slidezaxcv">
    <p:spTree>
      <p:nvGrpSpPr>
        <p:cNvPr id="1" name=""/>
        <p:cNvGrpSpPr/>
        <p:nvPr/>
      </p:nvGrpSpPr>
      <p:grpSpPr>
        <a:xfrm>
          <a:off x="0" y="0"/>
          <a:ext cx="0" cy="0"/>
          <a:chOff x="0" y="0"/>
          <a:chExt cx="0" cy="0"/>
        </a:xfrm>
      </p:grpSpPr>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rgbClr val="66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371600"/>
          </a:xfrm>
        </p:spPr>
        <p:txBody>
          <a:bodyPr anchor="b" anchorCtr="0">
            <a:normAutofit/>
          </a:bodyPr>
          <a:lstStyle>
            <a:lvl1pPr marL="0" indent="0" algn="l">
              <a:spcBef>
                <a:spcPts val="600"/>
              </a:spcBef>
              <a:spcAft>
                <a:spcPts val="600"/>
              </a:spcAft>
              <a:buNone/>
              <a:defRPr sz="4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457200" y="1524000"/>
            <a:ext cx="8153400" cy="4724400"/>
          </a:xfrm>
        </p:spPr>
        <p:txBody>
          <a:bodyPr/>
          <a:lstStyle>
            <a:lvl1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4478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704005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opic Level3">
    <p:spTree>
      <p:nvGrpSpPr>
        <p:cNvPr id="1" name=""/>
        <p:cNvGrpSpPr/>
        <p:nvPr/>
      </p:nvGrpSpPr>
      <p:grpSpPr>
        <a:xfrm>
          <a:off x="0" y="0"/>
          <a:ext cx="0" cy="0"/>
          <a:chOff x="0" y="0"/>
          <a:chExt cx="0" cy="0"/>
        </a:xfrm>
      </p:grpSpPr>
      <p:sp>
        <p:nvSpPr>
          <p:cNvPr id="26" name="Rectangle 25"/>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rgbClr val="66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676400"/>
          </a:xfrm>
        </p:spPr>
        <p:txBody>
          <a:bodyPr anchor="b" anchorCtr="0">
            <a:normAutofit/>
          </a:bodyPr>
          <a:lstStyle>
            <a:lvl1pPr marL="0" indent="0" algn="l">
              <a:spcBef>
                <a:spcPts val="600"/>
              </a:spcBef>
              <a:spcAft>
                <a:spcPts val="600"/>
              </a:spcAft>
              <a:buNone/>
              <a:defRPr sz="4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609600" y="2286000"/>
            <a:ext cx="8001000" cy="3962400"/>
          </a:xfrm>
        </p:spPr>
        <p:txBody>
          <a:bodyPr/>
          <a:lstStyle>
            <a:lvl1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203540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ic Level4">
    <p:spTree>
      <p:nvGrpSpPr>
        <p:cNvPr id="1" name=""/>
        <p:cNvGrpSpPr/>
        <p:nvPr/>
      </p:nvGrpSpPr>
      <p:grpSpPr>
        <a:xfrm>
          <a:off x="0" y="0"/>
          <a:ext cx="0" cy="0"/>
          <a:chOff x="0" y="0"/>
          <a:chExt cx="0" cy="0"/>
        </a:xfrm>
      </p:grpSpPr>
      <p:sp>
        <p:nvSpPr>
          <p:cNvPr id="26" name="Rectangle 25"/>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rgbClr val="99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676400"/>
          </a:xfrm>
        </p:spPr>
        <p:txBody>
          <a:bodyPr anchor="b" anchorCtr="0">
            <a:normAutofit/>
          </a:bodyPr>
          <a:lstStyle>
            <a:lvl1pPr marL="0" indent="0" algn="l">
              <a:spcBef>
                <a:spcPts val="600"/>
              </a:spcBef>
              <a:spcAft>
                <a:spcPts val="600"/>
              </a:spcAft>
              <a:buNone/>
              <a:defRPr sz="4400" baseline="0">
                <a:solidFill>
                  <a:srgbClr val="9900FF"/>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609600" y="2286000"/>
            <a:ext cx="8001000" cy="3962400"/>
          </a:xfrm>
        </p:spPr>
        <p:txBody>
          <a:bodyPr/>
          <a:lstStyle>
            <a:lvl1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63130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Level5">
    <p:spTree>
      <p:nvGrpSpPr>
        <p:cNvPr id="1" name=""/>
        <p:cNvGrpSpPr/>
        <p:nvPr/>
      </p:nvGrpSpPr>
      <p:grpSpPr>
        <a:xfrm>
          <a:off x="0" y="0"/>
          <a:ext cx="0" cy="0"/>
          <a:chOff x="0" y="0"/>
          <a:chExt cx="0" cy="0"/>
        </a:xfrm>
      </p:grpSpPr>
      <p:sp>
        <p:nvSpPr>
          <p:cNvPr id="26" name="Rectangle 25"/>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676400"/>
          </a:xfrm>
        </p:spPr>
        <p:txBody>
          <a:bodyPr anchor="b" anchorCtr="0">
            <a:normAutofit/>
          </a:bodyPr>
          <a:lstStyle>
            <a:lvl1pPr marL="0" indent="0" algn="l">
              <a:spcBef>
                <a:spcPts val="600"/>
              </a:spcBef>
              <a:spcAft>
                <a:spcPts val="600"/>
              </a:spcAft>
              <a:buNone/>
              <a:defRPr sz="4400"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609600" y="2286000"/>
            <a:ext cx="8001000" cy="3962400"/>
          </a:xfrm>
        </p:spPr>
        <p:txBody>
          <a:bodyPr/>
          <a:lstStyle>
            <a:lvl1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125662"/>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Slide_Level3">
    <p:spTree>
      <p:nvGrpSpPr>
        <p:cNvPr id="1" name=""/>
        <p:cNvGrpSpPr/>
        <p:nvPr/>
      </p:nvGrpSpPr>
      <p:grpSpPr>
        <a:xfrm>
          <a:off x="0" y="0"/>
          <a:ext cx="0" cy="0"/>
          <a:chOff x="0" y="0"/>
          <a:chExt cx="0" cy="0"/>
        </a:xfrm>
      </p:grpSpPr>
      <p:sp>
        <p:nvSpPr>
          <p:cNvPr id="21" name="Subtitle 2"/>
          <p:cNvSpPr>
            <a:spLocks noGrp="1"/>
          </p:cNvSpPr>
          <p:nvPr>
            <p:ph type="subTitle" idx="1"/>
          </p:nvPr>
        </p:nvSpPr>
        <p:spPr>
          <a:xfrm>
            <a:off x="457200" y="76200"/>
            <a:ext cx="8153399" cy="1447800"/>
          </a:xfrm>
        </p:spPr>
        <p:txBody>
          <a:bodyPr anchor="b" anchorCtr="0">
            <a:normAutofit/>
          </a:bodyPr>
          <a:lstStyle>
            <a:lvl1pPr marL="0" indent="0" algn="l">
              <a:spcBef>
                <a:spcPts val="600"/>
              </a:spcBef>
              <a:spcAft>
                <a:spcPts val="600"/>
              </a:spcAft>
              <a:buNone/>
              <a:defRPr sz="4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457200" y="1828800"/>
            <a:ext cx="8153400" cy="4800600"/>
          </a:xfrm>
        </p:spPr>
        <p:txBody>
          <a:bodyPr/>
          <a:lstStyle>
            <a:lvl1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6764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4594769"/>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Plug It In Title">
    <p:spTree>
      <p:nvGrpSpPr>
        <p:cNvPr id="1" name=""/>
        <p:cNvGrpSpPr/>
        <p:nvPr/>
      </p:nvGrpSpPr>
      <p:grpSpPr>
        <a:xfrm>
          <a:off x="0" y="0"/>
          <a:ext cx="0" cy="0"/>
          <a:chOff x="0" y="0"/>
          <a:chExt cx="0" cy="0"/>
        </a:xfrm>
      </p:grpSpPr>
      <p:pic>
        <p:nvPicPr>
          <p:cNvPr id="22" name="Picture 21"/>
          <p:cNvPicPr>
            <a:picLocks noChangeAspect="1"/>
          </p:cNvPicPr>
          <p:nvPr userDrawn="1"/>
        </p:nvPicPr>
        <p:blipFill rotWithShape="1">
          <a:blip r:embed="rId2">
            <a:extLst>
              <a:ext uri="{28A0092B-C50C-407E-A947-70E740481C1C}">
                <a14:useLocalDpi xmlns:a14="http://schemas.microsoft.com/office/drawing/2010/main" val="0"/>
              </a:ext>
            </a:extLst>
          </a:blip>
          <a:srcRect l="813" t="1641" r="1785"/>
          <a:stretch/>
        </p:blipFill>
        <p:spPr>
          <a:xfrm>
            <a:off x="-1" y="0"/>
            <a:ext cx="9144001" cy="4571999"/>
          </a:xfrm>
          <a:prstGeom prst="rect">
            <a:avLst/>
          </a:prstGeom>
        </p:spPr>
      </p:pic>
      <p:sp>
        <p:nvSpPr>
          <p:cNvPr id="23" name="Rectangle 7"/>
          <p:cNvSpPr/>
          <p:nvPr userDrawn="1"/>
        </p:nvSpPr>
        <p:spPr>
          <a:xfrm>
            <a:off x="-4762" y="1478378"/>
            <a:ext cx="9154254" cy="5387145"/>
          </a:xfrm>
          <a:custGeom>
            <a:avLst/>
            <a:gdLst>
              <a:gd name="connsiteX0" fmla="*/ 0 w 9159175"/>
              <a:gd name="connsiteY0" fmla="*/ 0 h 6841524"/>
              <a:gd name="connsiteX1" fmla="*/ 9159175 w 9159175"/>
              <a:gd name="connsiteY1" fmla="*/ 0 h 6841524"/>
              <a:gd name="connsiteX2" fmla="*/ 9159175 w 9159175"/>
              <a:gd name="connsiteY2" fmla="*/ 6841524 h 6841524"/>
              <a:gd name="connsiteX3" fmla="*/ 0 w 9159175"/>
              <a:gd name="connsiteY3" fmla="*/ 6841524 h 6841524"/>
              <a:gd name="connsiteX4" fmla="*/ 0 w 9159175"/>
              <a:gd name="connsiteY4" fmla="*/ 0 h 6841524"/>
              <a:gd name="connsiteX0" fmla="*/ 0 w 9207301"/>
              <a:gd name="connsiteY0" fmla="*/ 3140242 h 6841524"/>
              <a:gd name="connsiteX1" fmla="*/ 9207301 w 9207301"/>
              <a:gd name="connsiteY1" fmla="*/ 0 h 6841524"/>
              <a:gd name="connsiteX2" fmla="*/ 9207301 w 9207301"/>
              <a:gd name="connsiteY2" fmla="*/ 6841524 h 6841524"/>
              <a:gd name="connsiteX3" fmla="*/ 48126 w 9207301"/>
              <a:gd name="connsiteY3" fmla="*/ 6841524 h 6841524"/>
              <a:gd name="connsiteX4" fmla="*/ 0 w 9207301"/>
              <a:gd name="connsiteY4" fmla="*/ 3140242 h 6841524"/>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140297 h 3841579"/>
              <a:gd name="connsiteX1" fmla="*/ 3985595 w 9219332"/>
              <a:gd name="connsiteY1" fmla="*/ 790002 h 3841579"/>
              <a:gd name="connsiteX2" fmla="*/ 9219332 w 9219332"/>
              <a:gd name="connsiteY2" fmla="*/ 922350 h 3841579"/>
              <a:gd name="connsiteX3" fmla="*/ 9207301 w 9219332"/>
              <a:gd name="connsiteY3" fmla="*/ 3841579 h 3841579"/>
              <a:gd name="connsiteX4" fmla="*/ 48126 w 9219332"/>
              <a:gd name="connsiteY4" fmla="*/ 3841579 h 3841579"/>
              <a:gd name="connsiteX5" fmla="*/ 0 w 9219332"/>
              <a:gd name="connsiteY5" fmla="*/ 140297 h 3841579"/>
              <a:gd name="connsiteX0" fmla="*/ 0 w 9219332"/>
              <a:gd name="connsiteY0" fmla="*/ 1454745 h 5156027"/>
              <a:gd name="connsiteX1" fmla="*/ 2662121 w 9219332"/>
              <a:gd name="connsiteY1" fmla="*/ 10956 h 5156027"/>
              <a:gd name="connsiteX2" fmla="*/ 9219332 w 9219332"/>
              <a:gd name="connsiteY2" fmla="*/ 2236798 h 5156027"/>
              <a:gd name="connsiteX3" fmla="*/ 9207301 w 9219332"/>
              <a:gd name="connsiteY3" fmla="*/ 5156027 h 5156027"/>
              <a:gd name="connsiteX4" fmla="*/ 48126 w 9219332"/>
              <a:gd name="connsiteY4" fmla="*/ 5156027 h 5156027"/>
              <a:gd name="connsiteX5" fmla="*/ 0 w 9219332"/>
              <a:gd name="connsiteY5" fmla="*/ 1454745 h 5156027"/>
              <a:gd name="connsiteX0" fmla="*/ 0 w 9219332"/>
              <a:gd name="connsiteY0" fmla="*/ 1443789 h 5145071"/>
              <a:gd name="connsiteX1" fmla="*/ 2662121 w 9219332"/>
              <a:gd name="connsiteY1" fmla="*/ 0 h 5145071"/>
              <a:gd name="connsiteX2" fmla="*/ 9219332 w 9219332"/>
              <a:gd name="connsiteY2" fmla="*/ 2225842 h 5145071"/>
              <a:gd name="connsiteX3" fmla="*/ 9207301 w 9219332"/>
              <a:gd name="connsiteY3" fmla="*/ 5145071 h 5145071"/>
              <a:gd name="connsiteX4" fmla="*/ 48126 w 9219332"/>
              <a:gd name="connsiteY4" fmla="*/ 5145071 h 5145071"/>
              <a:gd name="connsiteX5" fmla="*/ 0 w 9219332"/>
              <a:gd name="connsiteY5" fmla="*/ 1443789 h 5145071"/>
              <a:gd name="connsiteX0" fmla="*/ 0 w 9219332"/>
              <a:gd name="connsiteY0" fmla="*/ 1449612 h 5150894"/>
              <a:gd name="connsiteX1" fmla="*/ 2662121 w 9219332"/>
              <a:gd name="connsiteY1" fmla="*/ 5823 h 5150894"/>
              <a:gd name="connsiteX2" fmla="*/ 9219332 w 9219332"/>
              <a:gd name="connsiteY2" fmla="*/ 2231665 h 5150894"/>
              <a:gd name="connsiteX3" fmla="*/ 9207301 w 9219332"/>
              <a:gd name="connsiteY3" fmla="*/ 5150894 h 5150894"/>
              <a:gd name="connsiteX4" fmla="*/ 48126 w 9219332"/>
              <a:gd name="connsiteY4" fmla="*/ 5150894 h 5150894"/>
              <a:gd name="connsiteX5" fmla="*/ 0 w 9219332"/>
              <a:gd name="connsiteY5" fmla="*/ 1449612 h 5150894"/>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72999 h 5174281"/>
              <a:gd name="connsiteX1" fmla="*/ 2613995 w 9219332"/>
              <a:gd name="connsiteY1" fmla="*/ 5147 h 5174281"/>
              <a:gd name="connsiteX2" fmla="*/ 6223468 w 9219332"/>
              <a:gd name="connsiteY2" fmla="*/ 2026453 h 5174281"/>
              <a:gd name="connsiteX3" fmla="*/ 9219332 w 9219332"/>
              <a:gd name="connsiteY3" fmla="*/ 2255052 h 5174281"/>
              <a:gd name="connsiteX4" fmla="*/ 9207301 w 9219332"/>
              <a:gd name="connsiteY4" fmla="*/ 5174281 h 5174281"/>
              <a:gd name="connsiteX5" fmla="*/ 48126 w 9219332"/>
              <a:gd name="connsiteY5" fmla="*/ 5174281 h 5174281"/>
              <a:gd name="connsiteX6" fmla="*/ 0 w 9219332"/>
              <a:gd name="connsiteY6" fmla="*/ 1472999 h 5174281"/>
              <a:gd name="connsiteX0" fmla="*/ 0 w 9219332"/>
              <a:gd name="connsiteY0" fmla="*/ 1479523 h 5180805"/>
              <a:gd name="connsiteX1" fmla="*/ 2613995 w 9219332"/>
              <a:gd name="connsiteY1" fmla="*/ 11671 h 5180805"/>
              <a:gd name="connsiteX2" fmla="*/ 6223468 w 9219332"/>
              <a:gd name="connsiteY2" fmla="*/ 2032977 h 5180805"/>
              <a:gd name="connsiteX3" fmla="*/ 9219332 w 9219332"/>
              <a:gd name="connsiteY3" fmla="*/ 2261576 h 5180805"/>
              <a:gd name="connsiteX4" fmla="*/ 9207301 w 9219332"/>
              <a:gd name="connsiteY4" fmla="*/ 5180805 h 5180805"/>
              <a:gd name="connsiteX5" fmla="*/ 48126 w 9219332"/>
              <a:gd name="connsiteY5" fmla="*/ 5180805 h 5180805"/>
              <a:gd name="connsiteX6" fmla="*/ 0 w 9219332"/>
              <a:gd name="connsiteY6" fmla="*/ 1479523 h 5180805"/>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5965 h 5177247"/>
              <a:gd name="connsiteX1" fmla="*/ 2613995 w 9219332"/>
              <a:gd name="connsiteY1" fmla="*/ 8113 h 5177247"/>
              <a:gd name="connsiteX2" fmla="*/ 6223468 w 9219332"/>
              <a:gd name="connsiteY2" fmla="*/ 2029419 h 5177247"/>
              <a:gd name="connsiteX3" fmla="*/ 9219332 w 9219332"/>
              <a:gd name="connsiteY3" fmla="*/ 2258018 h 5177247"/>
              <a:gd name="connsiteX4" fmla="*/ 9207301 w 9219332"/>
              <a:gd name="connsiteY4" fmla="*/ 5177247 h 5177247"/>
              <a:gd name="connsiteX5" fmla="*/ 48126 w 9219332"/>
              <a:gd name="connsiteY5" fmla="*/ 5177247 h 5177247"/>
              <a:gd name="connsiteX6" fmla="*/ 0 w 9219332"/>
              <a:gd name="connsiteY6" fmla="*/ 1475965 h 5177247"/>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68793 h 5170075"/>
              <a:gd name="connsiteX1" fmla="*/ 2613995 w 9219332"/>
              <a:gd name="connsiteY1" fmla="*/ 941 h 5170075"/>
              <a:gd name="connsiteX2" fmla="*/ 6223468 w 9219332"/>
              <a:gd name="connsiteY2" fmla="*/ 2022247 h 5170075"/>
              <a:gd name="connsiteX3" fmla="*/ 9219332 w 9219332"/>
              <a:gd name="connsiteY3" fmla="*/ 2178656 h 5170075"/>
              <a:gd name="connsiteX4" fmla="*/ 9207301 w 9219332"/>
              <a:gd name="connsiteY4" fmla="*/ 5170075 h 5170075"/>
              <a:gd name="connsiteX5" fmla="*/ 48126 w 9219332"/>
              <a:gd name="connsiteY5" fmla="*/ 5170075 h 5170075"/>
              <a:gd name="connsiteX6" fmla="*/ 0 w 9219332"/>
              <a:gd name="connsiteY6" fmla="*/ 1468793 h 5170075"/>
              <a:gd name="connsiteX0" fmla="*/ 0 w 9219332"/>
              <a:gd name="connsiteY0" fmla="*/ 1482160 h 5183442"/>
              <a:gd name="connsiteX1" fmla="*/ 2613995 w 9219332"/>
              <a:gd name="connsiteY1" fmla="*/ 14308 h 5183442"/>
              <a:gd name="connsiteX2" fmla="*/ 6223468 w 9219332"/>
              <a:gd name="connsiteY2" fmla="*/ 2035614 h 5183442"/>
              <a:gd name="connsiteX3" fmla="*/ 9219332 w 9219332"/>
              <a:gd name="connsiteY3" fmla="*/ 2192023 h 5183442"/>
              <a:gd name="connsiteX4" fmla="*/ 9207301 w 9219332"/>
              <a:gd name="connsiteY4" fmla="*/ 5183442 h 5183442"/>
              <a:gd name="connsiteX5" fmla="*/ 48126 w 9219332"/>
              <a:gd name="connsiteY5" fmla="*/ 5183442 h 5183442"/>
              <a:gd name="connsiteX6" fmla="*/ 0 w 9219332"/>
              <a:gd name="connsiteY6" fmla="*/ 1482160 h 5183442"/>
              <a:gd name="connsiteX0" fmla="*/ 0 w 9219332"/>
              <a:gd name="connsiteY0" fmla="*/ 1493749 h 5195031"/>
              <a:gd name="connsiteX1" fmla="*/ 2613995 w 9219332"/>
              <a:gd name="connsiteY1" fmla="*/ 25897 h 5195031"/>
              <a:gd name="connsiteX2" fmla="*/ 6223468 w 9219332"/>
              <a:gd name="connsiteY2" fmla="*/ 2047203 h 5195031"/>
              <a:gd name="connsiteX3" fmla="*/ 9219332 w 9219332"/>
              <a:gd name="connsiteY3" fmla="*/ 2203612 h 5195031"/>
              <a:gd name="connsiteX4" fmla="*/ 9207301 w 9219332"/>
              <a:gd name="connsiteY4" fmla="*/ 5195031 h 5195031"/>
              <a:gd name="connsiteX5" fmla="*/ 48126 w 9219332"/>
              <a:gd name="connsiteY5" fmla="*/ 5195031 h 5195031"/>
              <a:gd name="connsiteX6" fmla="*/ 0 w 9219332"/>
              <a:gd name="connsiteY6" fmla="*/ 1493749 h 5195031"/>
              <a:gd name="connsiteX0" fmla="*/ 0 w 9219332"/>
              <a:gd name="connsiteY0" fmla="*/ 1539121 h 5240403"/>
              <a:gd name="connsiteX1" fmla="*/ 2493679 w 9219332"/>
              <a:gd name="connsiteY1" fmla="*/ 23143 h 5240403"/>
              <a:gd name="connsiteX2" fmla="*/ 6223468 w 9219332"/>
              <a:gd name="connsiteY2" fmla="*/ 2092575 h 5240403"/>
              <a:gd name="connsiteX3" fmla="*/ 9219332 w 9219332"/>
              <a:gd name="connsiteY3" fmla="*/ 2248984 h 5240403"/>
              <a:gd name="connsiteX4" fmla="*/ 9207301 w 9219332"/>
              <a:gd name="connsiteY4" fmla="*/ 5240403 h 5240403"/>
              <a:gd name="connsiteX5" fmla="*/ 48126 w 9219332"/>
              <a:gd name="connsiteY5" fmla="*/ 5240403 h 5240403"/>
              <a:gd name="connsiteX6" fmla="*/ 0 w 9219332"/>
              <a:gd name="connsiteY6" fmla="*/ 1539121 h 5240403"/>
              <a:gd name="connsiteX0" fmla="*/ 0 w 9219332"/>
              <a:gd name="connsiteY0" fmla="*/ 1556620 h 5257902"/>
              <a:gd name="connsiteX1" fmla="*/ 2493679 w 9219332"/>
              <a:gd name="connsiteY1" fmla="*/ 40642 h 5257902"/>
              <a:gd name="connsiteX2" fmla="*/ 6223468 w 9219332"/>
              <a:gd name="connsiteY2" fmla="*/ 2110074 h 5257902"/>
              <a:gd name="connsiteX3" fmla="*/ 9219332 w 9219332"/>
              <a:gd name="connsiteY3" fmla="*/ 2266483 h 5257902"/>
              <a:gd name="connsiteX4" fmla="*/ 9207301 w 9219332"/>
              <a:gd name="connsiteY4" fmla="*/ 5257902 h 5257902"/>
              <a:gd name="connsiteX5" fmla="*/ 48126 w 9219332"/>
              <a:gd name="connsiteY5" fmla="*/ 5257902 h 5257902"/>
              <a:gd name="connsiteX6" fmla="*/ 0 w 9219332"/>
              <a:gd name="connsiteY6" fmla="*/ 1556620 h 5257902"/>
              <a:gd name="connsiteX0" fmla="*/ 0 w 9219332"/>
              <a:gd name="connsiteY0" fmla="*/ 1562740 h 5264022"/>
              <a:gd name="connsiteX1" fmla="*/ 2493679 w 9219332"/>
              <a:gd name="connsiteY1" fmla="*/ 46762 h 5264022"/>
              <a:gd name="connsiteX2" fmla="*/ 6223468 w 9219332"/>
              <a:gd name="connsiteY2" fmla="*/ 2116194 h 5264022"/>
              <a:gd name="connsiteX3" fmla="*/ 9219332 w 9219332"/>
              <a:gd name="connsiteY3" fmla="*/ 2272603 h 5264022"/>
              <a:gd name="connsiteX4" fmla="*/ 9207301 w 9219332"/>
              <a:gd name="connsiteY4" fmla="*/ 5264022 h 5264022"/>
              <a:gd name="connsiteX5" fmla="*/ 48126 w 9219332"/>
              <a:gd name="connsiteY5" fmla="*/ 5264022 h 5264022"/>
              <a:gd name="connsiteX6" fmla="*/ 0 w 9219332"/>
              <a:gd name="connsiteY6" fmla="*/ 1562740 h 5264022"/>
              <a:gd name="connsiteX0" fmla="*/ 0 w 9219332"/>
              <a:gd name="connsiteY0" fmla="*/ 1556621 h 5257903"/>
              <a:gd name="connsiteX1" fmla="*/ 2469615 w 9219332"/>
              <a:gd name="connsiteY1" fmla="*/ 40643 h 5257903"/>
              <a:gd name="connsiteX2" fmla="*/ 6223468 w 9219332"/>
              <a:gd name="connsiteY2" fmla="*/ 2110075 h 5257903"/>
              <a:gd name="connsiteX3" fmla="*/ 9219332 w 9219332"/>
              <a:gd name="connsiteY3" fmla="*/ 2266484 h 5257903"/>
              <a:gd name="connsiteX4" fmla="*/ 9207301 w 9219332"/>
              <a:gd name="connsiteY4" fmla="*/ 5257903 h 5257903"/>
              <a:gd name="connsiteX5" fmla="*/ 48126 w 9219332"/>
              <a:gd name="connsiteY5" fmla="*/ 5257903 h 5257903"/>
              <a:gd name="connsiteX6" fmla="*/ 0 w 9219332"/>
              <a:gd name="connsiteY6" fmla="*/ 1556621 h 5257903"/>
              <a:gd name="connsiteX0" fmla="*/ 0 w 9219332"/>
              <a:gd name="connsiteY0" fmla="*/ 1545248 h 5246530"/>
              <a:gd name="connsiteX1" fmla="*/ 2469615 w 9219332"/>
              <a:gd name="connsiteY1" fmla="*/ 29270 h 5246530"/>
              <a:gd name="connsiteX2" fmla="*/ 6223468 w 9219332"/>
              <a:gd name="connsiteY2" fmla="*/ 2098702 h 5246530"/>
              <a:gd name="connsiteX3" fmla="*/ 9219332 w 9219332"/>
              <a:gd name="connsiteY3" fmla="*/ 2255111 h 5246530"/>
              <a:gd name="connsiteX4" fmla="*/ 9207301 w 9219332"/>
              <a:gd name="connsiteY4" fmla="*/ 5246530 h 5246530"/>
              <a:gd name="connsiteX5" fmla="*/ 48126 w 9219332"/>
              <a:gd name="connsiteY5" fmla="*/ 5246530 h 5246530"/>
              <a:gd name="connsiteX6" fmla="*/ 0 w 9219332"/>
              <a:gd name="connsiteY6" fmla="*/ 1545248 h 5246530"/>
              <a:gd name="connsiteX0" fmla="*/ 0 w 9219332"/>
              <a:gd name="connsiteY0" fmla="*/ 1547962 h 5249244"/>
              <a:gd name="connsiteX1" fmla="*/ 2469615 w 9219332"/>
              <a:gd name="connsiteY1" fmla="*/ 31984 h 5249244"/>
              <a:gd name="connsiteX2" fmla="*/ 6223468 w 9219332"/>
              <a:gd name="connsiteY2" fmla="*/ 2101416 h 5249244"/>
              <a:gd name="connsiteX3" fmla="*/ 9219332 w 9219332"/>
              <a:gd name="connsiteY3" fmla="*/ 2257825 h 5249244"/>
              <a:gd name="connsiteX4" fmla="*/ 9207301 w 9219332"/>
              <a:gd name="connsiteY4" fmla="*/ 5249244 h 5249244"/>
              <a:gd name="connsiteX5" fmla="*/ 48126 w 9219332"/>
              <a:gd name="connsiteY5" fmla="*/ 5249244 h 5249244"/>
              <a:gd name="connsiteX6" fmla="*/ 0 w 9219332"/>
              <a:gd name="connsiteY6" fmla="*/ 1547962 h 5249244"/>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52938 h 5254220"/>
              <a:gd name="connsiteX1" fmla="*/ 2469615 w 9219332"/>
              <a:gd name="connsiteY1" fmla="*/ 36960 h 5254220"/>
              <a:gd name="connsiteX2" fmla="*/ 6223468 w 9219332"/>
              <a:gd name="connsiteY2" fmla="*/ 2046234 h 5254220"/>
              <a:gd name="connsiteX3" fmla="*/ 9219332 w 9219332"/>
              <a:gd name="connsiteY3" fmla="*/ 2262801 h 5254220"/>
              <a:gd name="connsiteX4" fmla="*/ 9207301 w 9219332"/>
              <a:gd name="connsiteY4" fmla="*/ 5254220 h 5254220"/>
              <a:gd name="connsiteX5" fmla="*/ 48126 w 9219332"/>
              <a:gd name="connsiteY5" fmla="*/ 5254220 h 5254220"/>
              <a:gd name="connsiteX6" fmla="*/ 0 w 9219332"/>
              <a:gd name="connsiteY6" fmla="*/ 1552938 h 5254220"/>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53368 h 5254650"/>
              <a:gd name="connsiteX1" fmla="*/ 2469615 w 9243396"/>
              <a:gd name="connsiteY1" fmla="*/ 37390 h 5254650"/>
              <a:gd name="connsiteX2" fmla="*/ 6223468 w 9243396"/>
              <a:gd name="connsiteY2" fmla="*/ 2046664 h 5254650"/>
              <a:gd name="connsiteX3" fmla="*/ 9243396 w 9243396"/>
              <a:gd name="connsiteY3" fmla="*/ 2191042 h 5254650"/>
              <a:gd name="connsiteX4" fmla="*/ 9207301 w 9243396"/>
              <a:gd name="connsiteY4" fmla="*/ 5254650 h 5254650"/>
              <a:gd name="connsiteX5" fmla="*/ 48126 w 9243396"/>
              <a:gd name="connsiteY5" fmla="*/ 5254650 h 5254650"/>
              <a:gd name="connsiteX6" fmla="*/ 0 w 9243396"/>
              <a:gd name="connsiteY6" fmla="*/ 1553368 h 5254650"/>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14369 h 5215651"/>
              <a:gd name="connsiteX1" fmla="*/ 2373363 w 9243396"/>
              <a:gd name="connsiteY1" fmla="*/ 34486 h 5215651"/>
              <a:gd name="connsiteX2" fmla="*/ 6223468 w 9243396"/>
              <a:gd name="connsiteY2" fmla="*/ 2007665 h 5215651"/>
              <a:gd name="connsiteX3" fmla="*/ 9243396 w 9243396"/>
              <a:gd name="connsiteY3" fmla="*/ 2152043 h 5215651"/>
              <a:gd name="connsiteX4" fmla="*/ 9207301 w 9243396"/>
              <a:gd name="connsiteY4" fmla="*/ 5215651 h 5215651"/>
              <a:gd name="connsiteX5" fmla="*/ 48126 w 9243396"/>
              <a:gd name="connsiteY5" fmla="*/ 5215651 h 5215651"/>
              <a:gd name="connsiteX6" fmla="*/ 0 w 9243396"/>
              <a:gd name="connsiteY6" fmla="*/ 1514369 h 5215651"/>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0225 h 5181507"/>
              <a:gd name="connsiteX1" fmla="*/ 2373363 w 9243396"/>
              <a:gd name="connsiteY1" fmla="*/ 342 h 5181507"/>
              <a:gd name="connsiteX2" fmla="*/ 5537669 w 9243396"/>
              <a:gd name="connsiteY2" fmla="*/ 1371942 h 5181507"/>
              <a:gd name="connsiteX3" fmla="*/ 9243396 w 9243396"/>
              <a:gd name="connsiteY3" fmla="*/ 2117899 h 5181507"/>
              <a:gd name="connsiteX4" fmla="*/ 9207301 w 9243396"/>
              <a:gd name="connsiteY4" fmla="*/ 5181507 h 5181507"/>
              <a:gd name="connsiteX5" fmla="*/ 48126 w 9243396"/>
              <a:gd name="connsiteY5" fmla="*/ 5181507 h 5181507"/>
              <a:gd name="connsiteX6" fmla="*/ 0 w 9243396"/>
              <a:gd name="connsiteY6" fmla="*/ 1480225 h 5181507"/>
              <a:gd name="connsiteX0" fmla="*/ 0 w 9243396"/>
              <a:gd name="connsiteY0" fmla="*/ 1480319 h 5181601"/>
              <a:gd name="connsiteX1" fmla="*/ 2373363 w 9243396"/>
              <a:gd name="connsiteY1" fmla="*/ 436 h 5181601"/>
              <a:gd name="connsiteX2" fmla="*/ 5537669 w 9243396"/>
              <a:gd name="connsiteY2" fmla="*/ 1372036 h 5181601"/>
              <a:gd name="connsiteX3" fmla="*/ 9243396 w 9243396"/>
              <a:gd name="connsiteY3" fmla="*/ 2117993 h 5181601"/>
              <a:gd name="connsiteX4" fmla="*/ 9207301 w 9243396"/>
              <a:gd name="connsiteY4" fmla="*/ 5181601 h 5181601"/>
              <a:gd name="connsiteX5" fmla="*/ 48126 w 9243396"/>
              <a:gd name="connsiteY5" fmla="*/ 5181601 h 5181601"/>
              <a:gd name="connsiteX6" fmla="*/ 0 w 9243396"/>
              <a:gd name="connsiteY6" fmla="*/ 1480319 h 5181601"/>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237 h 5181519"/>
              <a:gd name="connsiteX1" fmla="*/ 2373363 w 9231365"/>
              <a:gd name="connsiteY1" fmla="*/ 354 h 5181519"/>
              <a:gd name="connsiteX2" fmla="*/ 5537669 w 9231365"/>
              <a:gd name="connsiteY2" fmla="*/ 1371954 h 5181519"/>
              <a:gd name="connsiteX3" fmla="*/ 9231365 w 9231365"/>
              <a:gd name="connsiteY3" fmla="*/ 1985563 h 5181519"/>
              <a:gd name="connsiteX4" fmla="*/ 9207301 w 9231365"/>
              <a:gd name="connsiteY4" fmla="*/ 5181519 h 5181519"/>
              <a:gd name="connsiteX5" fmla="*/ 48126 w 9231365"/>
              <a:gd name="connsiteY5" fmla="*/ 5181519 h 5181519"/>
              <a:gd name="connsiteX6" fmla="*/ 0 w 9231365"/>
              <a:gd name="connsiteY6" fmla="*/ 1480237 h 5181519"/>
              <a:gd name="connsiteX0" fmla="*/ 0 w 9231365"/>
              <a:gd name="connsiteY0" fmla="*/ 1480660 h 5181942"/>
              <a:gd name="connsiteX1" fmla="*/ 2373363 w 9231365"/>
              <a:gd name="connsiteY1" fmla="*/ 777 h 5181942"/>
              <a:gd name="connsiteX2" fmla="*/ 5537669 w 9231365"/>
              <a:gd name="connsiteY2" fmla="*/ 1324251 h 5181942"/>
              <a:gd name="connsiteX3" fmla="*/ 9231365 w 9231365"/>
              <a:gd name="connsiteY3" fmla="*/ 1985986 h 5181942"/>
              <a:gd name="connsiteX4" fmla="*/ 9207301 w 9231365"/>
              <a:gd name="connsiteY4" fmla="*/ 5181942 h 5181942"/>
              <a:gd name="connsiteX5" fmla="*/ 48126 w 9231365"/>
              <a:gd name="connsiteY5" fmla="*/ 5181942 h 5181942"/>
              <a:gd name="connsiteX6" fmla="*/ 0 w 9231365"/>
              <a:gd name="connsiteY6" fmla="*/ 1480660 h 5181942"/>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4814 h 5186096"/>
              <a:gd name="connsiteX1" fmla="*/ 2373363 w 9231365"/>
              <a:gd name="connsiteY1" fmla="*/ 4931 h 5186096"/>
              <a:gd name="connsiteX2" fmla="*/ 5537669 w 9231365"/>
              <a:gd name="connsiteY2" fmla="*/ 1328405 h 5186096"/>
              <a:gd name="connsiteX3" fmla="*/ 9231365 w 9231365"/>
              <a:gd name="connsiteY3" fmla="*/ 1990140 h 5186096"/>
              <a:gd name="connsiteX4" fmla="*/ 9207301 w 9231365"/>
              <a:gd name="connsiteY4" fmla="*/ 5186096 h 5186096"/>
              <a:gd name="connsiteX5" fmla="*/ 48126 w 9231365"/>
              <a:gd name="connsiteY5" fmla="*/ 5186096 h 5186096"/>
              <a:gd name="connsiteX6" fmla="*/ 0 w 9231365"/>
              <a:gd name="connsiteY6" fmla="*/ 1484814 h 5186096"/>
              <a:gd name="connsiteX0" fmla="*/ 0 w 9231365"/>
              <a:gd name="connsiteY0" fmla="*/ 1519567 h 5220849"/>
              <a:gd name="connsiteX1" fmla="*/ 2662121 w 9231365"/>
              <a:gd name="connsiteY1" fmla="*/ 3589 h 5220849"/>
              <a:gd name="connsiteX2" fmla="*/ 5537669 w 9231365"/>
              <a:gd name="connsiteY2" fmla="*/ 1363158 h 5220849"/>
              <a:gd name="connsiteX3" fmla="*/ 9231365 w 9231365"/>
              <a:gd name="connsiteY3" fmla="*/ 2024893 h 5220849"/>
              <a:gd name="connsiteX4" fmla="*/ 9207301 w 9231365"/>
              <a:gd name="connsiteY4" fmla="*/ 5220849 h 5220849"/>
              <a:gd name="connsiteX5" fmla="*/ 48126 w 9231365"/>
              <a:gd name="connsiteY5" fmla="*/ 5220849 h 5220849"/>
              <a:gd name="connsiteX6" fmla="*/ 0 w 9231365"/>
              <a:gd name="connsiteY6" fmla="*/ 1519567 h 5220849"/>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94 h 5217292"/>
              <a:gd name="connsiteX1" fmla="*/ 2662121 w 9231365"/>
              <a:gd name="connsiteY1" fmla="*/ 32 h 5217292"/>
              <a:gd name="connsiteX2" fmla="*/ 5537669 w 9231365"/>
              <a:gd name="connsiteY2" fmla="*/ 1359601 h 5217292"/>
              <a:gd name="connsiteX3" fmla="*/ 9231365 w 9231365"/>
              <a:gd name="connsiteY3" fmla="*/ 2021336 h 5217292"/>
              <a:gd name="connsiteX4" fmla="*/ 9207301 w 9231365"/>
              <a:gd name="connsiteY4" fmla="*/ 5217292 h 5217292"/>
              <a:gd name="connsiteX5" fmla="*/ 48126 w 9231365"/>
              <a:gd name="connsiteY5" fmla="*/ 5217292 h 5217292"/>
              <a:gd name="connsiteX6" fmla="*/ 0 w 9231365"/>
              <a:gd name="connsiteY6" fmla="*/ 1395694 h 5217292"/>
              <a:gd name="connsiteX0" fmla="*/ 0 w 9231365"/>
              <a:gd name="connsiteY0" fmla="*/ 1395697 h 5217295"/>
              <a:gd name="connsiteX1" fmla="*/ 2662121 w 9231365"/>
              <a:gd name="connsiteY1" fmla="*/ 35 h 5217295"/>
              <a:gd name="connsiteX2" fmla="*/ 5537669 w 9231365"/>
              <a:gd name="connsiteY2" fmla="*/ 1359604 h 5217295"/>
              <a:gd name="connsiteX3" fmla="*/ 9231365 w 9231365"/>
              <a:gd name="connsiteY3" fmla="*/ 2021339 h 5217295"/>
              <a:gd name="connsiteX4" fmla="*/ 9207301 w 9231365"/>
              <a:gd name="connsiteY4" fmla="*/ 5217295 h 5217295"/>
              <a:gd name="connsiteX5" fmla="*/ 48126 w 9231365"/>
              <a:gd name="connsiteY5" fmla="*/ 5217295 h 5217295"/>
              <a:gd name="connsiteX6" fmla="*/ 0 w 9231365"/>
              <a:gd name="connsiteY6" fmla="*/ 1395697 h 5217295"/>
              <a:gd name="connsiteX0" fmla="*/ 0 w 9231365"/>
              <a:gd name="connsiteY0" fmla="*/ 1399409 h 5221007"/>
              <a:gd name="connsiteX1" fmla="*/ 2662121 w 9231365"/>
              <a:gd name="connsiteY1" fmla="*/ 3747 h 5221007"/>
              <a:gd name="connsiteX2" fmla="*/ 5537669 w 9231365"/>
              <a:gd name="connsiteY2" fmla="*/ 1363316 h 5221007"/>
              <a:gd name="connsiteX3" fmla="*/ 9231365 w 9231365"/>
              <a:gd name="connsiteY3" fmla="*/ 2025051 h 5221007"/>
              <a:gd name="connsiteX4" fmla="*/ 9207301 w 9231365"/>
              <a:gd name="connsiteY4" fmla="*/ 5221007 h 5221007"/>
              <a:gd name="connsiteX5" fmla="*/ 48126 w 9231365"/>
              <a:gd name="connsiteY5" fmla="*/ 5221007 h 5221007"/>
              <a:gd name="connsiteX6" fmla="*/ 0 w 9231365"/>
              <a:gd name="connsiteY6" fmla="*/ 1399409 h 5221007"/>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8527 h 5220125"/>
              <a:gd name="connsiteX1" fmla="*/ 2662121 w 9231365"/>
              <a:gd name="connsiteY1" fmla="*/ 2865 h 5220125"/>
              <a:gd name="connsiteX2" fmla="*/ 5537669 w 9231365"/>
              <a:gd name="connsiteY2" fmla="*/ 1362434 h 5220125"/>
              <a:gd name="connsiteX3" fmla="*/ 9231365 w 9231365"/>
              <a:gd name="connsiteY3" fmla="*/ 1964012 h 5220125"/>
              <a:gd name="connsiteX4" fmla="*/ 9207301 w 9231365"/>
              <a:gd name="connsiteY4" fmla="*/ 5220125 h 5220125"/>
              <a:gd name="connsiteX5" fmla="*/ 48126 w 9231365"/>
              <a:gd name="connsiteY5" fmla="*/ 5220125 h 5220125"/>
              <a:gd name="connsiteX6" fmla="*/ 0 w 9231365"/>
              <a:gd name="connsiteY6" fmla="*/ 1398527 h 5220125"/>
              <a:gd name="connsiteX0" fmla="*/ 0 w 9231365"/>
              <a:gd name="connsiteY0" fmla="*/ 1399319 h 5220917"/>
              <a:gd name="connsiteX1" fmla="*/ 2662121 w 9231365"/>
              <a:gd name="connsiteY1" fmla="*/ 3657 h 5220917"/>
              <a:gd name="connsiteX2" fmla="*/ 5537669 w 9231365"/>
              <a:gd name="connsiteY2" fmla="*/ 1363226 h 5220917"/>
              <a:gd name="connsiteX3" fmla="*/ 9231365 w 9231365"/>
              <a:gd name="connsiteY3" fmla="*/ 1964804 h 5220917"/>
              <a:gd name="connsiteX4" fmla="*/ 9207301 w 9231365"/>
              <a:gd name="connsiteY4" fmla="*/ 5220917 h 5220917"/>
              <a:gd name="connsiteX5" fmla="*/ 48126 w 9231365"/>
              <a:gd name="connsiteY5" fmla="*/ 5220917 h 5220917"/>
              <a:gd name="connsiteX6" fmla="*/ 0 w 9231365"/>
              <a:gd name="connsiteY6" fmla="*/ 1399319 h 5220917"/>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688 h 5221286"/>
              <a:gd name="connsiteX1" fmla="*/ 2662121 w 9231365"/>
              <a:gd name="connsiteY1" fmla="*/ 4026 h 5221286"/>
              <a:gd name="connsiteX2" fmla="*/ 5537669 w 9231365"/>
              <a:gd name="connsiteY2" fmla="*/ 1363595 h 5221286"/>
              <a:gd name="connsiteX3" fmla="*/ 9231365 w 9231365"/>
              <a:gd name="connsiteY3" fmla="*/ 1965173 h 5221286"/>
              <a:gd name="connsiteX4" fmla="*/ 9207301 w 9231365"/>
              <a:gd name="connsiteY4" fmla="*/ 5221286 h 5221286"/>
              <a:gd name="connsiteX5" fmla="*/ 48126 w 9231365"/>
              <a:gd name="connsiteY5" fmla="*/ 5221286 h 5221286"/>
              <a:gd name="connsiteX6" fmla="*/ 0 w 9231365"/>
              <a:gd name="connsiteY6" fmla="*/ 1399688 h 5221286"/>
              <a:gd name="connsiteX0" fmla="*/ 0 w 9219333"/>
              <a:gd name="connsiteY0" fmla="*/ 1215923 h 5217995"/>
              <a:gd name="connsiteX1" fmla="*/ 2650089 w 9219333"/>
              <a:gd name="connsiteY1" fmla="*/ 735 h 5217995"/>
              <a:gd name="connsiteX2" fmla="*/ 5525637 w 9219333"/>
              <a:gd name="connsiteY2" fmla="*/ 1360304 h 5217995"/>
              <a:gd name="connsiteX3" fmla="*/ 9219333 w 9219333"/>
              <a:gd name="connsiteY3" fmla="*/ 1961882 h 5217995"/>
              <a:gd name="connsiteX4" fmla="*/ 9195269 w 9219333"/>
              <a:gd name="connsiteY4" fmla="*/ 5217995 h 5217995"/>
              <a:gd name="connsiteX5" fmla="*/ 36094 w 9219333"/>
              <a:gd name="connsiteY5" fmla="*/ 5217995 h 5217995"/>
              <a:gd name="connsiteX6" fmla="*/ 0 w 9219333"/>
              <a:gd name="connsiteY6" fmla="*/ 1215923 h 5217995"/>
              <a:gd name="connsiteX0" fmla="*/ 0 w 9219333"/>
              <a:gd name="connsiteY0" fmla="*/ 1396225 h 5398297"/>
              <a:gd name="connsiteX1" fmla="*/ 2674153 w 9219333"/>
              <a:gd name="connsiteY1" fmla="*/ 563 h 5398297"/>
              <a:gd name="connsiteX2" fmla="*/ 5525637 w 9219333"/>
              <a:gd name="connsiteY2" fmla="*/ 1540606 h 5398297"/>
              <a:gd name="connsiteX3" fmla="*/ 9219333 w 9219333"/>
              <a:gd name="connsiteY3" fmla="*/ 2142184 h 5398297"/>
              <a:gd name="connsiteX4" fmla="*/ 9195269 w 9219333"/>
              <a:gd name="connsiteY4" fmla="*/ 5398297 h 5398297"/>
              <a:gd name="connsiteX5" fmla="*/ 36094 w 9219333"/>
              <a:gd name="connsiteY5" fmla="*/ 5398297 h 5398297"/>
              <a:gd name="connsiteX6" fmla="*/ 0 w 9219333"/>
              <a:gd name="connsiteY6" fmla="*/ 1396225 h 539829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141624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009276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6 h 5397738"/>
              <a:gd name="connsiteX1" fmla="*/ 2674153 w 9219333"/>
              <a:gd name="connsiteY1" fmla="*/ 4 h 5397738"/>
              <a:gd name="connsiteX2" fmla="*/ 5585795 w 9219333"/>
              <a:gd name="connsiteY2" fmla="*/ 1383637 h 5397738"/>
              <a:gd name="connsiteX3" fmla="*/ 9219333 w 9219333"/>
              <a:gd name="connsiteY3" fmla="*/ 2009277 h 5397738"/>
              <a:gd name="connsiteX4" fmla="*/ 9195269 w 9219333"/>
              <a:gd name="connsiteY4" fmla="*/ 5397738 h 5397738"/>
              <a:gd name="connsiteX5" fmla="*/ 36094 w 9219333"/>
              <a:gd name="connsiteY5" fmla="*/ 5397738 h 5397738"/>
              <a:gd name="connsiteX6" fmla="*/ 0 w 9219333"/>
              <a:gd name="connsiteY6" fmla="*/ 1395666 h 5397738"/>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36094 w 9219333"/>
              <a:gd name="connsiteY5" fmla="*/ 5402259 h 5402259"/>
              <a:gd name="connsiteX6" fmla="*/ 0 w 9219333"/>
              <a:gd name="connsiteY6" fmla="*/ 1400187 h 5402259"/>
              <a:gd name="connsiteX0" fmla="*/ 10488 w 9229821"/>
              <a:gd name="connsiteY0" fmla="*/ 1400187 h 5426411"/>
              <a:gd name="connsiteX1" fmla="*/ 2684641 w 9229821"/>
              <a:gd name="connsiteY1" fmla="*/ 4525 h 5426411"/>
              <a:gd name="connsiteX2" fmla="*/ 5596283 w 9229821"/>
              <a:gd name="connsiteY2" fmla="*/ 1388158 h 5426411"/>
              <a:gd name="connsiteX3" fmla="*/ 9229821 w 9229821"/>
              <a:gd name="connsiteY3" fmla="*/ 1965672 h 5426411"/>
              <a:gd name="connsiteX4" fmla="*/ 9205757 w 9229821"/>
              <a:gd name="connsiteY4" fmla="*/ 5402259 h 5426411"/>
              <a:gd name="connsiteX5" fmla="*/ 0 w 9229821"/>
              <a:gd name="connsiteY5" fmla="*/ 5426411 h 5426411"/>
              <a:gd name="connsiteX6" fmla="*/ 10488 w 9229821"/>
              <a:gd name="connsiteY6" fmla="*/ 1400187 h 5426411"/>
              <a:gd name="connsiteX0" fmla="*/ 0 w 9219333"/>
              <a:gd name="connsiteY0" fmla="*/ 1400187 h 5426411"/>
              <a:gd name="connsiteX1" fmla="*/ 2674153 w 9219333"/>
              <a:gd name="connsiteY1" fmla="*/ 4525 h 5426411"/>
              <a:gd name="connsiteX2" fmla="*/ 5585795 w 9219333"/>
              <a:gd name="connsiteY2" fmla="*/ 1388158 h 5426411"/>
              <a:gd name="connsiteX3" fmla="*/ 9219333 w 9219333"/>
              <a:gd name="connsiteY3" fmla="*/ 1965672 h 5426411"/>
              <a:gd name="connsiteX4" fmla="*/ 9195269 w 9219333"/>
              <a:gd name="connsiteY4" fmla="*/ 5402259 h 5426411"/>
              <a:gd name="connsiteX5" fmla="*/ 12803 w 9219333"/>
              <a:gd name="connsiteY5" fmla="*/ 5426411 h 5426411"/>
              <a:gd name="connsiteX6" fmla="*/ 0 w 9219333"/>
              <a:gd name="connsiteY6" fmla="*/ 1400187 h 5426411"/>
              <a:gd name="connsiteX0" fmla="*/ 11116 w 9230449"/>
              <a:gd name="connsiteY0" fmla="*/ 1400187 h 5426411"/>
              <a:gd name="connsiteX1" fmla="*/ 2685269 w 9230449"/>
              <a:gd name="connsiteY1" fmla="*/ 4525 h 5426411"/>
              <a:gd name="connsiteX2" fmla="*/ 5596911 w 9230449"/>
              <a:gd name="connsiteY2" fmla="*/ 1388158 h 5426411"/>
              <a:gd name="connsiteX3" fmla="*/ 9230449 w 9230449"/>
              <a:gd name="connsiteY3" fmla="*/ 1965672 h 5426411"/>
              <a:gd name="connsiteX4" fmla="*/ 9206385 w 9230449"/>
              <a:gd name="connsiteY4" fmla="*/ 5402259 h 5426411"/>
              <a:gd name="connsiteX5" fmla="*/ 628 w 9230449"/>
              <a:gd name="connsiteY5" fmla="*/ 5426411 h 5426411"/>
              <a:gd name="connsiteX6" fmla="*/ 11116 w 9230449"/>
              <a:gd name="connsiteY6" fmla="*/ 1400187 h 5426411"/>
              <a:gd name="connsiteX0" fmla="*/ 225 w 9219558"/>
              <a:gd name="connsiteY0" fmla="*/ 1400187 h 5438486"/>
              <a:gd name="connsiteX1" fmla="*/ 2674378 w 9219558"/>
              <a:gd name="connsiteY1" fmla="*/ 4525 h 5438486"/>
              <a:gd name="connsiteX2" fmla="*/ 5586020 w 9219558"/>
              <a:gd name="connsiteY2" fmla="*/ 1388158 h 5438486"/>
              <a:gd name="connsiteX3" fmla="*/ 9219558 w 9219558"/>
              <a:gd name="connsiteY3" fmla="*/ 1965672 h 5438486"/>
              <a:gd name="connsiteX4" fmla="*/ 9195494 w 9219558"/>
              <a:gd name="connsiteY4" fmla="*/ 5402259 h 5438486"/>
              <a:gd name="connsiteX5" fmla="*/ 1383 w 9219558"/>
              <a:gd name="connsiteY5" fmla="*/ 5438486 h 5438486"/>
              <a:gd name="connsiteX6" fmla="*/ 225 w 9219558"/>
              <a:gd name="connsiteY6" fmla="*/ 1400187 h 5438486"/>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58781 w 9219333"/>
              <a:gd name="connsiteY5" fmla="*/ 5371568 h 5402259"/>
              <a:gd name="connsiteX6" fmla="*/ 0 w 9219333"/>
              <a:gd name="connsiteY6" fmla="*/ 1400187 h 5402259"/>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199834 w 9223898"/>
              <a:gd name="connsiteY4" fmla="*/ 5402259 h 5409807"/>
              <a:gd name="connsiteX5" fmla="*/ 921 w 9223898"/>
              <a:gd name="connsiteY5" fmla="*/ 5409807 h 5409807"/>
              <a:gd name="connsiteX6" fmla="*/ 4565 w 9223898"/>
              <a:gd name="connsiteY6" fmla="*/ 1400187 h 5409807"/>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079788 w 9223898"/>
              <a:gd name="connsiteY4" fmla="*/ 5254083 h 5409807"/>
              <a:gd name="connsiteX5" fmla="*/ 921 w 9223898"/>
              <a:gd name="connsiteY5" fmla="*/ 5409807 h 5409807"/>
              <a:gd name="connsiteX6" fmla="*/ 4565 w 9223898"/>
              <a:gd name="connsiteY6" fmla="*/ 1400187 h 5409807"/>
              <a:gd name="connsiteX0" fmla="*/ 4565 w 9229434"/>
              <a:gd name="connsiteY0" fmla="*/ 1400187 h 5409807"/>
              <a:gd name="connsiteX1" fmla="*/ 2678718 w 9229434"/>
              <a:gd name="connsiteY1" fmla="*/ 4525 h 5409807"/>
              <a:gd name="connsiteX2" fmla="*/ 5590360 w 9229434"/>
              <a:gd name="connsiteY2" fmla="*/ 1388158 h 5409807"/>
              <a:gd name="connsiteX3" fmla="*/ 9223898 w 9229434"/>
              <a:gd name="connsiteY3" fmla="*/ 1965672 h 5409807"/>
              <a:gd name="connsiteX4" fmla="*/ 9228645 w 9229434"/>
              <a:gd name="connsiteY4" fmla="*/ 5407039 h 5409807"/>
              <a:gd name="connsiteX5" fmla="*/ 921 w 9229434"/>
              <a:gd name="connsiteY5" fmla="*/ 5409807 h 5409807"/>
              <a:gd name="connsiteX6" fmla="*/ 4565 w 9229434"/>
              <a:gd name="connsiteY6" fmla="*/ 1400187 h 5409807"/>
              <a:gd name="connsiteX0" fmla="*/ 4565 w 9229434"/>
              <a:gd name="connsiteY0" fmla="*/ 1399152 h 5408772"/>
              <a:gd name="connsiteX1" fmla="*/ 2678718 w 9229434"/>
              <a:gd name="connsiteY1" fmla="*/ 3490 h 5408772"/>
              <a:gd name="connsiteX2" fmla="*/ 5590360 w 9229434"/>
              <a:gd name="connsiteY2" fmla="*/ 1387123 h 5408772"/>
              <a:gd name="connsiteX3" fmla="*/ 9223898 w 9229434"/>
              <a:gd name="connsiteY3" fmla="*/ 1969416 h 5408772"/>
              <a:gd name="connsiteX4" fmla="*/ 9228645 w 9229434"/>
              <a:gd name="connsiteY4" fmla="*/ 5406004 h 5408772"/>
              <a:gd name="connsiteX5" fmla="*/ 921 w 9229434"/>
              <a:gd name="connsiteY5" fmla="*/ 5408772 h 5408772"/>
              <a:gd name="connsiteX6" fmla="*/ 4565 w 9229434"/>
              <a:gd name="connsiteY6" fmla="*/ 1399152 h 5408772"/>
              <a:gd name="connsiteX0" fmla="*/ 224 w 9229895"/>
              <a:gd name="connsiteY0" fmla="*/ 1400449 h 5405288"/>
              <a:gd name="connsiteX1" fmla="*/ 2679179 w 9229895"/>
              <a:gd name="connsiteY1" fmla="*/ 6 h 5405288"/>
              <a:gd name="connsiteX2" fmla="*/ 5590821 w 9229895"/>
              <a:gd name="connsiteY2" fmla="*/ 1383639 h 5405288"/>
              <a:gd name="connsiteX3" fmla="*/ 9224359 w 9229895"/>
              <a:gd name="connsiteY3" fmla="*/ 1965932 h 5405288"/>
              <a:gd name="connsiteX4" fmla="*/ 9229106 w 9229895"/>
              <a:gd name="connsiteY4" fmla="*/ 5402520 h 5405288"/>
              <a:gd name="connsiteX5" fmla="*/ 1382 w 9229895"/>
              <a:gd name="connsiteY5" fmla="*/ 5405288 h 5405288"/>
              <a:gd name="connsiteX6" fmla="*/ 224 w 9229895"/>
              <a:gd name="connsiteY6" fmla="*/ 1400449 h 5405288"/>
              <a:gd name="connsiteX0" fmla="*/ 157384 w 9228594"/>
              <a:gd name="connsiteY0" fmla="*/ 1371769 h 5405287"/>
              <a:gd name="connsiteX1" fmla="*/ 2677878 w 9228594"/>
              <a:gd name="connsiteY1" fmla="*/ 5 h 5405287"/>
              <a:gd name="connsiteX2" fmla="*/ 5589520 w 9228594"/>
              <a:gd name="connsiteY2" fmla="*/ 1383638 h 5405287"/>
              <a:gd name="connsiteX3" fmla="*/ 9223058 w 9228594"/>
              <a:gd name="connsiteY3" fmla="*/ 1965931 h 5405287"/>
              <a:gd name="connsiteX4" fmla="*/ 9227805 w 9228594"/>
              <a:gd name="connsiteY4" fmla="*/ 5402519 h 5405287"/>
              <a:gd name="connsiteX5" fmla="*/ 81 w 9228594"/>
              <a:gd name="connsiteY5" fmla="*/ 5405287 h 5405287"/>
              <a:gd name="connsiteX6" fmla="*/ 157384 w 9228594"/>
              <a:gd name="connsiteY6" fmla="*/ 1371769 h 5405287"/>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3702 h 5406780"/>
              <a:gd name="connsiteX1" fmla="*/ 2679179 w 9229895"/>
              <a:gd name="connsiteY1" fmla="*/ 1498 h 5406780"/>
              <a:gd name="connsiteX2" fmla="*/ 5590821 w 9229895"/>
              <a:gd name="connsiteY2" fmla="*/ 1385131 h 5406780"/>
              <a:gd name="connsiteX3" fmla="*/ 9224359 w 9229895"/>
              <a:gd name="connsiteY3" fmla="*/ 1967424 h 5406780"/>
              <a:gd name="connsiteX4" fmla="*/ 9229106 w 9229895"/>
              <a:gd name="connsiteY4" fmla="*/ 5404012 h 5406780"/>
              <a:gd name="connsiteX5" fmla="*/ 1382 w 9229895"/>
              <a:gd name="connsiteY5" fmla="*/ 5406780 h 5406780"/>
              <a:gd name="connsiteX6" fmla="*/ 223 w 9229895"/>
              <a:gd name="connsiteY6" fmla="*/ 1363702 h 540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29895" h="5406780">
                <a:moveTo>
                  <a:pt x="223" y="1363702"/>
                </a:moveTo>
                <a:cubicBezTo>
                  <a:pt x="776784" y="694686"/>
                  <a:pt x="1565447" y="46228"/>
                  <a:pt x="2679179" y="1498"/>
                </a:cubicBezTo>
                <a:cubicBezTo>
                  <a:pt x="3792911" y="-43232"/>
                  <a:pt x="4924544" y="924647"/>
                  <a:pt x="5590821" y="1385131"/>
                </a:cubicBezTo>
                <a:cubicBezTo>
                  <a:pt x="6257098" y="1845615"/>
                  <a:pt x="7574028" y="2886575"/>
                  <a:pt x="9224359" y="1967424"/>
                </a:cubicBezTo>
                <a:cubicBezTo>
                  <a:pt x="9220349" y="2940500"/>
                  <a:pt x="9233116" y="4430936"/>
                  <a:pt x="9229106" y="5404012"/>
                </a:cubicBezTo>
                <a:lnTo>
                  <a:pt x="1382" y="5406780"/>
                </a:lnTo>
                <a:cubicBezTo>
                  <a:pt x="-2886" y="4064705"/>
                  <a:pt x="4491" y="2705777"/>
                  <a:pt x="223" y="1363702"/>
                </a:cubicBezTo>
                <a:close/>
              </a:path>
            </a:pathLst>
          </a:custGeom>
          <a:gradFill flip="none" rotWithShape="1">
            <a:gsLst>
              <a:gs pos="0">
                <a:schemeClr val="bg1">
                  <a:lumMod val="85000"/>
                </a:schemeClr>
              </a:gs>
              <a:gs pos="29000">
                <a:srgbClr val="F3F3F3"/>
              </a:gs>
              <a:gs pos="82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13" name="Text Placeholder 12"/>
          <p:cNvSpPr>
            <a:spLocks noGrp="1"/>
          </p:cNvSpPr>
          <p:nvPr>
            <p:ph type="body" sz="quarter" idx="13" hasCustomPrompt="1"/>
          </p:nvPr>
        </p:nvSpPr>
        <p:spPr>
          <a:xfrm>
            <a:off x="2743199" y="1828800"/>
            <a:ext cx="2057401" cy="1752600"/>
          </a:xfrm>
        </p:spPr>
        <p:txBody>
          <a:bodyPr anchor="ctr" anchorCtr="0">
            <a:noAutofit/>
          </a:bodyPr>
          <a:lstStyle>
            <a:lvl1pPr marL="0" indent="0" algn="ctr">
              <a:buFontTx/>
              <a:buNone/>
              <a:defRPr sz="11500" b="0" i="0" baseline="0">
                <a:solidFill>
                  <a:srgbClr val="A0B94F"/>
                </a:solidFill>
                <a:effectLst/>
                <a:latin typeface="Adobe Fan Heiti Std B" pitchFamily="34" charset="-128"/>
                <a:ea typeface="Adobe Fan Heiti Std B" pitchFamily="34" charset="-128"/>
              </a:defRPr>
            </a:lvl1pPr>
          </a:lstStyle>
          <a:p>
            <a:pPr lvl="0"/>
            <a:r>
              <a:rPr lang="en-US" dirty="0" smtClean="0"/>
              <a:t>1</a:t>
            </a:r>
            <a:endParaRPr lang="en-US" dirty="0"/>
          </a:p>
        </p:txBody>
      </p:sp>
      <p:sp>
        <p:nvSpPr>
          <p:cNvPr id="11" name="Subtitle 2"/>
          <p:cNvSpPr txBox="1">
            <a:spLocks/>
          </p:cNvSpPr>
          <p:nvPr userDrawn="1"/>
        </p:nvSpPr>
        <p:spPr>
          <a:xfrm>
            <a:off x="457200" y="2209800"/>
            <a:ext cx="2971800" cy="1066800"/>
          </a:xfrm>
          <a:prstGeom prst="rect">
            <a:avLst/>
          </a:prstGeom>
          <a:noFill/>
        </p:spPr>
        <p:txBody>
          <a:bodyPr vert="horz" lIns="91440" tIns="45720" rIns="91440" bIns="45720" rtlCol="0">
            <a:normAutofit/>
          </a:bodyPr>
          <a:lstStyle>
            <a:lvl1pPr marL="0" indent="0" algn="l" defTabSz="914400" rtl="0" eaLnBrk="1" latinLnBrk="0" hangingPunct="1">
              <a:lnSpc>
                <a:spcPts val="6800"/>
              </a:lnSpc>
              <a:spcBef>
                <a:spcPts val="600"/>
              </a:spcBef>
              <a:spcAft>
                <a:spcPts val="600"/>
              </a:spcAft>
              <a:buFont typeface="Arial" pitchFamily="34" charset="0"/>
              <a:buNone/>
              <a:defRPr sz="6600" kern="1200" baseline="0">
                <a:solidFill>
                  <a:schemeClr val="accent6">
                    <a:lumMod val="75000"/>
                  </a:schemeClr>
                </a:solidFill>
                <a:latin typeface="Verdana" panose="020B0604030504040204" pitchFamily="34" charset="0"/>
                <a:ea typeface="Verdana" panose="020B0604030504040204" pitchFamily="34" charset="0"/>
                <a:cs typeface="Verdana" panose="020B0604030504040204"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3600" dirty="0" smtClean="0">
                <a:solidFill>
                  <a:schemeClr val="bg1">
                    <a:lumMod val="50000"/>
                  </a:schemeClr>
                </a:solidFill>
              </a:rPr>
              <a:t>PLUG</a:t>
            </a:r>
            <a:r>
              <a:rPr lang="en-US" sz="3600" baseline="0" dirty="0" smtClean="0">
                <a:solidFill>
                  <a:schemeClr val="bg1">
                    <a:lumMod val="50000"/>
                  </a:schemeClr>
                </a:solidFill>
              </a:rPr>
              <a:t> IT IN</a:t>
            </a:r>
            <a:endParaRPr lang="en-US" sz="3600" dirty="0">
              <a:solidFill>
                <a:schemeClr val="bg1">
                  <a:lumMod val="50000"/>
                </a:schemeClr>
              </a:solidFill>
            </a:endParaRPr>
          </a:p>
        </p:txBody>
      </p:sp>
      <p:cxnSp>
        <p:nvCxnSpPr>
          <p:cNvPr id="14" name="Straight Connector 13"/>
          <p:cNvCxnSpPr/>
          <p:nvPr userDrawn="1"/>
        </p:nvCxnSpPr>
        <p:spPr>
          <a:xfrm flipH="1">
            <a:off x="3200400" y="3429000"/>
            <a:ext cx="1143000"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Subtitle 2"/>
          <p:cNvSpPr>
            <a:spLocks noGrp="1"/>
          </p:cNvSpPr>
          <p:nvPr>
            <p:ph type="subTitle" idx="1" hasCustomPrompt="1"/>
          </p:nvPr>
        </p:nvSpPr>
        <p:spPr>
          <a:xfrm>
            <a:off x="609600" y="3886200"/>
            <a:ext cx="8382000" cy="2819400"/>
          </a:xfrm>
        </p:spPr>
        <p:txBody>
          <a:bodyPr>
            <a:normAutofit/>
          </a:bodyPr>
          <a:lstStyle>
            <a:lvl1pPr marL="0" indent="0" algn="l">
              <a:lnSpc>
                <a:spcPts val="6000"/>
              </a:lnSpc>
              <a:spcBef>
                <a:spcPts val="600"/>
              </a:spcBef>
              <a:spcAft>
                <a:spcPts val="600"/>
              </a:spcAft>
              <a:buNone/>
              <a:defRPr sz="7200" baseline="0">
                <a:solidFill>
                  <a:srgbClr val="D74B13"/>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Enter Chapter Title</a:t>
            </a:r>
            <a:endParaRPr lang="en-US" dirty="0"/>
          </a:p>
        </p:txBody>
      </p:sp>
    </p:spTree>
    <p:extLst>
      <p:ext uri="{BB962C8B-B14F-4D97-AF65-F5344CB8AC3E}">
        <p14:creationId xmlns:p14="http://schemas.microsoft.com/office/powerpoint/2010/main" val="4151629066"/>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_Topic Level2">
    <p:spTree>
      <p:nvGrpSpPr>
        <p:cNvPr id="1" name=""/>
        <p:cNvGrpSpPr/>
        <p:nvPr/>
      </p:nvGrpSpPr>
      <p:grpSpPr>
        <a:xfrm>
          <a:off x="0" y="0"/>
          <a:ext cx="0" cy="0"/>
          <a:chOff x="0" y="0"/>
          <a:chExt cx="0" cy="0"/>
        </a:xfrm>
      </p:grpSpPr>
      <p:sp>
        <p:nvSpPr>
          <p:cNvPr id="13" name="Rectangle 12"/>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2057400" y="304800"/>
            <a:ext cx="6553199" cy="1676400"/>
          </a:xfrm>
        </p:spPr>
        <p:txBody>
          <a:bodyPr>
            <a:normAutofit/>
          </a:bodyPr>
          <a:lstStyle>
            <a:lvl1pPr marL="0" indent="0" algn="l">
              <a:spcBef>
                <a:spcPts val="600"/>
              </a:spcBef>
              <a:spcAft>
                <a:spcPts val="600"/>
              </a:spcAft>
              <a:buNone/>
              <a:defRPr sz="4400"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10" name="Text Placeholder 9"/>
          <p:cNvSpPr>
            <a:spLocks noGrp="1"/>
          </p:cNvSpPr>
          <p:nvPr>
            <p:ph type="body" sz="quarter" idx="14" hasCustomPrompt="1"/>
          </p:nvPr>
        </p:nvSpPr>
        <p:spPr>
          <a:xfrm>
            <a:off x="76200" y="152400"/>
            <a:ext cx="1981200" cy="1524000"/>
          </a:xfrm>
        </p:spPr>
        <p:txBody>
          <a:bodyPr>
            <a:noAutofit/>
          </a:bodyPr>
          <a:lstStyle>
            <a:lvl1pPr marL="0" indent="0" algn="ctr">
              <a:buNone/>
              <a:defRPr sz="6000" baseline="0">
                <a:solidFill>
                  <a:schemeClr val="bg1">
                    <a:lumMod val="50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609600" y="2133600"/>
            <a:ext cx="8001000" cy="4114800"/>
          </a:xfrm>
        </p:spPr>
        <p:txBody>
          <a:bodyPr/>
          <a:lstStyle>
            <a:lvl1pPr>
              <a:defRPr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4561057"/>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 Example / Opening Case">
    <p:spTree>
      <p:nvGrpSpPr>
        <p:cNvPr id="1" name=""/>
        <p:cNvGrpSpPr/>
        <p:nvPr/>
      </p:nvGrpSpPr>
      <p:grpSpPr>
        <a:xfrm>
          <a:off x="0" y="0"/>
          <a:ext cx="0" cy="0"/>
          <a:chOff x="0" y="0"/>
          <a:chExt cx="0" cy="0"/>
        </a:xfrm>
      </p:grpSpPr>
      <p:cxnSp>
        <p:nvCxnSpPr>
          <p:cNvPr id="8" name="Straight Connector 7"/>
          <p:cNvCxnSpPr/>
          <p:nvPr userDrawn="1"/>
        </p:nvCxnSpPr>
        <p:spPr>
          <a:xfrm>
            <a:off x="0" y="6477000"/>
            <a:ext cx="86868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8382000" y="5715000"/>
            <a:ext cx="304800" cy="762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609600" y="12192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a:xfrm>
            <a:off x="6553200" y="6119896"/>
            <a:ext cx="2133600" cy="365125"/>
          </a:xfrm>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1371600"/>
            <a:ext cx="8229600" cy="4876800"/>
          </a:xfrm>
        </p:spPr>
        <p:txBody>
          <a:bodyPr>
            <a:normAutofit/>
          </a:bodyPr>
          <a:lstStyle>
            <a:lvl1pPr>
              <a:defRPr sz="3600" b="0" baseline="0">
                <a:solidFill>
                  <a:srgbClr val="9900FF"/>
                </a:solidFill>
                <a:latin typeface="Verdana" panose="020B0604030504040204" pitchFamily="34" charset="0"/>
                <a:ea typeface="Verdana" panose="020B0604030504040204" pitchFamily="34" charset="0"/>
                <a:cs typeface="Verdana" panose="020B0604030504040204" pitchFamily="34" charset="0"/>
              </a:defRPr>
            </a:lvl1pPr>
            <a:lvl2pPr marL="914400" indent="-457200">
              <a:buClr>
                <a:srgbClr val="FF9900"/>
              </a:buClr>
              <a:buFont typeface="+mj-lt"/>
              <a:buAutoNum type="arabicPeriod"/>
              <a:defRPr sz="3200"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2800"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itle 1"/>
          <p:cNvSpPr>
            <a:spLocks noGrp="1"/>
          </p:cNvSpPr>
          <p:nvPr>
            <p:ph type="title" hasCustomPrompt="1"/>
          </p:nvPr>
        </p:nvSpPr>
        <p:spPr>
          <a:xfrm>
            <a:off x="457200" y="228600"/>
            <a:ext cx="5029200" cy="1143000"/>
          </a:xfrm>
        </p:spPr>
        <p:txBody>
          <a:bodyPr>
            <a:noAutofit/>
          </a:bodyPr>
          <a:lstStyle>
            <a:lvl1pPr algn="l">
              <a:defRPr sz="4400" b="1"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t>EXAMPLE</a:t>
            </a:r>
            <a:endParaRPr lang="en-US" dirty="0"/>
          </a:p>
        </p:txBody>
      </p:sp>
    </p:spTree>
    <p:extLst>
      <p:ext uri="{BB962C8B-B14F-4D97-AF65-F5344CB8AC3E}">
        <p14:creationId xmlns:p14="http://schemas.microsoft.com/office/powerpoint/2010/main" val="24346109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_IT's_Personal">
    <p:spTree>
      <p:nvGrpSpPr>
        <p:cNvPr id="1" name=""/>
        <p:cNvGrpSpPr/>
        <p:nvPr/>
      </p:nvGrpSpPr>
      <p:grpSpPr>
        <a:xfrm>
          <a:off x="0" y="0"/>
          <a:ext cx="0" cy="0"/>
          <a:chOff x="0" y="0"/>
          <a:chExt cx="0" cy="0"/>
        </a:xfrm>
      </p:grpSpPr>
      <p:sp>
        <p:nvSpPr>
          <p:cNvPr id="4" name="Rectangle 3"/>
          <p:cNvSpPr/>
          <p:nvPr userDrawn="1"/>
        </p:nvSpPr>
        <p:spPr>
          <a:xfrm>
            <a:off x="0" y="2057400"/>
            <a:ext cx="9144000" cy="42672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457200" y="3200400"/>
            <a:ext cx="7772400" cy="2743200"/>
          </a:xfrm>
        </p:spPr>
        <p:txBody>
          <a:bodyPr>
            <a:normAutofit/>
          </a:bodyPr>
          <a:lstStyle>
            <a:lvl1pPr marL="0" indent="0" algn="l">
              <a:spcBef>
                <a:spcPts val="600"/>
              </a:spcBef>
              <a:spcAft>
                <a:spcPts val="600"/>
              </a:spcAft>
              <a:buNone/>
              <a:defRPr sz="5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25" name="Text Placeholder 24"/>
          <p:cNvSpPr>
            <a:spLocks noGrp="1"/>
          </p:cNvSpPr>
          <p:nvPr>
            <p:ph type="body" sz="quarter" idx="15" hasCustomPrompt="1"/>
          </p:nvPr>
        </p:nvSpPr>
        <p:spPr>
          <a:xfrm>
            <a:off x="1295400" y="1219200"/>
            <a:ext cx="7391400" cy="990600"/>
          </a:xfrm>
        </p:spPr>
        <p:txBody>
          <a:bodyPr>
            <a:normAutofit/>
          </a:bodyPr>
          <a:lstStyle>
            <a:lvl1pPr marL="0" indent="0">
              <a:buNone/>
              <a:defRPr sz="5400" b="0" i="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smtClean="0"/>
              <a:t>’S PERSONAL:</a:t>
            </a:r>
            <a:endParaRPr lang="en-US" dirty="0"/>
          </a:p>
        </p:txBody>
      </p:sp>
      <p:cxnSp>
        <p:nvCxnSpPr>
          <p:cNvPr id="15" name="Straight Connector 14"/>
          <p:cNvCxnSpPr/>
          <p:nvPr userDrawn="1"/>
        </p:nvCxnSpPr>
        <p:spPr>
          <a:xfrm>
            <a:off x="0" y="20574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userDrawn="1"/>
        </p:nvGrpSpPr>
        <p:grpSpPr>
          <a:xfrm>
            <a:off x="609600" y="888704"/>
            <a:ext cx="923260" cy="1473496"/>
            <a:chOff x="495300" y="888704"/>
            <a:chExt cx="923260" cy="1473496"/>
          </a:xfrm>
          <a:effectLst>
            <a:outerShdw blurRad="76200" dist="88900" dir="4620000" sx="109000" sy="109000" algn="ctr" rotWithShape="0">
              <a:schemeClr val="bg1">
                <a:lumMod val="65000"/>
                <a:alpha val="19000"/>
              </a:schemeClr>
            </a:outerShdw>
          </a:effectLst>
        </p:grpSpPr>
        <p:sp>
          <p:nvSpPr>
            <p:cNvPr id="5" name="Rectangle 4"/>
            <p:cNvSpPr/>
            <p:nvPr userDrawn="1"/>
          </p:nvSpPr>
          <p:spPr>
            <a:xfrm>
              <a:off x="838200" y="1008888"/>
              <a:ext cx="246888" cy="1353312"/>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495300" y="1219200"/>
              <a:ext cx="246888" cy="1143000"/>
            </a:xfrm>
            <a:prstGeom prst="rect">
              <a:avLst/>
            </a:prstGeom>
            <a:solidFill>
              <a:srgbClr val="99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rot="5400000">
              <a:off x="847060" y="545804"/>
              <a:ext cx="228600" cy="9144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4210829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692F6-6F2F-4CFD-A777-05649129AE6F}" type="datetimeFigureOut">
              <a:rPr lang="en-US" smtClean="0"/>
              <a:t>10/27/2014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92DC9-9688-4E44-A90B-C333AD8FEA09}" type="slidenum">
              <a:rPr lang="en-US" smtClean="0"/>
              <a:t>‹#›</a:t>
            </a:fld>
            <a:endParaRPr lang="en-US"/>
          </a:p>
        </p:txBody>
      </p:sp>
    </p:spTree>
    <p:extLst>
      <p:ext uri="{BB962C8B-B14F-4D97-AF65-F5344CB8AC3E}">
        <p14:creationId xmlns:p14="http://schemas.microsoft.com/office/powerpoint/2010/main" val="2918641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5" r:id="rId3"/>
    <p:sldLayoutId id="2147483654" r:id="rId4"/>
    <p:sldLayoutId id="2147483662" r:id="rId5"/>
    <p:sldLayoutId id="2147483663" r:id="rId6"/>
    <p:sldLayoutId id="2147483676" r:id="rId7"/>
    <p:sldLayoutId id="2147483677" r:id="rId8"/>
    <p:sldLayoutId id="2147483682" r:id="rId9"/>
    <p:sldLayoutId id="2147483683" r:id="rId10"/>
    <p:sldLayoutId id="2147483664" r:id="rId11"/>
    <p:sldLayoutId id="2147483678" r:id="rId12"/>
    <p:sldLayoutId id="2147483679" r:id="rId13"/>
    <p:sldLayoutId id="2147483680" r:id="rId14"/>
    <p:sldLayoutId id="2147483681" r:id="rId15"/>
  </p:sldLayoutIdLst>
  <p:timing>
    <p:tnLst>
      <p:par>
        <p:cTn id="1" dur="indefinite" restart="never" nodeType="tmRoot"/>
      </p:par>
    </p:tnLst>
  </p:timing>
  <p:txStyles>
    <p:titleStyle>
      <a:lvl1pPr algn="l" defTabSz="914400" rtl="0" eaLnBrk="1" latinLnBrk="0" hangingPunct="1">
        <a:spcBef>
          <a:spcPct val="0"/>
        </a:spcBef>
        <a:buNone/>
        <a:defRPr sz="4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US" dirty="0" smtClean="0"/>
              <a:t>11</a:t>
            </a:r>
            <a:endParaRPr lang="en-US" dirty="0"/>
          </a:p>
        </p:txBody>
      </p:sp>
      <p:sp>
        <p:nvSpPr>
          <p:cNvPr id="4" name="Subtitle 3"/>
          <p:cNvSpPr>
            <a:spLocks noGrp="1"/>
          </p:cNvSpPr>
          <p:nvPr>
            <p:ph type="subTitle" idx="1"/>
          </p:nvPr>
        </p:nvSpPr>
        <p:spPr/>
        <p:txBody>
          <a:bodyPr>
            <a:normAutofit/>
          </a:bodyPr>
          <a:lstStyle/>
          <a:p>
            <a:r>
              <a:rPr lang="en-US" dirty="0" smtClean="0"/>
              <a:t>Information Systems within the Organization</a:t>
            </a:r>
            <a:endParaRPr lang="en-US" dirty="0"/>
          </a:p>
        </p:txBody>
      </p:sp>
    </p:spTree>
    <p:extLst>
      <p:ext uri="{BB962C8B-B14F-4D97-AF65-F5344CB8AC3E}">
        <p14:creationId xmlns:p14="http://schemas.microsoft.com/office/powerpoint/2010/main" val="885609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5" name="Content Placeholder 4"/>
          <p:cNvSpPr>
            <a:spLocks noGrp="1"/>
          </p:cNvSpPr>
          <p:nvPr>
            <p:ph idx="1"/>
          </p:nvPr>
        </p:nvSpPr>
        <p:spPr/>
        <p:txBody>
          <a:bodyPr/>
          <a:lstStyle/>
          <a:p>
            <a:r>
              <a:rPr lang="en-US" dirty="0"/>
              <a:t>Transaction Processing Systems</a:t>
            </a:r>
          </a:p>
          <a:p>
            <a:r>
              <a:rPr lang="en-US" dirty="0"/>
              <a:t>Functional Area Information Systems</a:t>
            </a:r>
          </a:p>
          <a:p>
            <a:r>
              <a:rPr lang="en-US" dirty="0"/>
              <a:t>Enterprise Resource Planning (ERP) Systems</a:t>
            </a:r>
          </a:p>
          <a:p>
            <a:r>
              <a:rPr lang="en-US" dirty="0"/>
              <a:t>ERP Support for Business Processes</a:t>
            </a:r>
          </a:p>
        </p:txBody>
      </p:sp>
    </p:spTree>
    <p:extLst>
      <p:ext uri="{BB962C8B-B14F-4D97-AF65-F5344CB8AC3E}">
        <p14:creationId xmlns:p14="http://schemas.microsoft.com/office/powerpoint/2010/main" val="2968771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r>
              <a:rPr lang="en-US" dirty="0"/>
              <a:t>Explain the purpose of transaction processing systems.</a:t>
            </a:r>
          </a:p>
          <a:p>
            <a:r>
              <a:rPr lang="en-US" dirty="0"/>
              <a:t>Explain the types of support that information systems can provide for each functional area of the organization.</a:t>
            </a:r>
          </a:p>
          <a:p>
            <a:r>
              <a:rPr lang="en-US" dirty="0"/>
              <a:t>Identify advantages and drawbacks to businesses implementing an enterprise resource planning system</a:t>
            </a:r>
            <a:r>
              <a:rPr lang="en-US" dirty="0" smtClean="0"/>
              <a:t>.</a:t>
            </a:r>
            <a:endParaRPr lang="en-US" dirty="0"/>
          </a:p>
        </p:txBody>
      </p:sp>
      <p:sp>
        <p:nvSpPr>
          <p:cNvPr id="5" name="Subtitle 4"/>
          <p:cNvSpPr>
            <a:spLocks noGrp="1"/>
          </p:cNvSpPr>
          <p:nvPr>
            <p:ph type="subTitle" idx="13"/>
          </p:nvPr>
        </p:nvSpPr>
        <p:spPr/>
        <p:txBody>
          <a:bodyPr/>
          <a:lstStyle/>
          <a:p>
            <a:endParaRPr lang="en-US"/>
          </a:p>
        </p:txBody>
      </p:sp>
    </p:spTree>
    <p:extLst>
      <p:ext uri="{BB962C8B-B14F-4D97-AF65-F5344CB8AC3E}">
        <p14:creationId xmlns:p14="http://schemas.microsoft.com/office/powerpoint/2010/main" val="526003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a:buFont typeface="+mj-lt"/>
              <a:buAutoNum type="arabicPeriod" startAt="4"/>
            </a:pPr>
            <a:r>
              <a:rPr lang="en-US" dirty="0" smtClean="0"/>
              <a:t>Describe the three main business processes supported by ERP systems.</a:t>
            </a:r>
            <a:endParaRPr lang="en-US" dirty="0"/>
          </a:p>
        </p:txBody>
      </p:sp>
      <p:sp>
        <p:nvSpPr>
          <p:cNvPr id="5" name="Subtitle 4"/>
          <p:cNvSpPr>
            <a:spLocks noGrp="1"/>
          </p:cNvSpPr>
          <p:nvPr>
            <p:ph type="subTitle" idx="13"/>
          </p:nvPr>
        </p:nvSpPr>
        <p:spPr/>
        <p:txBody>
          <a:bodyPr/>
          <a:lstStyle/>
          <a:p>
            <a:endParaRPr lang="en-US"/>
          </a:p>
        </p:txBody>
      </p:sp>
    </p:spTree>
    <p:extLst>
      <p:ext uri="{BB962C8B-B14F-4D97-AF65-F5344CB8AC3E}">
        <p14:creationId xmlns:p14="http://schemas.microsoft.com/office/powerpoint/2010/main" val="1875994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normAutofit/>
          </a:bodyPr>
          <a:lstStyle/>
          <a:p>
            <a:r>
              <a:rPr lang="en-US" dirty="0" smtClean="0"/>
              <a:t>The Lion King </a:t>
            </a:r>
            <a:r>
              <a:rPr lang="en-US" dirty="0" smtClean="0"/>
              <a:t/>
            </a:r>
            <a:br>
              <a:rPr lang="en-US" dirty="0" smtClean="0"/>
            </a:br>
            <a:r>
              <a:rPr lang="en-US" dirty="0" smtClean="0"/>
              <a:t>Roars </a:t>
            </a:r>
            <a:r>
              <a:rPr lang="en-US" dirty="0" smtClean="0"/>
              <a:t>Back</a:t>
            </a:r>
          </a:p>
          <a:p>
            <a:pPr lvl="1"/>
            <a:r>
              <a:rPr lang="en-US" dirty="0"/>
              <a:t>Why are yield </a:t>
            </a:r>
            <a:r>
              <a:rPr lang="en-US" dirty="0" smtClean="0"/>
              <a:t/>
            </a:r>
            <a:br>
              <a:rPr lang="en-US" dirty="0" smtClean="0"/>
            </a:br>
            <a:r>
              <a:rPr lang="en-US" dirty="0" smtClean="0"/>
              <a:t>management </a:t>
            </a:r>
            <a:r>
              <a:rPr lang="en-US" dirty="0"/>
              <a:t>systems </a:t>
            </a:r>
            <a:r>
              <a:rPr lang="en-US" dirty="0" smtClean="0"/>
              <a:t/>
            </a:r>
            <a:br>
              <a:rPr lang="en-US" dirty="0" smtClean="0"/>
            </a:br>
            <a:r>
              <a:rPr lang="en-US" dirty="0" smtClean="0"/>
              <a:t>so </a:t>
            </a:r>
            <a:r>
              <a:rPr lang="en-US" dirty="0"/>
              <a:t>important to the </a:t>
            </a:r>
            <a:r>
              <a:rPr lang="en-US" dirty="0" smtClean="0"/>
              <a:t/>
            </a:r>
            <a:br>
              <a:rPr lang="en-US" dirty="0" smtClean="0"/>
            </a:br>
            <a:r>
              <a:rPr lang="en-US" dirty="0" smtClean="0"/>
              <a:t>producers </a:t>
            </a:r>
            <a:r>
              <a:rPr lang="en-US" dirty="0"/>
              <a:t>of Broadway </a:t>
            </a:r>
            <a:r>
              <a:rPr lang="en-US" dirty="0" smtClean="0"/>
              <a:t/>
            </a:r>
            <a:br>
              <a:rPr lang="en-US" dirty="0" smtClean="0"/>
            </a:br>
            <a:r>
              <a:rPr lang="en-US" dirty="0" smtClean="0"/>
              <a:t>shows</a:t>
            </a:r>
            <a:r>
              <a:rPr lang="en-US" dirty="0"/>
              <a:t>? Hint: What is the value of an unsold seat once the curtain goes up?</a:t>
            </a:r>
          </a:p>
          <a:p>
            <a:pPr lvl="1"/>
            <a:r>
              <a:rPr lang="en-US" dirty="0"/>
              <a:t>Describe potential disadvantages of Disney’s yield management system.</a:t>
            </a:r>
          </a:p>
        </p:txBody>
      </p:sp>
      <p:sp>
        <p:nvSpPr>
          <p:cNvPr id="4" name="Title 3"/>
          <p:cNvSpPr>
            <a:spLocks noGrp="1"/>
          </p:cNvSpPr>
          <p:nvPr>
            <p:ph type="title"/>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1371600"/>
            <a:ext cx="3503295" cy="25147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96367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Transaction Processing Systems</a:t>
            </a:r>
            <a:endParaRPr lang="en-US" dirty="0"/>
          </a:p>
        </p:txBody>
      </p:sp>
      <p:sp>
        <p:nvSpPr>
          <p:cNvPr id="5" name="Text Placeholder 4"/>
          <p:cNvSpPr>
            <a:spLocks noGrp="1"/>
          </p:cNvSpPr>
          <p:nvPr>
            <p:ph type="body" sz="quarter" idx="14"/>
          </p:nvPr>
        </p:nvSpPr>
        <p:spPr/>
        <p:txBody>
          <a:bodyPr/>
          <a:lstStyle/>
          <a:p>
            <a:r>
              <a:rPr lang="en-US" dirty="0" smtClean="0"/>
              <a:t>11.1</a:t>
            </a:r>
            <a:endParaRPr lang="en-US" dirty="0"/>
          </a:p>
        </p:txBody>
      </p:sp>
      <p:sp>
        <p:nvSpPr>
          <p:cNvPr id="6" name="Content Placeholder 5"/>
          <p:cNvSpPr>
            <a:spLocks noGrp="1"/>
          </p:cNvSpPr>
          <p:nvPr>
            <p:ph sz="quarter" idx="15"/>
          </p:nvPr>
        </p:nvSpPr>
        <p:spPr/>
        <p:txBody>
          <a:bodyPr/>
          <a:lstStyle/>
          <a:p>
            <a:r>
              <a:rPr lang="en-US" dirty="0" smtClean="0"/>
              <a:t>Transaction</a:t>
            </a:r>
          </a:p>
          <a:p>
            <a:r>
              <a:rPr lang="en-US" dirty="0" smtClean="0"/>
              <a:t>Transaction Processing System (TPS)</a:t>
            </a:r>
          </a:p>
          <a:p>
            <a:r>
              <a:rPr lang="en-US" dirty="0" smtClean="0"/>
              <a:t>Batch Processing</a:t>
            </a:r>
          </a:p>
          <a:p>
            <a:r>
              <a:rPr lang="en-US" dirty="0" smtClean="0"/>
              <a:t>Online Transaction Processing (OLTP)</a:t>
            </a:r>
          </a:p>
          <a:p>
            <a:endParaRPr lang="en-US" dirty="0"/>
          </a:p>
        </p:txBody>
      </p:sp>
    </p:spTree>
    <p:extLst>
      <p:ext uri="{BB962C8B-B14F-4D97-AF65-F5344CB8AC3E}">
        <p14:creationId xmlns:p14="http://schemas.microsoft.com/office/powerpoint/2010/main" val="1139088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lnSpcReduction="10000"/>
          </a:bodyPr>
          <a:lstStyle/>
          <a:p>
            <a:r>
              <a:rPr lang="en-US" dirty="0" smtClean="0"/>
              <a:t>Figure 11.1: How TPS Manage Data</a:t>
            </a:r>
            <a:endParaRPr lang="en-US" dirty="0"/>
          </a:p>
        </p:txBody>
      </p:sp>
      <p:pic>
        <p:nvPicPr>
          <p:cNvPr id="2050"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457200" y="2449569"/>
            <a:ext cx="8153400" cy="28732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03827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Functional Area Information Systems</a:t>
            </a:r>
            <a:endParaRPr lang="en-US" dirty="0"/>
          </a:p>
        </p:txBody>
      </p:sp>
      <p:sp>
        <p:nvSpPr>
          <p:cNvPr id="5" name="Text Placeholder 4"/>
          <p:cNvSpPr>
            <a:spLocks noGrp="1"/>
          </p:cNvSpPr>
          <p:nvPr>
            <p:ph type="body" sz="quarter" idx="14"/>
          </p:nvPr>
        </p:nvSpPr>
        <p:spPr/>
        <p:txBody>
          <a:bodyPr/>
          <a:lstStyle/>
          <a:p>
            <a:r>
              <a:rPr lang="en-US" dirty="0" smtClean="0"/>
              <a:t>11.2</a:t>
            </a:r>
            <a:endParaRPr lang="en-US" dirty="0"/>
          </a:p>
        </p:txBody>
      </p:sp>
      <p:sp>
        <p:nvSpPr>
          <p:cNvPr id="6" name="Content Placeholder 5"/>
          <p:cNvSpPr>
            <a:spLocks noGrp="1"/>
          </p:cNvSpPr>
          <p:nvPr>
            <p:ph sz="quarter" idx="15"/>
          </p:nvPr>
        </p:nvSpPr>
        <p:spPr/>
        <p:txBody>
          <a:bodyPr>
            <a:normAutofit lnSpcReduction="10000"/>
          </a:bodyPr>
          <a:lstStyle/>
          <a:p>
            <a:r>
              <a:rPr lang="en-US" dirty="0" smtClean="0"/>
              <a:t>IS for Accounting and Finance</a:t>
            </a:r>
          </a:p>
          <a:p>
            <a:r>
              <a:rPr lang="en-US" dirty="0" smtClean="0"/>
              <a:t>IS for Marketing</a:t>
            </a:r>
          </a:p>
          <a:p>
            <a:r>
              <a:rPr lang="en-US" dirty="0" smtClean="0"/>
              <a:t>IS for Production/Operations Management</a:t>
            </a:r>
          </a:p>
          <a:p>
            <a:r>
              <a:rPr lang="en-US" dirty="0" smtClean="0"/>
              <a:t>IS for Human Resource Management</a:t>
            </a:r>
          </a:p>
          <a:p>
            <a:r>
              <a:rPr lang="en-US" dirty="0" smtClean="0"/>
              <a:t>Reports</a:t>
            </a:r>
          </a:p>
          <a:p>
            <a:endParaRPr lang="en-US" dirty="0" smtClean="0"/>
          </a:p>
          <a:p>
            <a:endParaRPr lang="en-US" dirty="0"/>
          </a:p>
        </p:txBody>
      </p:sp>
    </p:spTree>
    <p:extLst>
      <p:ext uri="{BB962C8B-B14F-4D97-AF65-F5344CB8AC3E}">
        <p14:creationId xmlns:p14="http://schemas.microsoft.com/office/powerpoint/2010/main" val="3413343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lnSpcReduction="10000"/>
          </a:bodyPr>
          <a:lstStyle/>
          <a:p>
            <a:r>
              <a:rPr lang="en-US" dirty="0" smtClean="0"/>
              <a:t>Figure 11.2: Systems supporting functional Areas</a:t>
            </a:r>
            <a:endParaRPr lang="en-US" dirty="0"/>
          </a:p>
        </p:txBody>
      </p:sp>
      <p:pic>
        <p:nvPicPr>
          <p:cNvPr id="4098"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609600" y="1907748"/>
            <a:ext cx="8153400" cy="39569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999406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a:t>IS for Accounting and </a:t>
            </a:r>
            <a:r>
              <a:rPr lang="en-US" dirty="0" smtClean="0"/>
              <a:t>Finance</a:t>
            </a:r>
            <a:endParaRPr lang="en-US" dirty="0"/>
          </a:p>
        </p:txBody>
      </p:sp>
      <p:sp>
        <p:nvSpPr>
          <p:cNvPr id="6" name="Content Placeholder 5"/>
          <p:cNvSpPr>
            <a:spLocks noGrp="1"/>
          </p:cNvSpPr>
          <p:nvPr>
            <p:ph sz="quarter" idx="15"/>
          </p:nvPr>
        </p:nvSpPr>
        <p:spPr/>
        <p:txBody>
          <a:bodyPr/>
          <a:lstStyle/>
          <a:p>
            <a:r>
              <a:rPr lang="en-US" dirty="0" smtClean="0"/>
              <a:t>Financial Planning and Budgeting</a:t>
            </a:r>
          </a:p>
          <a:p>
            <a:r>
              <a:rPr lang="en-US" dirty="0" smtClean="0"/>
              <a:t>Managing Financial Transactions</a:t>
            </a:r>
          </a:p>
          <a:p>
            <a:r>
              <a:rPr lang="en-US" dirty="0" smtClean="0"/>
              <a:t>Investment Management</a:t>
            </a:r>
          </a:p>
          <a:p>
            <a:r>
              <a:rPr lang="en-US" dirty="0" smtClean="0"/>
              <a:t>Control and Auditing</a:t>
            </a:r>
            <a:endParaRPr lang="en-US" dirty="0"/>
          </a:p>
        </p:txBody>
      </p:sp>
    </p:spTree>
    <p:extLst>
      <p:ext uri="{BB962C8B-B14F-4D97-AF65-F5344CB8AC3E}">
        <p14:creationId xmlns:p14="http://schemas.microsoft.com/office/powerpoint/2010/main" val="973018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a:t>Financial Planning and </a:t>
            </a:r>
            <a:r>
              <a:rPr lang="en-US" dirty="0" smtClean="0"/>
              <a:t>Budgeting</a:t>
            </a:r>
            <a:endParaRPr lang="en-US" dirty="0"/>
          </a:p>
        </p:txBody>
      </p:sp>
      <p:sp>
        <p:nvSpPr>
          <p:cNvPr id="5" name="Content Placeholder 4"/>
          <p:cNvSpPr>
            <a:spLocks noGrp="1"/>
          </p:cNvSpPr>
          <p:nvPr>
            <p:ph sz="quarter" idx="15"/>
          </p:nvPr>
        </p:nvSpPr>
        <p:spPr/>
        <p:txBody>
          <a:bodyPr/>
          <a:lstStyle/>
          <a:p>
            <a:r>
              <a:rPr lang="en-US" dirty="0" smtClean="0"/>
              <a:t>Financial and economic forecasting</a:t>
            </a:r>
          </a:p>
          <a:p>
            <a:r>
              <a:rPr lang="en-US" dirty="0" smtClean="0"/>
              <a:t>Budgeting</a:t>
            </a:r>
            <a:endParaRPr lang="en-US" dirty="0"/>
          </a:p>
        </p:txBody>
      </p:sp>
    </p:spTree>
    <p:extLst>
      <p:ext uri="{BB962C8B-B14F-4D97-AF65-F5344CB8AC3E}">
        <p14:creationId xmlns:p14="http://schemas.microsoft.com/office/powerpoint/2010/main" val="3439026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Managing </a:t>
            </a:r>
            <a:r>
              <a:rPr lang="en-US" dirty="0"/>
              <a:t>Financial </a:t>
            </a:r>
            <a:r>
              <a:rPr lang="en-US" dirty="0" smtClean="0"/>
              <a:t>Transactions</a:t>
            </a:r>
            <a:endParaRPr lang="en-US" dirty="0"/>
          </a:p>
        </p:txBody>
      </p:sp>
      <p:sp>
        <p:nvSpPr>
          <p:cNvPr id="5" name="Content Placeholder 4"/>
          <p:cNvSpPr>
            <a:spLocks noGrp="1"/>
          </p:cNvSpPr>
          <p:nvPr>
            <p:ph sz="quarter" idx="15"/>
          </p:nvPr>
        </p:nvSpPr>
        <p:spPr/>
        <p:txBody>
          <a:bodyPr/>
          <a:lstStyle/>
          <a:p>
            <a:r>
              <a:rPr lang="en-US" dirty="0" smtClean="0"/>
              <a:t>Global stock exchanges</a:t>
            </a:r>
          </a:p>
          <a:p>
            <a:r>
              <a:rPr lang="en-US" dirty="0" smtClean="0"/>
              <a:t>Managing multiple currencies</a:t>
            </a:r>
          </a:p>
          <a:p>
            <a:r>
              <a:rPr lang="en-US" dirty="0" smtClean="0"/>
              <a:t>Virtual close</a:t>
            </a:r>
          </a:p>
          <a:p>
            <a:r>
              <a:rPr lang="en-US" dirty="0" smtClean="0"/>
              <a:t>Expense management automation (EMA)</a:t>
            </a:r>
            <a:endParaRPr lang="en-US" dirty="0"/>
          </a:p>
        </p:txBody>
      </p:sp>
    </p:spTree>
    <p:extLst>
      <p:ext uri="{BB962C8B-B14F-4D97-AF65-F5344CB8AC3E}">
        <p14:creationId xmlns:p14="http://schemas.microsoft.com/office/powerpoint/2010/main" val="42500940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Control </a:t>
            </a:r>
            <a:r>
              <a:rPr lang="en-US" dirty="0"/>
              <a:t>and </a:t>
            </a:r>
            <a:r>
              <a:rPr lang="en-US" dirty="0" smtClean="0"/>
              <a:t>Auditing</a:t>
            </a:r>
            <a:endParaRPr lang="en-US" dirty="0"/>
          </a:p>
        </p:txBody>
      </p:sp>
      <p:sp>
        <p:nvSpPr>
          <p:cNvPr id="5" name="Content Placeholder 4"/>
          <p:cNvSpPr>
            <a:spLocks noGrp="1"/>
          </p:cNvSpPr>
          <p:nvPr>
            <p:ph sz="quarter" idx="15"/>
          </p:nvPr>
        </p:nvSpPr>
        <p:spPr/>
        <p:txBody>
          <a:bodyPr/>
          <a:lstStyle/>
          <a:p>
            <a:r>
              <a:rPr lang="en-US" dirty="0" smtClean="0"/>
              <a:t>Budgetary control</a:t>
            </a:r>
          </a:p>
          <a:p>
            <a:r>
              <a:rPr lang="en-US" dirty="0" smtClean="0"/>
              <a:t>Auditing</a:t>
            </a:r>
          </a:p>
          <a:p>
            <a:r>
              <a:rPr lang="en-US" dirty="0" smtClean="0"/>
              <a:t>Financial ratio analysis</a:t>
            </a:r>
            <a:endParaRPr lang="en-US" dirty="0"/>
          </a:p>
        </p:txBody>
      </p:sp>
    </p:spTree>
    <p:extLst>
      <p:ext uri="{BB962C8B-B14F-4D97-AF65-F5344CB8AC3E}">
        <p14:creationId xmlns:p14="http://schemas.microsoft.com/office/powerpoint/2010/main" val="4250094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92500"/>
          </a:bodyPr>
          <a:lstStyle/>
          <a:p>
            <a:r>
              <a:rPr lang="en-US" dirty="0" smtClean="0"/>
              <a:t>IS </a:t>
            </a:r>
            <a:r>
              <a:rPr lang="en-US" dirty="0"/>
              <a:t>for Production/Operations </a:t>
            </a:r>
            <a:r>
              <a:rPr lang="en-US" dirty="0" smtClean="0"/>
              <a:t>Management (POM)</a:t>
            </a:r>
            <a:endParaRPr lang="en-US" dirty="0"/>
          </a:p>
        </p:txBody>
      </p:sp>
      <p:sp>
        <p:nvSpPr>
          <p:cNvPr id="6" name="Content Placeholder 5"/>
          <p:cNvSpPr>
            <a:spLocks noGrp="1"/>
          </p:cNvSpPr>
          <p:nvPr>
            <p:ph sz="quarter" idx="15"/>
          </p:nvPr>
        </p:nvSpPr>
        <p:spPr/>
        <p:txBody>
          <a:bodyPr>
            <a:normAutofit fontScale="92500" lnSpcReduction="10000"/>
          </a:bodyPr>
          <a:lstStyle/>
          <a:p>
            <a:r>
              <a:rPr lang="en-US" dirty="0" smtClean="0"/>
              <a:t>In-House Logistics and Materials Management</a:t>
            </a:r>
          </a:p>
          <a:p>
            <a:r>
              <a:rPr lang="en-US" dirty="0" smtClean="0"/>
              <a:t>Inventory Management</a:t>
            </a:r>
          </a:p>
          <a:p>
            <a:r>
              <a:rPr lang="en-US" dirty="0" smtClean="0"/>
              <a:t>Quality Control</a:t>
            </a:r>
          </a:p>
          <a:p>
            <a:r>
              <a:rPr lang="en-US" dirty="0" smtClean="0"/>
              <a:t>Planning Production and Operations Management</a:t>
            </a:r>
          </a:p>
          <a:p>
            <a:r>
              <a:rPr lang="en-US" dirty="0" smtClean="0"/>
              <a:t>Computer-Integrated Manufacturing</a:t>
            </a:r>
          </a:p>
          <a:p>
            <a:r>
              <a:rPr lang="en-US" dirty="0" smtClean="0"/>
              <a:t>Product Lifecycle Management</a:t>
            </a:r>
            <a:endParaRPr lang="en-US" dirty="0"/>
          </a:p>
        </p:txBody>
      </p:sp>
    </p:spTree>
    <p:extLst>
      <p:ext uri="{BB962C8B-B14F-4D97-AF65-F5344CB8AC3E}">
        <p14:creationId xmlns:p14="http://schemas.microsoft.com/office/powerpoint/2010/main" val="3501701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IS </a:t>
            </a:r>
            <a:r>
              <a:rPr lang="en-US" dirty="0"/>
              <a:t>for Human Resource </a:t>
            </a:r>
            <a:r>
              <a:rPr lang="en-US" dirty="0" smtClean="0"/>
              <a:t>Management</a:t>
            </a:r>
            <a:endParaRPr lang="en-US" dirty="0"/>
          </a:p>
        </p:txBody>
      </p:sp>
      <p:sp>
        <p:nvSpPr>
          <p:cNvPr id="6" name="Content Placeholder 5"/>
          <p:cNvSpPr>
            <a:spLocks noGrp="1"/>
          </p:cNvSpPr>
          <p:nvPr>
            <p:ph sz="quarter" idx="15"/>
          </p:nvPr>
        </p:nvSpPr>
        <p:spPr/>
        <p:txBody>
          <a:bodyPr/>
          <a:lstStyle/>
          <a:p>
            <a:r>
              <a:rPr lang="en-US" dirty="0" smtClean="0"/>
              <a:t>Recruitment</a:t>
            </a:r>
          </a:p>
          <a:p>
            <a:r>
              <a:rPr lang="en-US" dirty="0" smtClean="0"/>
              <a:t>Human Resources Development</a:t>
            </a:r>
          </a:p>
          <a:p>
            <a:r>
              <a:rPr lang="en-US" dirty="0" smtClean="0"/>
              <a:t>Human Resources Planning and Management</a:t>
            </a:r>
            <a:endParaRPr lang="en-US" dirty="0"/>
          </a:p>
        </p:txBody>
      </p:sp>
    </p:spTree>
    <p:extLst>
      <p:ext uri="{BB962C8B-B14F-4D97-AF65-F5344CB8AC3E}">
        <p14:creationId xmlns:p14="http://schemas.microsoft.com/office/powerpoint/2010/main" val="3501701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a:bodyPr>
          <a:lstStyle/>
          <a:p>
            <a:r>
              <a:rPr lang="en-US" dirty="0"/>
              <a:t>Three Areas of IT support in HR Planning and </a:t>
            </a:r>
            <a:r>
              <a:rPr lang="en-US" dirty="0" smtClean="0"/>
              <a:t>Management</a:t>
            </a:r>
            <a:endParaRPr lang="en-US" dirty="0"/>
          </a:p>
        </p:txBody>
      </p:sp>
      <p:sp>
        <p:nvSpPr>
          <p:cNvPr id="5" name="Content Placeholder 4"/>
          <p:cNvSpPr>
            <a:spLocks noGrp="1"/>
          </p:cNvSpPr>
          <p:nvPr>
            <p:ph sz="quarter" idx="15"/>
          </p:nvPr>
        </p:nvSpPr>
        <p:spPr/>
        <p:txBody>
          <a:bodyPr/>
          <a:lstStyle/>
          <a:p>
            <a:pPr marL="514350" indent="-514350">
              <a:buFont typeface="+mj-lt"/>
              <a:buAutoNum type="arabicPeriod"/>
            </a:pPr>
            <a:r>
              <a:rPr lang="en-US" dirty="0" smtClean="0"/>
              <a:t>Payroll </a:t>
            </a:r>
            <a:r>
              <a:rPr lang="en-US" dirty="0"/>
              <a:t>and employees’ records</a:t>
            </a:r>
          </a:p>
          <a:p>
            <a:pPr marL="514350" indent="-514350">
              <a:buFont typeface="+mj-lt"/>
              <a:buAutoNum type="arabicPeriod"/>
            </a:pPr>
            <a:r>
              <a:rPr lang="en-US" dirty="0"/>
              <a:t>Benefits administration</a:t>
            </a:r>
          </a:p>
          <a:p>
            <a:pPr marL="514350" indent="-514350">
              <a:buFont typeface="+mj-lt"/>
              <a:buAutoNum type="arabicPeriod"/>
            </a:pPr>
            <a:r>
              <a:rPr lang="en-US" dirty="0"/>
              <a:t>Employee relationship management</a:t>
            </a:r>
          </a:p>
          <a:p>
            <a:endParaRPr lang="en-US" dirty="0"/>
          </a:p>
        </p:txBody>
      </p:sp>
    </p:spTree>
    <p:extLst>
      <p:ext uri="{BB962C8B-B14F-4D97-AF65-F5344CB8AC3E}">
        <p14:creationId xmlns:p14="http://schemas.microsoft.com/office/powerpoint/2010/main" val="793325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Reports</a:t>
            </a:r>
            <a:endParaRPr lang="en-US" dirty="0"/>
          </a:p>
        </p:txBody>
      </p:sp>
      <p:sp>
        <p:nvSpPr>
          <p:cNvPr id="6" name="Content Placeholder 5"/>
          <p:cNvSpPr>
            <a:spLocks noGrp="1"/>
          </p:cNvSpPr>
          <p:nvPr>
            <p:ph sz="quarter" idx="15"/>
          </p:nvPr>
        </p:nvSpPr>
        <p:spPr/>
        <p:txBody>
          <a:bodyPr/>
          <a:lstStyle/>
          <a:p>
            <a:r>
              <a:rPr lang="en-US" dirty="0" smtClean="0"/>
              <a:t>Routine Reports</a:t>
            </a:r>
          </a:p>
          <a:p>
            <a:r>
              <a:rPr lang="en-US" dirty="0" smtClean="0"/>
              <a:t>Ad-hoc (On-Demand) Reports</a:t>
            </a:r>
          </a:p>
          <a:p>
            <a:pPr lvl="1"/>
            <a:r>
              <a:rPr lang="en-US" dirty="0" smtClean="0"/>
              <a:t>Drill-down reports</a:t>
            </a:r>
          </a:p>
          <a:p>
            <a:pPr lvl="1"/>
            <a:r>
              <a:rPr lang="en-US" dirty="0" smtClean="0"/>
              <a:t>Key indicator reports</a:t>
            </a:r>
          </a:p>
          <a:p>
            <a:pPr lvl="1"/>
            <a:r>
              <a:rPr lang="en-US" dirty="0" smtClean="0"/>
              <a:t>Comparative reports</a:t>
            </a:r>
          </a:p>
          <a:p>
            <a:pPr lvl="1"/>
            <a:r>
              <a:rPr lang="en-US" dirty="0" smtClean="0"/>
              <a:t>Exception reports</a:t>
            </a:r>
            <a:endParaRPr lang="en-US" dirty="0"/>
          </a:p>
        </p:txBody>
      </p:sp>
    </p:spTree>
    <p:extLst>
      <p:ext uri="{BB962C8B-B14F-4D97-AF65-F5344CB8AC3E}">
        <p14:creationId xmlns:p14="http://schemas.microsoft.com/office/powerpoint/2010/main" val="35017011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Monthly Sales Report</a:t>
            </a:r>
            <a:endParaRPr lang="en-US" dirty="0"/>
          </a:p>
        </p:txBody>
      </p:sp>
      <p:pic>
        <p:nvPicPr>
          <p:cNvPr id="3074"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tretch>
            <a:fillRect/>
          </a:stretch>
        </p:blipFill>
        <p:spPr bwMode="auto">
          <a:xfrm>
            <a:off x="1709737" y="1724025"/>
            <a:ext cx="5648325" cy="4324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732779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a:bodyPr>
          <a:lstStyle/>
          <a:p>
            <a:r>
              <a:rPr lang="en-US" dirty="0" smtClean="0"/>
              <a:t>Enterprise Resource Planning (ERP) Systems</a:t>
            </a:r>
            <a:endParaRPr lang="en-US" dirty="0"/>
          </a:p>
        </p:txBody>
      </p:sp>
      <p:sp>
        <p:nvSpPr>
          <p:cNvPr id="5" name="Text Placeholder 4"/>
          <p:cNvSpPr>
            <a:spLocks noGrp="1"/>
          </p:cNvSpPr>
          <p:nvPr>
            <p:ph type="body" sz="quarter" idx="14"/>
          </p:nvPr>
        </p:nvSpPr>
        <p:spPr/>
        <p:txBody>
          <a:bodyPr/>
          <a:lstStyle/>
          <a:p>
            <a:r>
              <a:rPr lang="en-US" dirty="0" smtClean="0"/>
              <a:t>11.3</a:t>
            </a:r>
            <a:endParaRPr lang="en-US" dirty="0"/>
          </a:p>
        </p:txBody>
      </p:sp>
      <p:sp>
        <p:nvSpPr>
          <p:cNvPr id="6" name="Content Placeholder 5"/>
          <p:cNvSpPr>
            <a:spLocks noGrp="1"/>
          </p:cNvSpPr>
          <p:nvPr>
            <p:ph sz="quarter" idx="15"/>
          </p:nvPr>
        </p:nvSpPr>
        <p:spPr/>
        <p:txBody>
          <a:bodyPr>
            <a:normAutofit/>
          </a:bodyPr>
          <a:lstStyle/>
          <a:p>
            <a:r>
              <a:rPr lang="en-US" dirty="0" smtClean="0"/>
              <a:t>ERP II Systems</a:t>
            </a:r>
          </a:p>
          <a:p>
            <a:r>
              <a:rPr lang="en-US" dirty="0" smtClean="0"/>
              <a:t>Benefits and Limitations of ERP Systems</a:t>
            </a:r>
          </a:p>
          <a:p>
            <a:r>
              <a:rPr lang="en-US" dirty="0" smtClean="0"/>
              <a:t>Implementing ERP Systems</a:t>
            </a:r>
          </a:p>
          <a:p>
            <a:r>
              <a:rPr lang="en-US" dirty="0" smtClean="0"/>
              <a:t>Enterprise Application Integration</a:t>
            </a:r>
          </a:p>
          <a:p>
            <a:endParaRPr lang="en-US" dirty="0" smtClean="0"/>
          </a:p>
          <a:p>
            <a:endParaRPr lang="en-US" dirty="0"/>
          </a:p>
        </p:txBody>
      </p:sp>
    </p:spTree>
    <p:extLst>
      <p:ext uri="{BB962C8B-B14F-4D97-AF65-F5344CB8AC3E}">
        <p14:creationId xmlns:p14="http://schemas.microsoft.com/office/powerpoint/2010/main" val="3281830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54"/>
          <p:cNvSpPr/>
          <p:nvPr/>
        </p:nvSpPr>
        <p:spPr>
          <a:xfrm>
            <a:off x="0" y="0"/>
            <a:ext cx="89154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p:cNvGrpSpPr/>
          <p:nvPr/>
        </p:nvGrpSpPr>
        <p:grpSpPr>
          <a:xfrm>
            <a:off x="609600" y="304800"/>
            <a:ext cx="8534400" cy="6400800"/>
            <a:chOff x="609600" y="304800"/>
            <a:chExt cx="8534400" cy="6400800"/>
          </a:xfrm>
        </p:grpSpPr>
        <p:grpSp>
          <p:nvGrpSpPr>
            <p:cNvPr id="8" name="Group 135"/>
            <p:cNvGrpSpPr>
              <a:grpSpLocks/>
            </p:cNvGrpSpPr>
            <p:nvPr/>
          </p:nvGrpSpPr>
          <p:grpSpPr bwMode="auto">
            <a:xfrm>
              <a:off x="609600" y="304800"/>
              <a:ext cx="8534400" cy="6400800"/>
              <a:chOff x="304800" y="228600"/>
              <a:chExt cx="8534400" cy="6400800"/>
            </a:xfrm>
          </p:grpSpPr>
          <p:grpSp>
            <p:nvGrpSpPr>
              <p:cNvPr id="16" name="Group 67"/>
              <p:cNvGrpSpPr>
                <a:grpSpLocks/>
              </p:cNvGrpSpPr>
              <p:nvPr/>
            </p:nvGrpSpPr>
            <p:grpSpPr bwMode="auto">
              <a:xfrm>
                <a:off x="1676400" y="838200"/>
                <a:ext cx="5699761" cy="5181600"/>
                <a:chOff x="1371599" y="304800"/>
                <a:chExt cx="6812279" cy="6172199"/>
              </a:xfrm>
            </p:grpSpPr>
            <p:grpSp>
              <p:nvGrpSpPr>
                <p:cNvPr id="33" name="Group 20"/>
                <p:cNvGrpSpPr>
                  <a:grpSpLocks/>
                </p:cNvGrpSpPr>
                <p:nvPr/>
              </p:nvGrpSpPr>
              <p:grpSpPr bwMode="auto">
                <a:xfrm>
                  <a:off x="3577720" y="304800"/>
                  <a:ext cx="2375823" cy="2133600"/>
                  <a:chOff x="3577720" y="304800"/>
                  <a:chExt cx="2375823" cy="2133600"/>
                </a:xfrm>
              </p:grpSpPr>
              <p:sp>
                <p:nvSpPr>
                  <p:cNvPr id="52" name="Freeform 61"/>
                  <p:cNvSpPr>
                    <a:spLocks/>
                  </p:cNvSpPr>
                  <p:nvPr/>
                </p:nvSpPr>
                <p:spPr bwMode="auto">
                  <a:xfrm>
                    <a:off x="3577720" y="304800"/>
                    <a:ext cx="2375823" cy="2109122"/>
                  </a:xfrm>
                  <a:custGeom>
                    <a:avLst/>
                    <a:gdLst/>
                    <a:ahLst/>
                    <a:cxnLst>
                      <a:cxn ang="0">
                        <a:pos x="530" y="100"/>
                      </a:cxn>
                      <a:cxn ang="0">
                        <a:pos x="576" y="110"/>
                      </a:cxn>
                      <a:cxn ang="0">
                        <a:pos x="622" y="126"/>
                      </a:cxn>
                      <a:cxn ang="0">
                        <a:pos x="754" y="86"/>
                      </a:cxn>
                      <a:cxn ang="0">
                        <a:pos x="716" y="182"/>
                      </a:cxn>
                      <a:cxn ang="0">
                        <a:pos x="774" y="240"/>
                      </a:cxn>
                      <a:cxn ang="0">
                        <a:pos x="870" y="202"/>
                      </a:cxn>
                      <a:cxn ang="0">
                        <a:pos x="912" y="274"/>
                      </a:cxn>
                      <a:cxn ang="0">
                        <a:pos x="832" y="338"/>
                      </a:cxn>
                      <a:cxn ang="0">
                        <a:pos x="856" y="420"/>
                      </a:cxn>
                      <a:cxn ang="0">
                        <a:pos x="956" y="436"/>
                      </a:cxn>
                      <a:cxn ang="0">
                        <a:pos x="956" y="520"/>
                      </a:cxn>
                      <a:cxn ang="0">
                        <a:pos x="856" y="536"/>
                      </a:cxn>
                      <a:cxn ang="0">
                        <a:pos x="832" y="622"/>
                      </a:cxn>
                      <a:cxn ang="0">
                        <a:pos x="914" y="682"/>
                      </a:cxn>
                      <a:cxn ang="0">
                        <a:pos x="778" y="712"/>
                      </a:cxn>
                      <a:cxn ang="0">
                        <a:pos x="748" y="748"/>
                      </a:cxn>
                      <a:cxn ang="0">
                        <a:pos x="714" y="778"/>
                      </a:cxn>
                      <a:cxn ang="0">
                        <a:pos x="682" y="914"/>
                      </a:cxn>
                      <a:cxn ang="0">
                        <a:pos x="618" y="834"/>
                      </a:cxn>
                      <a:cxn ang="0">
                        <a:pos x="578" y="846"/>
                      </a:cxn>
                      <a:cxn ang="0">
                        <a:pos x="530" y="856"/>
                      </a:cxn>
                      <a:cxn ang="0">
                        <a:pos x="520" y="956"/>
                      </a:cxn>
                      <a:cxn ang="0">
                        <a:pos x="426" y="856"/>
                      </a:cxn>
                      <a:cxn ang="0">
                        <a:pos x="380" y="846"/>
                      </a:cxn>
                      <a:cxn ang="0">
                        <a:pos x="334" y="832"/>
                      </a:cxn>
                      <a:cxn ang="0">
                        <a:pos x="202" y="872"/>
                      </a:cxn>
                      <a:cxn ang="0">
                        <a:pos x="240" y="776"/>
                      </a:cxn>
                      <a:cxn ang="0">
                        <a:pos x="182" y="718"/>
                      </a:cxn>
                      <a:cxn ang="0">
                        <a:pos x="86" y="756"/>
                      </a:cxn>
                      <a:cxn ang="0">
                        <a:pos x="44" y="682"/>
                      </a:cxn>
                      <a:cxn ang="0">
                        <a:pos x="124" y="618"/>
                      </a:cxn>
                      <a:cxn ang="0">
                        <a:pos x="102" y="536"/>
                      </a:cxn>
                      <a:cxn ang="0">
                        <a:pos x="0" y="520"/>
                      </a:cxn>
                      <a:cxn ang="0">
                        <a:pos x="0" y="436"/>
                      </a:cxn>
                      <a:cxn ang="0">
                        <a:pos x="102" y="420"/>
                      </a:cxn>
                      <a:cxn ang="0">
                        <a:pos x="124" y="334"/>
                      </a:cxn>
                      <a:cxn ang="0">
                        <a:pos x="42" y="276"/>
                      </a:cxn>
                      <a:cxn ang="0">
                        <a:pos x="178" y="244"/>
                      </a:cxn>
                      <a:cxn ang="0">
                        <a:pos x="208" y="210"/>
                      </a:cxn>
                      <a:cxn ang="0">
                        <a:pos x="242" y="178"/>
                      </a:cxn>
                      <a:cxn ang="0">
                        <a:pos x="274" y="44"/>
                      </a:cxn>
                      <a:cxn ang="0">
                        <a:pos x="338" y="124"/>
                      </a:cxn>
                      <a:cxn ang="0">
                        <a:pos x="400" y="106"/>
                      </a:cxn>
                      <a:cxn ang="0">
                        <a:pos x="426" y="100"/>
                      </a:cxn>
                      <a:cxn ang="0">
                        <a:pos x="520" y="0"/>
                      </a:cxn>
                    </a:cxnLst>
                    <a:rect l="0" t="0" r="r" b="b"/>
                    <a:pathLst>
                      <a:path w="956" h="956">
                        <a:moveTo>
                          <a:pt x="520" y="0"/>
                        </a:moveTo>
                        <a:lnTo>
                          <a:pt x="520" y="0"/>
                        </a:lnTo>
                        <a:lnTo>
                          <a:pt x="530" y="100"/>
                        </a:lnTo>
                        <a:lnTo>
                          <a:pt x="536" y="102"/>
                        </a:lnTo>
                        <a:lnTo>
                          <a:pt x="536" y="102"/>
                        </a:lnTo>
                        <a:lnTo>
                          <a:pt x="576" y="110"/>
                        </a:lnTo>
                        <a:lnTo>
                          <a:pt x="616" y="124"/>
                        </a:lnTo>
                        <a:lnTo>
                          <a:pt x="622" y="126"/>
                        </a:lnTo>
                        <a:lnTo>
                          <a:pt x="622" y="126"/>
                        </a:lnTo>
                        <a:lnTo>
                          <a:pt x="682" y="44"/>
                        </a:lnTo>
                        <a:lnTo>
                          <a:pt x="682" y="44"/>
                        </a:lnTo>
                        <a:lnTo>
                          <a:pt x="754" y="86"/>
                        </a:lnTo>
                        <a:lnTo>
                          <a:pt x="754" y="86"/>
                        </a:lnTo>
                        <a:lnTo>
                          <a:pt x="712" y="178"/>
                        </a:lnTo>
                        <a:lnTo>
                          <a:pt x="716" y="182"/>
                        </a:lnTo>
                        <a:lnTo>
                          <a:pt x="716" y="182"/>
                        </a:lnTo>
                        <a:lnTo>
                          <a:pt x="748" y="208"/>
                        </a:lnTo>
                        <a:lnTo>
                          <a:pt x="774" y="240"/>
                        </a:lnTo>
                        <a:lnTo>
                          <a:pt x="778" y="244"/>
                        </a:lnTo>
                        <a:lnTo>
                          <a:pt x="778" y="244"/>
                        </a:lnTo>
                        <a:lnTo>
                          <a:pt x="870" y="202"/>
                        </a:lnTo>
                        <a:lnTo>
                          <a:pt x="870" y="202"/>
                        </a:lnTo>
                        <a:lnTo>
                          <a:pt x="912" y="274"/>
                        </a:lnTo>
                        <a:lnTo>
                          <a:pt x="912" y="274"/>
                        </a:lnTo>
                        <a:lnTo>
                          <a:pt x="830" y="334"/>
                        </a:lnTo>
                        <a:lnTo>
                          <a:pt x="832" y="338"/>
                        </a:lnTo>
                        <a:lnTo>
                          <a:pt x="832" y="338"/>
                        </a:lnTo>
                        <a:lnTo>
                          <a:pt x="846" y="380"/>
                        </a:lnTo>
                        <a:lnTo>
                          <a:pt x="852" y="400"/>
                        </a:lnTo>
                        <a:lnTo>
                          <a:pt x="856" y="420"/>
                        </a:lnTo>
                        <a:lnTo>
                          <a:pt x="856" y="426"/>
                        </a:lnTo>
                        <a:lnTo>
                          <a:pt x="856" y="426"/>
                        </a:lnTo>
                        <a:lnTo>
                          <a:pt x="956" y="436"/>
                        </a:lnTo>
                        <a:lnTo>
                          <a:pt x="956" y="436"/>
                        </a:lnTo>
                        <a:lnTo>
                          <a:pt x="956" y="520"/>
                        </a:lnTo>
                        <a:lnTo>
                          <a:pt x="956" y="520"/>
                        </a:lnTo>
                        <a:lnTo>
                          <a:pt x="856" y="530"/>
                        </a:lnTo>
                        <a:lnTo>
                          <a:pt x="856" y="536"/>
                        </a:lnTo>
                        <a:lnTo>
                          <a:pt x="856" y="536"/>
                        </a:lnTo>
                        <a:lnTo>
                          <a:pt x="846" y="578"/>
                        </a:lnTo>
                        <a:lnTo>
                          <a:pt x="834" y="618"/>
                        </a:lnTo>
                        <a:lnTo>
                          <a:pt x="832" y="622"/>
                        </a:lnTo>
                        <a:lnTo>
                          <a:pt x="832" y="622"/>
                        </a:lnTo>
                        <a:lnTo>
                          <a:pt x="914" y="682"/>
                        </a:lnTo>
                        <a:lnTo>
                          <a:pt x="914" y="682"/>
                        </a:lnTo>
                        <a:lnTo>
                          <a:pt x="870" y="754"/>
                        </a:lnTo>
                        <a:lnTo>
                          <a:pt x="870" y="754"/>
                        </a:lnTo>
                        <a:lnTo>
                          <a:pt x="778" y="712"/>
                        </a:lnTo>
                        <a:lnTo>
                          <a:pt x="776" y="718"/>
                        </a:lnTo>
                        <a:lnTo>
                          <a:pt x="776" y="718"/>
                        </a:lnTo>
                        <a:lnTo>
                          <a:pt x="748" y="748"/>
                        </a:lnTo>
                        <a:lnTo>
                          <a:pt x="718" y="776"/>
                        </a:lnTo>
                        <a:lnTo>
                          <a:pt x="714" y="778"/>
                        </a:lnTo>
                        <a:lnTo>
                          <a:pt x="714" y="778"/>
                        </a:lnTo>
                        <a:lnTo>
                          <a:pt x="756" y="870"/>
                        </a:lnTo>
                        <a:lnTo>
                          <a:pt x="756" y="870"/>
                        </a:lnTo>
                        <a:lnTo>
                          <a:pt x="682" y="914"/>
                        </a:lnTo>
                        <a:lnTo>
                          <a:pt x="682" y="914"/>
                        </a:lnTo>
                        <a:lnTo>
                          <a:pt x="622" y="832"/>
                        </a:lnTo>
                        <a:lnTo>
                          <a:pt x="618" y="834"/>
                        </a:lnTo>
                        <a:lnTo>
                          <a:pt x="618" y="834"/>
                        </a:lnTo>
                        <a:lnTo>
                          <a:pt x="598" y="840"/>
                        </a:lnTo>
                        <a:lnTo>
                          <a:pt x="578" y="846"/>
                        </a:lnTo>
                        <a:lnTo>
                          <a:pt x="556" y="852"/>
                        </a:lnTo>
                        <a:lnTo>
                          <a:pt x="536" y="856"/>
                        </a:lnTo>
                        <a:lnTo>
                          <a:pt x="530" y="856"/>
                        </a:lnTo>
                        <a:lnTo>
                          <a:pt x="530" y="856"/>
                        </a:lnTo>
                        <a:lnTo>
                          <a:pt x="520" y="956"/>
                        </a:lnTo>
                        <a:lnTo>
                          <a:pt x="520" y="956"/>
                        </a:lnTo>
                        <a:lnTo>
                          <a:pt x="436" y="956"/>
                        </a:lnTo>
                        <a:lnTo>
                          <a:pt x="436" y="956"/>
                        </a:lnTo>
                        <a:lnTo>
                          <a:pt x="426" y="856"/>
                        </a:lnTo>
                        <a:lnTo>
                          <a:pt x="420" y="856"/>
                        </a:lnTo>
                        <a:lnTo>
                          <a:pt x="420" y="856"/>
                        </a:lnTo>
                        <a:lnTo>
                          <a:pt x="380" y="846"/>
                        </a:lnTo>
                        <a:lnTo>
                          <a:pt x="340" y="834"/>
                        </a:lnTo>
                        <a:lnTo>
                          <a:pt x="334" y="832"/>
                        </a:lnTo>
                        <a:lnTo>
                          <a:pt x="334" y="832"/>
                        </a:lnTo>
                        <a:lnTo>
                          <a:pt x="274" y="914"/>
                        </a:lnTo>
                        <a:lnTo>
                          <a:pt x="274" y="914"/>
                        </a:lnTo>
                        <a:lnTo>
                          <a:pt x="202" y="872"/>
                        </a:lnTo>
                        <a:lnTo>
                          <a:pt x="202" y="872"/>
                        </a:lnTo>
                        <a:lnTo>
                          <a:pt x="244" y="780"/>
                        </a:lnTo>
                        <a:lnTo>
                          <a:pt x="240" y="776"/>
                        </a:lnTo>
                        <a:lnTo>
                          <a:pt x="240" y="776"/>
                        </a:lnTo>
                        <a:lnTo>
                          <a:pt x="208" y="748"/>
                        </a:lnTo>
                        <a:lnTo>
                          <a:pt x="182" y="718"/>
                        </a:lnTo>
                        <a:lnTo>
                          <a:pt x="178" y="714"/>
                        </a:lnTo>
                        <a:lnTo>
                          <a:pt x="178" y="714"/>
                        </a:lnTo>
                        <a:lnTo>
                          <a:pt x="86" y="756"/>
                        </a:lnTo>
                        <a:lnTo>
                          <a:pt x="86" y="756"/>
                        </a:lnTo>
                        <a:lnTo>
                          <a:pt x="44" y="682"/>
                        </a:lnTo>
                        <a:lnTo>
                          <a:pt x="44" y="682"/>
                        </a:lnTo>
                        <a:lnTo>
                          <a:pt x="126" y="624"/>
                        </a:lnTo>
                        <a:lnTo>
                          <a:pt x="124" y="618"/>
                        </a:lnTo>
                        <a:lnTo>
                          <a:pt x="124" y="618"/>
                        </a:lnTo>
                        <a:lnTo>
                          <a:pt x="110" y="578"/>
                        </a:lnTo>
                        <a:lnTo>
                          <a:pt x="104" y="556"/>
                        </a:lnTo>
                        <a:lnTo>
                          <a:pt x="102" y="536"/>
                        </a:lnTo>
                        <a:lnTo>
                          <a:pt x="100" y="530"/>
                        </a:lnTo>
                        <a:lnTo>
                          <a:pt x="100" y="530"/>
                        </a:lnTo>
                        <a:lnTo>
                          <a:pt x="0" y="520"/>
                        </a:lnTo>
                        <a:lnTo>
                          <a:pt x="0" y="520"/>
                        </a:lnTo>
                        <a:lnTo>
                          <a:pt x="0" y="436"/>
                        </a:lnTo>
                        <a:lnTo>
                          <a:pt x="0" y="436"/>
                        </a:lnTo>
                        <a:lnTo>
                          <a:pt x="100" y="426"/>
                        </a:lnTo>
                        <a:lnTo>
                          <a:pt x="102" y="420"/>
                        </a:lnTo>
                        <a:lnTo>
                          <a:pt x="102" y="420"/>
                        </a:lnTo>
                        <a:lnTo>
                          <a:pt x="110" y="380"/>
                        </a:lnTo>
                        <a:lnTo>
                          <a:pt x="122" y="340"/>
                        </a:lnTo>
                        <a:lnTo>
                          <a:pt x="124" y="334"/>
                        </a:lnTo>
                        <a:lnTo>
                          <a:pt x="124" y="334"/>
                        </a:lnTo>
                        <a:lnTo>
                          <a:pt x="42" y="276"/>
                        </a:lnTo>
                        <a:lnTo>
                          <a:pt x="42" y="276"/>
                        </a:lnTo>
                        <a:lnTo>
                          <a:pt x="86" y="202"/>
                        </a:lnTo>
                        <a:lnTo>
                          <a:pt x="86" y="202"/>
                        </a:lnTo>
                        <a:lnTo>
                          <a:pt x="178" y="244"/>
                        </a:lnTo>
                        <a:lnTo>
                          <a:pt x="180" y="240"/>
                        </a:lnTo>
                        <a:lnTo>
                          <a:pt x="180" y="240"/>
                        </a:lnTo>
                        <a:lnTo>
                          <a:pt x="208" y="210"/>
                        </a:lnTo>
                        <a:lnTo>
                          <a:pt x="238" y="182"/>
                        </a:lnTo>
                        <a:lnTo>
                          <a:pt x="242" y="178"/>
                        </a:lnTo>
                        <a:lnTo>
                          <a:pt x="242" y="178"/>
                        </a:lnTo>
                        <a:lnTo>
                          <a:pt x="200" y="86"/>
                        </a:lnTo>
                        <a:lnTo>
                          <a:pt x="200" y="86"/>
                        </a:lnTo>
                        <a:lnTo>
                          <a:pt x="274" y="44"/>
                        </a:lnTo>
                        <a:lnTo>
                          <a:pt x="274" y="44"/>
                        </a:lnTo>
                        <a:lnTo>
                          <a:pt x="334" y="126"/>
                        </a:lnTo>
                        <a:lnTo>
                          <a:pt x="338" y="124"/>
                        </a:lnTo>
                        <a:lnTo>
                          <a:pt x="338" y="124"/>
                        </a:lnTo>
                        <a:lnTo>
                          <a:pt x="378" y="110"/>
                        </a:lnTo>
                        <a:lnTo>
                          <a:pt x="400" y="106"/>
                        </a:lnTo>
                        <a:lnTo>
                          <a:pt x="420" y="102"/>
                        </a:lnTo>
                        <a:lnTo>
                          <a:pt x="426" y="100"/>
                        </a:lnTo>
                        <a:lnTo>
                          <a:pt x="426" y="100"/>
                        </a:lnTo>
                        <a:lnTo>
                          <a:pt x="436" y="0"/>
                        </a:lnTo>
                        <a:lnTo>
                          <a:pt x="436" y="0"/>
                        </a:lnTo>
                        <a:lnTo>
                          <a:pt x="520" y="0"/>
                        </a:lnTo>
                        <a:lnTo>
                          <a:pt x="520" y="0"/>
                        </a:lnTo>
                        <a:close/>
                      </a:path>
                    </a:pathLst>
                  </a:custGeom>
                  <a:solidFill>
                    <a:schemeClr val="tx2">
                      <a:lumMod val="75000"/>
                    </a:schemeClr>
                  </a:solidFill>
                  <a:ln>
                    <a:headEnd/>
                    <a:tailEnd/>
                  </a:ln>
                </p:spPr>
                <p:style>
                  <a:lnRef idx="0">
                    <a:schemeClr val="accent2"/>
                  </a:lnRef>
                  <a:fillRef idx="3">
                    <a:schemeClr val="accent2"/>
                  </a:fillRef>
                  <a:effectRef idx="3">
                    <a:schemeClr val="accent2"/>
                  </a:effectRef>
                  <a:fontRef idx="minor">
                    <a:schemeClr val="lt1"/>
                  </a:fontRef>
                </p:style>
                <p:txBody>
                  <a:bodyPr/>
                  <a:lstStyle/>
                  <a:p>
                    <a:pPr>
                      <a:defRPr/>
                    </a:pPr>
                    <a:endParaRPr lang="en-US" dirty="0"/>
                  </a:p>
                </p:txBody>
              </p:sp>
              <p:sp>
                <p:nvSpPr>
                  <p:cNvPr id="53" name="Oval 52"/>
                  <p:cNvSpPr/>
                  <p:nvPr/>
                </p:nvSpPr>
                <p:spPr>
                  <a:xfrm>
                    <a:off x="3582023" y="304800"/>
                    <a:ext cx="2362211" cy="2133039"/>
                  </a:xfrm>
                  <a:prstGeom prst="ellipse">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300" b="1" dirty="0"/>
                      <a:t>Manufacturing</a:t>
                    </a:r>
                  </a:p>
                  <a:p>
                    <a:pPr algn="ctr">
                      <a:defRPr/>
                    </a:pPr>
                    <a:r>
                      <a:rPr lang="en-US" sz="1500" b="1" dirty="0"/>
                      <a:t>&amp; Production</a:t>
                    </a:r>
                  </a:p>
                  <a:p>
                    <a:pPr algn="ctr">
                      <a:defRPr/>
                    </a:pPr>
                    <a:r>
                      <a:rPr lang="en-US" sz="1500" b="1" dirty="0"/>
                      <a:t>Module</a:t>
                    </a:r>
                  </a:p>
                </p:txBody>
              </p:sp>
            </p:grpSp>
            <p:grpSp>
              <p:nvGrpSpPr>
                <p:cNvPr id="34" name="Group 52"/>
                <p:cNvGrpSpPr>
                  <a:grpSpLocks/>
                </p:cNvGrpSpPr>
                <p:nvPr/>
              </p:nvGrpSpPr>
              <p:grpSpPr bwMode="auto">
                <a:xfrm>
                  <a:off x="1600200" y="1133384"/>
                  <a:ext cx="2286000" cy="1958470"/>
                  <a:chOff x="1600200" y="1133384"/>
                  <a:chExt cx="2286000" cy="1958470"/>
                </a:xfrm>
              </p:grpSpPr>
              <p:sp>
                <p:nvSpPr>
                  <p:cNvPr id="50" name="Freeform 61"/>
                  <p:cNvSpPr>
                    <a:spLocks/>
                  </p:cNvSpPr>
                  <p:nvPr/>
                </p:nvSpPr>
                <p:spPr bwMode="auto">
                  <a:xfrm>
                    <a:off x="1640140" y="1133384"/>
                    <a:ext cx="2206121" cy="1958470"/>
                  </a:xfrm>
                  <a:custGeom>
                    <a:avLst/>
                    <a:gdLst/>
                    <a:ahLst/>
                    <a:cxnLst>
                      <a:cxn ang="0">
                        <a:pos x="530" y="100"/>
                      </a:cxn>
                      <a:cxn ang="0">
                        <a:pos x="576" y="110"/>
                      </a:cxn>
                      <a:cxn ang="0">
                        <a:pos x="622" y="126"/>
                      </a:cxn>
                      <a:cxn ang="0">
                        <a:pos x="754" y="86"/>
                      </a:cxn>
                      <a:cxn ang="0">
                        <a:pos x="716" y="182"/>
                      </a:cxn>
                      <a:cxn ang="0">
                        <a:pos x="774" y="240"/>
                      </a:cxn>
                      <a:cxn ang="0">
                        <a:pos x="870" y="202"/>
                      </a:cxn>
                      <a:cxn ang="0">
                        <a:pos x="912" y="274"/>
                      </a:cxn>
                      <a:cxn ang="0">
                        <a:pos x="832" y="338"/>
                      </a:cxn>
                      <a:cxn ang="0">
                        <a:pos x="856" y="420"/>
                      </a:cxn>
                      <a:cxn ang="0">
                        <a:pos x="956" y="436"/>
                      </a:cxn>
                      <a:cxn ang="0">
                        <a:pos x="956" y="520"/>
                      </a:cxn>
                      <a:cxn ang="0">
                        <a:pos x="856" y="536"/>
                      </a:cxn>
                      <a:cxn ang="0">
                        <a:pos x="832" y="622"/>
                      </a:cxn>
                      <a:cxn ang="0">
                        <a:pos x="914" y="682"/>
                      </a:cxn>
                      <a:cxn ang="0">
                        <a:pos x="778" y="712"/>
                      </a:cxn>
                      <a:cxn ang="0">
                        <a:pos x="748" y="748"/>
                      </a:cxn>
                      <a:cxn ang="0">
                        <a:pos x="714" y="778"/>
                      </a:cxn>
                      <a:cxn ang="0">
                        <a:pos x="682" y="914"/>
                      </a:cxn>
                      <a:cxn ang="0">
                        <a:pos x="618" y="834"/>
                      </a:cxn>
                      <a:cxn ang="0">
                        <a:pos x="578" y="846"/>
                      </a:cxn>
                      <a:cxn ang="0">
                        <a:pos x="530" y="856"/>
                      </a:cxn>
                      <a:cxn ang="0">
                        <a:pos x="520" y="956"/>
                      </a:cxn>
                      <a:cxn ang="0">
                        <a:pos x="426" y="856"/>
                      </a:cxn>
                      <a:cxn ang="0">
                        <a:pos x="380" y="846"/>
                      </a:cxn>
                      <a:cxn ang="0">
                        <a:pos x="334" y="832"/>
                      </a:cxn>
                      <a:cxn ang="0">
                        <a:pos x="202" y="872"/>
                      </a:cxn>
                      <a:cxn ang="0">
                        <a:pos x="240" y="776"/>
                      </a:cxn>
                      <a:cxn ang="0">
                        <a:pos x="182" y="718"/>
                      </a:cxn>
                      <a:cxn ang="0">
                        <a:pos x="86" y="756"/>
                      </a:cxn>
                      <a:cxn ang="0">
                        <a:pos x="44" y="682"/>
                      </a:cxn>
                      <a:cxn ang="0">
                        <a:pos x="124" y="618"/>
                      </a:cxn>
                      <a:cxn ang="0">
                        <a:pos x="102" y="536"/>
                      </a:cxn>
                      <a:cxn ang="0">
                        <a:pos x="0" y="520"/>
                      </a:cxn>
                      <a:cxn ang="0">
                        <a:pos x="0" y="436"/>
                      </a:cxn>
                      <a:cxn ang="0">
                        <a:pos x="102" y="420"/>
                      </a:cxn>
                      <a:cxn ang="0">
                        <a:pos x="124" y="334"/>
                      </a:cxn>
                      <a:cxn ang="0">
                        <a:pos x="42" y="276"/>
                      </a:cxn>
                      <a:cxn ang="0">
                        <a:pos x="178" y="244"/>
                      </a:cxn>
                      <a:cxn ang="0">
                        <a:pos x="208" y="210"/>
                      </a:cxn>
                      <a:cxn ang="0">
                        <a:pos x="242" y="178"/>
                      </a:cxn>
                      <a:cxn ang="0">
                        <a:pos x="274" y="44"/>
                      </a:cxn>
                      <a:cxn ang="0">
                        <a:pos x="338" y="124"/>
                      </a:cxn>
                      <a:cxn ang="0">
                        <a:pos x="400" y="106"/>
                      </a:cxn>
                      <a:cxn ang="0">
                        <a:pos x="426" y="100"/>
                      </a:cxn>
                      <a:cxn ang="0">
                        <a:pos x="520" y="0"/>
                      </a:cxn>
                    </a:cxnLst>
                    <a:rect l="0" t="0" r="r" b="b"/>
                    <a:pathLst>
                      <a:path w="956" h="956">
                        <a:moveTo>
                          <a:pt x="520" y="0"/>
                        </a:moveTo>
                        <a:lnTo>
                          <a:pt x="520" y="0"/>
                        </a:lnTo>
                        <a:lnTo>
                          <a:pt x="530" y="100"/>
                        </a:lnTo>
                        <a:lnTo>
                          <a:pt x="536" y="102"/>
                        </a:lnTo>
                        <a:lnTo>
                          <a:pt x="536" y="102"/>
                        </a:lnTo>
                        <a:lnTo>
                          <a:pt x="576" y="110"/>
                        </a:lnTo>
                        <a:lnTo>
                          <a:pt x="616" y="124"/>
                        </a:lnTo>
                        <a:lnTo>
                          <a:pt x="622" y="126"/>
                        </a:lnTo>
                        <a:lnTo>
                          <a:pt x="622" y="126"/>
                        </a:lnTo>
                        <a:lnTo>
                          <a:pt x="682" y="44"/>
                        </a:lnTo>
                        <a:lnTo>
                          <a:pt x="682" y="44"/>
                        </a:lnTo>
                        <a:lnTo>
                          <a:pt x="754" y="86"/>
                        </a:lnTo>
                        <a:lnTo>
                          <a:pt x="754" y="86"/>
                        </a:lnTo>
                        <a:lnTo>
                          <a:pt x="712" y="178"/>
                        </a:lnTo>
                        <a:lnTo>
                          <a:pt x="716" y="182"/>
                        </a:lnTo>
                        <a:lnTo>
                          <a:pt x="716" y="182"/>
                        </a:lnTo>
                        <a:lnTo>
                          <a:pt x="748" y="208"/>
                        </a:lnTo>
                        <a:lnTo>
                          <a:pt x="774" y="240"/>
                        </a:lnTo>
                        <a:lnTo>
                          <a:pt x="778" y="244"/>
                        </a:lnTo>
                        <a:lnTo>
                          <a:pt x="778" y="244"/>
                        </a:lnTo>
                        <a:lnTo>
                          <a:pt x="870" y="202"/>
                        </a:lnTo>
                        <a:lnTo>
                          <a:pt x="870" y="202"/>
                        </a:lnTo>
                        <a:lnTo>
                          <a:pt x="912" y="274"/>
                        </a:lnTo>
                        <a:lnTo>
                          <a:pt x="912" y="274"/>
                        </a:lnTo>
                        <a:lnTo>
                          <a:pt x="830" y="334"/>
                        </a:lnTo>
                        <a:lnTo>
                          <a:pt x="832" y="338"/>
                        </a:lnTo>
                        <a:lnTo>
                          <a:pt x="832" y="338"/>
                        </a:lnTo>
                        <a:lnTo>
                          <a:pt x="846" y="380"/>
                        </a:lnTo>
                        <a:lnTo>
                          <a:pt x="852" y="400"/>
                        </a:lnTo>
                        <a:lnTo>
                          <a:pt x="856" y="420"/>
                        </a:lnTo>
                        <a:lnTo>
                          <a:pt x="856" y="426"/>
                        </a:lnTo>
                        <a:lnTo>
                          <a:pt x="856" y="426"/>
                        </a:lnTo>
                        <a:lnTo>
                          <a:pt x="956" y="436"/>
                        </a:lnTo>
                        <a:lnTo>
                          <a:pt x="956" y="436"/>
                        </a:lnTo>
                        <a:lnTo>
                          <a:pt x="956" y="520"/>
                        </a:lnTo>
                        <a:lnTo>
                          <a:pt x="956" y="520"/>
                        </a:lnTo>
                        <a:lnTo>
                          <a:pt x="856" y="530"/>
                        </a:lnTo>
                        <a:lnTo>
                          <a:pt x="856" y="536"/>
                        </a:lnTo>
                        <a:lnTo>
                          <a:pt x="856" y="536"/>
                        </a:lnTo>
                        <a:lnTo>
                          <a:pt x="846" y="578"/>
                        </a:lnTo>
                        <a:lnTo>
                          <a:pt x="834" y="618"/>
                        </a:lnTo>
                        <a:lnTo>
                          <a:pt x="832" y="622"/>
                        </a:lnTo>
                        <a:lnTo>
                          <a:pt x="832" y="622"/>
                        </a:lnTo>
                        <a:lnTo>
                          <a:pt x="914" y="682"/>
                        </a:lnTo>
                        <a:lnTo>
                          <a:pt x="914" y="682"/>
                        </a:lnTo>
                        <a:lnTo>
                          <a:pt x="870" y="754"/>
                        </a:lnTo>
                        <a:lnTo>
                          <a:pt x="870" y="754"/>
                        </a:lnTo>
                        <a:lnTo>
                          <a:pt x="778" y="712"/>
                        </a:lnTo>
                        <a:lnTo>
                          <a:pt x="776" y="718"/>
                        </a:lnTo>
                        <a:lnTo>
                          <a:pt x="776" y="718"/>
                        </a:lnTo>
                        <a:lnTo>
                          <a:pt x="748" y="748"/>
                        </a:lnTo>
                        <a:lnTo>
                          <a:pt x="718" y="776"/>
                        </a:lnTo>
                        <a:lnTo>
                          <a:pt x="714" y="778"/>
                        </a:lnTo>
                        <a:lnTo>
                          <a:pt x="714" y="778"/>
                        </a:lnTo>
                        <a:lnTo>
                          <a:pt x="756" y="870"/>
                        </a:lnTo>
                        <a:lnTo>
                          <a:pt x="756" y="870"/>
                        </a:lnTo>
                        <a:lnTo>
                          <a:pt x="682" y="914"/>
                        </a:lnTo>
                        <a:lnTo>
                          <a:pt x="682" y="914"/>
                        </a:lnTo>
                        <a:lnTo>
                          <a:pt x="622" y="832"/>
                        </a:lnTo>
                        <a:lnTo>
                          <a:pt x="618" y="834"/>
                        </a:lnTo>
                        <a:lnTo>
                          <a:pt x="618" y="834"/>
                        </a:lnTo>
                        <a:lnTo>
                          <a:pt x="598" y="840"/>
                        </a:lnTo>
                        <a:lnTo>
                          <a:pt x="578" y="846"/>
                        </a:lnTo>
                        <a:lnTo>
                          <a:pt x="556" y="852"/>
                        </a:lnTo>
                        <a:lnTo>
                          <a:pt x="536" y="856"/>
                        </a:lnTo>
                        <a:lnTo>
                          <a:pt x="530" y="856"/>
                        </a:lnTo>
                        <a:lnTo>
                          <a:pt x="530" y="856"/>
                        </a:lnTo>
                        <a:lnTo>
                          <a:pt x="520" y="956"/>
                        </a:lnTo>
                        <a:lnTo>
                          <a:pt x="520" y="956"/>
                        </a:lnTo>
                        <a:lnTo>
                          <a:pt x="436" y="956"/>
                        </a:lnTo>
                        <a:lnTo>
                          <a:pt x="436" y="956"/>
                        </a:lnTo>
                        <a:lnTo>
                          <a:pt x="426" y="856"/>
                        </a:lnTo>
                        <a:lnTo>
                          <a:pt x="420" y="856"/>
                        </a:lnTo>
                        <a:lnTo>
                          <a:pt x="420" y="856"/>
                        </a:lnTo>
                        <a:lnTo>
                          <a:pt x="380" y="846"/>
                        </a:lnTo>
                        <a:lnTo>
                          <a:pt x="340" y="834"/>
                        </a:lnTo>
                        <a:lnTo>
                          <a:pt x="334" y="832"/>
                        </a:lnTo>
                        <a:lnTo>
                          <a:pt x="334" y="832"/>
                        </a:lnTo>
                        <a:lnTo>
                          <a:pt x="274" y="914"/>
                        </a:lnTo>
                        <a:lnTo>
                          <a:pt x="274" y="914"/>
                        </a:lnTo>
                        <a:lnTo>
                          <a:pt x="202" y="872"/>
                        </a:lnTo>
                        <a:lnTo>
                          <a:pt x="202" y="872"/>
                        </a:lnTo>
                        <a:lnTo>
                          <a:pt x="244" y="780"/>
                        </a:lnTo>
                        <a:lnTo>
                          <a:pt x="240" y="776"/>
                        </a:lnTo>
                        <a:lnTo>
                          <a:pt x="240" y="776"/>
                        </a:lnTo>
                        <a:lnTo>
                          <a:pt x="208" y="748"/>
                        </a:lnTo>
                        <a:lnTo>
                          <a:pt x="182" y="718"/>
                        </a:lnTo>
                        <a:lnTo>
                          <a:pt x="178" y="714"/>
                        </a:lnTo>
                        <a:lnTo>
                          <a:pt x="178" y="714"/>
                        </a:lnTo>
                        <a:lnTo>
                          <a:pt x="86" y="756"/>
                        </a:lnTo>
                        <a:lnTo>
                          <a:pt x="86" y="756"/>
                        </a:lnTo>
                        <a:lnTo>
                          <a:pt x="44" y="682"/>
                        </a:lnTo>
                        <a:lnTo>
                          <a:pt x="44" y="682"/>
                        </a:lnTo>
                        <a:lnTo>
                          <a:pt x="126" y="624"/>
                        </a:lnTo>
                        <a:lnTo>
                          <a:pt x="124" y="618"/>
                        </a:lnTo>
                        <a:lnTo>
                          <a:pt x="124" y="618"/>
                        </a:lnTo>
                        <a:lnTo>
                          <a:pt x="110" y="578"/>
                        </a:lnTo>
                        <a:lnTo>
                          <a:pt x="104" y="556"/>
                        </a:lnTo>
                        <a:lnTo>
                          <a:pt x="102" y="536"/>
                        </a:lnTo>
                        <a:lnTo>
                          <a:pt x="100" y="530"/>
                        </a:lnTo>
                        <a:lnTo>
                          <a:pt x="100" y="530"/>
                        </a:lnTo>
                        <a:lnTo>
                          <a:pt x="0" y="520"/>
                        </a:lnTo>
                        <a:lnTo>
                          <a:pt x="0" y="520"/>
                        </a:lnTo>
                        <a:lnTo>
                          <a:pt x="0" y="436"/>
                        </a:lnTo>
                        <a:lnTo>
                          <a:pt x="0" y="436"/>
                        </a:lnTo>
                        <a:lnTo>
                          <a:pt x="100" y="426"/>
                        </a:lnTo>
                        <a:lnTo>
                          <a:pt x="102" y="420"/>
                        </a:lnTo>
                        <a:lnTo>
                          <a:pt x="102" y="420"/>
                        </a:lnTo>
                        <a:lnTo>
                          <a:pt x="110" y="380"/>
                        </a:lnTo>
                        <a:lnTo>
                          <a:pt x="122" y="340"/>
                        </a:lnTo>
                        <a:lnTo>
                          <a:pt x="124" y="334"/>
                        </a:lnTo>
                        <a:lnTo>
                          <a:pt x="124" y="334"/>
                        </a:lnTo>
                        <a:lnTo>
                          <a:pt x="42" y="276"/>
                        </a:lnTo>
                        <a:lnTo>
                          <a:pt x="42" y="276"/>
                        </a:lnTo>
                        <a:lnTo>
                          <a:pt x="86" y="202"/>
                        </a:lnTo>
                        <a:lnTo>
                          <a:pt x="86" y="202"/>
                        </a:lnTo>
                        <a:lnTo>
                          <a:pt x="178" y="244"/>
                        </a:lnTo>
                        <a:lnTo>
                          <a:pt x="180" y="240"/>
                        </a:lnTo>
                        <a:lnTo>
                          <a:pt x="180" y="240"/>
                        </a:lnTo>
                        <a:lnTo>
                          <a:pt x="208" y="210"/>
                        </a:lnTo>
                        <a:lnTo>
                          <a:pt x="238" y="182"/>
                        </a:lnTo>
                        <a:lnTo>
                          <a:pt x="242" y="178"/>
                        </a:lnTo>
                        <a:lnTo>
                          <a:pt x="242" y="178"/>
                        </a:lnTo>
                        <a:lnTo>
                          <a:pt x="200" y="86"/>
                        </a:lnTo>
                        <a:lnTo>
                          <a:pt x="200" y="86"/>
                        </a:lnTo>
                        <a:lnTo>
                          <a:pt x="274" y="44"/>
                        </a:lnTo>
                        <a:lnTo>
                          <a:pt x="274" y="44"/>
                        </a:lnTo>
                        <a:lnTo>
                          <a:pt x="334" y="126"/>
                        </a:lnTo>
                        <a:lnTo>
                          <a:pt x="338" y="124"/>
                        </a:lnTo>
                        <a:lnTo>
                          <a:pt x="338" y="124"/>
                        </a:lnTo>
                        <a:lnTo>
                          <a:pt x="378" y="110"/>
                        </a:lnTo>
                        <a:lnTo>
                          <a:pt x="400" y="106"/>
                        </a:lnTo>
                        <a:lnTo>
                          <a:pt x="420" y="102"/>
                        </a:lnTo>
                        <a:lnTo>
                          <a:pt x="426" y="100"/>
                        </a:lnTo>
                        <a:lnTo>
                          <a:pt x="426" y="100"/>
                        </a:lnTo>
                        <a:lnTo>
                          <a:pt x="436" y="0"/>
                        </a:lnTo>
                        <a:lnTo>
                          <a:pt x="436" y="0"/>
                        </a:lnTo>
                        <a:lnTo>
                          <a:pt x="520" y="0"/>
                        </a:lnTo>
                        <a:lnTo>
                          <a:pt x="520" y="0"/>
                        </a:lnTo>
                        <a:close/>
                      </a:path>
                    </a:pathLst>
                  </a:custGeom>
                  <a:solidFill>
                    <a:schemeClr val="tx2">
                      <a:lumMod val="75000"/>
                    </a:schemeClr>
                  </a:solidFill>
                  <a:ln>
                    <a:headEnd/>
                    <a:tailEnd/>
                  </a:ln>
                </p:spPr>
                <p:style>
                  <a:lnRef idx="0">
                    <a:schemeClr val="accent2"/>
                  </a:lnRef>
                  <a:fillRef idx="3">
                    <a:schemeClr val="accent2"/>
                  </a:fillRef>
                  <a:effectRef idx="3">
                    <a:schemeClr val="accent2"/>
                  </a:effectRef>
                  <a:fontRef idx="minor">
                    <a:schemeClr val="lt1"/>
                  </a:fontRef>
                </p:style>
                <p:txBody>
                  <a:bodyPr/>
                  <a:lstStyle/>
                  <a:p>
                    <a:pPr>
                      <a:defRPr/>
                    </a:pPr>
                    <a:endParaRPr lang="en-US"/>
                  </a:p>
                </p:txBody>
              </p:sp>
              <p:sp>
                <p:nvSpPr>
                  <p:cNvPr id="51" name="Oval 50"/>
                  <p:cNvSpPr/>
                  <p:nvPr/>
                </p:nvSpPr>
                <p:spPr>
                  <a:xfrm>
                    <a:off x="1599282" y="1159529"/>
                    <a:ext cx="2286318" cy="1906120"/>
                  </a:xfrm>
                  <a:prstGeom prst="ellipse">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500" b="1" dirty="0"/>
                      <a:t>Accounting and Financial Module</a:t>
                    </a:r>
                  </a:p>
                </p:txBody>
              </p:sp>
            </p:grpSp>
            <p:grpSp>
              <p:nvGrpSpPr>
                <p:cNvPr id="35" name="Group 66"/>
                <p:cNvGrpSpPr>
                  <a:grpSpLocks/>
                </p:cNvGrpSpPr>
                <p:nvPr/>
              </p:nvGrpSpPr>
              <p:grpSpPr bwMode="auto">
                <a:xfrm>
                  <a:off x="2524656" y="4518529"/>
                  <a:ext cx="2286000" cy="1958470"/>
                  <a:chOff x="2524656" y="4518531"/>
                  <a:chExt cx="2286000" cy="1958470"/>
                </a:xfrm>
              </p:grpSpPr>
              <p:sp>
                <p:nvSpPr>
                  <p:cNvPr id="48" name="Freeform 61"/>
                  <p:cNvSpPr>
                    <a:spLocks/>
                  </p:cNvSpPr>
                  <p:nvPr/>
                </p:nvSpPr>
                <p:spPr bwMode="auto">
                  <a:xfrm rot="600000">
                    <a:off x="2564596" y="4518531"/>
                    <a:ext cx="2206121" cy="1958470"/>
                  </a:xfrm>
                  <a:custGeom>
                    <a:avLst/>
                    <a:gdLst/>
                    <a:ahLst/>
                    <a:cxnLst>
                      <a:cxn ang="0">
                        <a:pos x="530" y="100"/>
                      </a:cxn>
                      <a:cxn ang="0">
                        <a:pos x="576" y="110"/>
                      </a:cxn>
                      <a:cxn ang="0">
                        <a:pos x="622" y="126"/>
                      </a:cxn>
                      <a:cxn ang="0">
                        <a:pos x="754" y="86"/>
                      </a:cxn>
                      <a:cxn ang="0">
                        <a:pos x="716" y="182"/>
                      </a:cxn>
                      <a:cxn ang="0">
                        <a:pos x="774" y="240"/>
                      </a:cxn>
                      <a:cxn ang="0">
                        <a:pos x="870" y="202"/>
                      </a:cxn>
                      <a:cxn ang="0">
                        <a:pos x="912" y="274"/>
                      </a:cxn>
                      <a:cxn ang="0">
                        <a:pos x="832" y="338"/>
                      </a:cxn>
                      <a:cxn ang="0">
                        <a:pos x="856" y="420"/>
                      </a:cxn>
                      <a:cxn ang="0">
                        <a:pos x="956" y="436"/>
                      </a:cxn>
                      <a:cxn ang="0">
                        <a:pos x="956" y="520"/>
                      </a:cxn>
                      <a:cxn ang="0">
                        <a:pos x="856" y="536"/>
                      </a:cxn>
                      <a:cxn ang="0">
                        <a:pos x="832" y="622"/>
                      </a:cxn>
                      <a:cxn ang="0">
                        <a:pos x="914" y="682"/>
                      </a:cxn>
                      <a:cxn ang="0">
                        <a:pos x="778" y="712"/>
                      </a:cxn>
                      <a:cxn ang="0">
                        <a:pos x="748" y="748"/>
                      </a:cxn>
                      <a:cxn ang="0">
                        <a:pos x="714" y="778"/>
                      </a:cxn>
                      <a:cxn ang="0">
                        <a:pos x="682" y="914"/>
                      </a:cxn>
                      <a:cxn ang="0">
                        <a:pos x="618" y="834"/>
                      </a:cxn>
                      <a:cxn ang="0">
                        <a:pos x="578" y="846"/>
                      </a:cxn>
                      <a:cxn ang="0">
                        <a:pos x="530" y="856"/>
                      </a:cxn>
                      <a:cxn ang="0">
                        <a:pos x="520" y="956"/>
                      </a:cxn>
                      <a:cxn ang="0">
                        <a:pos x="426" y="856"/>
                      </a:cxn>
                      <a:cxn ang="0">
                        <a:pos x="380" y="846"/>
                      </a:cxn>
                      <a:cxn ang="0">
                        <a:pos x="334" y="832"/>
                      </a:cxn>
                      <a:cxn ang="0">
                        <a:pos x="202" y="872"/>
                      </a:cxn>
                      <a:cxn ang="0">
                        <a:pos x="240" y="776"/>
                      </a:cxn>
                      <a:cxn ang="0">
                        <a:pos x="182" y="718"/>
                      </a:cxn>
                      <a:cxn ang="0">
                        <a:pos x="86" y="756"/>
                      </a:cxn>
                      <a:cxn ang="0">
                        <a:pos x="44" y="682"/>
                      </a:cxn>
                      <a:cxn ang="0">
                        <a:pos x="124" y="618"/>
                      </a:cxn>
                      <a:cxn ang="0">
                        <a:pos x="102" y="536"/>
                      </a:cxn>
                      <a:cxn ang="0">
                        <a:pos x="0" y="520"/>
                      </a:cxn>
                      <a:cxn ang="0">
                        <a:pos x="0" y="436"/>
                      </a:cxn>
                      <a:cxn ang="0">
                        <a:pos x="102" y="420"/>
                      </a:cxn>
                      <a:cxn ang="0">
                        <a:pos x="124" y="334"/>
                      </a:cxn>
                      <a:cxn ang="0">
                        <a:pos x="42" y="276"/>
                      </a:cxn>
                      <a:cxn ang="0">
                        <a:pos x="178" y="244"/>
                      </a:cxn>
                      <a:cxn ang="0">
                        <a:pos x="208" y="210"/>
                      </a:cxn>
                      <a:cxn ang="0">
                        <a:pos x="242" y="178"/>
                      </a:cxn>
                      <a:cxn ang="0">
                        <a:pos x="274" y="44"/>
                      </a:cxn>
                      <a:cxn ang="0">
                        <a:pos x="338" y="124"/>
                      </a:cxn>
                      <a:cxn ang="0">
                        <a:pos x="400" y="106"/>
                      </a:cxn>
                      <a:cxn ang="0">
                        <a:pos x="426" y="100"/>
                      </a:cxn>
                      <a:cxn ang="0">
                        <a:pos x="520" y="0"/>
                      </a:cxn>
                    </a:cxnLst>
                    <a:rect l="0" t="0" r="r" b="b"/>
                    <a:pathLst>
                      <a:path w="956" h="956">
                        <a:moveTo>
                          <a:pt x="520" y="0"/>
                        </a:moveTo>
                        <a:lnTo>
                          <a:pt x="520" y="0"/>
                        </a:lnTo>
                        <a:lnTo>
                          <a:pt x="530" y="100"/>
                        </a:lnTo>
                        <a:lnTo>
                          <a:pt x="536" y="102"/>
                        </a:lnTo>
                        <a:lnTo>
                          <a:pt x="536" y="102"/>
                        </a:lnTo>
                        <a:lnTo>
                          <a:pt x="576" y="110"/>
                        </a:lnTo>
                        <a:lnTo>
                          <a:pt x="616" y="124"/>
                        </a:lnTo>
                        <a:lnTo>
                          <a:pt x="622" y="126"/>
                        </a:lnTo>
                        <a:lnTo>
                          <a:pt x="622" y="126"/>
                        </a:lnTo>
                        <a:lnTo>
                          <a:pt x="682" y="44"/>
                        </a:lnTo>
                        <a:lnTo>
                          <a:pt x="682" y="44"/>
                        </a:lnTo>
                        <a:lnTo>
                          <a:pt x="754" y="86"/>
                        </a:lnTo>
                        <a:lnTo>
                          <a:pt x="754" y="86"/>
                        </a:lnTo>
                        <a:lnTo>
                          <a:pt x="712" y="178"/>
                        </a:lnTo>
                        <a:lnTo>
                          <a:pt x="716" y="182"/>
                        </a:lnTo>
                        <a:lnTo>
                          <a:pt x="716" y="182"/>
                        </a:lnTo>
                        <a:lnTo>
                          <a:pt x="748" y="208"/>
                        </a:lnTo>
                        <a:lnTo>
                          <a:pt x="774" y="240"/>
                        </a:lnTo>
                        <a:lnTo>
                          <a:pt x="778" y="244"/>
                        </a:lnTo>
                        <a:lnTo>
                          <a:pt x="778" y="244"/>
                        </a:lnTo>
                        <a:lnTo>
                          <a:pt x="870" y="202"/>
                        </a:lnTo>
                        <a:lnTo>
                          <a:pt x="870" y="202"/>
                        </a:lnTo>
                        <a:lnTo>
                          <a:pt x="912" y="274"/>
                        </a:lnTo>
                        <a:lnTo>
                          <a:pt x="912" y="274"/>
                        </a:lnTo>
                        <a:lnTo>
                          <a:pt x="830" y="334"/>
                        </a:lnTo>
                        <a:lnTo>
                          <a:pt x="832" y="338"/>
                        </a:lnTo>
                        <a:lnTo>
                          <a:pt x="832" y="338"/>
                        </a:lnTo>
                        <a:lnTo>
                          <a:pt x="846" y="380"/>
                        </a:lnTo>
                        <a:lnTo>
                          <a:pt x="852" y="400"/>
                        </a:lnTo>
                        <a:lnTo>
                          <a:pt x="856" y="420"/>
                        </a:lnTo>
                        <a:lnTo>
                          <a:pt x="856" y="426"/>
                        </a:lnTo>
                        <a:lnTo>
                          <a:pt x="856" y="426"/>
                        </a:lnTo>
                        <a:lnTo>
                          <a:pt x="956" y="436"/>
                        </a:lnTo>
                        <a:lnTo>
                          <a:pt x="956" y="436"/>
                        </a:lnTo>
                        <a:lnTo>
                          <a:pt x="956" y="520"/>
                        </a:lnTo>
                        <a:lnTo>
                          <a:pt x="956" y="520"/>
                        </a:lnTo>
                        <a:lnTo>
                          <a:pt x="856" y="530"/>
                        </a:lnTo>
                        <a:lnTo>
                          <a:pt x="856" y="536"/>
                        </a:lnTo>
                        <a:lnTo>
                          <a:pt x="856" y="536"/>
                        </a:lnTo>
                        <a:lnTo>
                          <a:pt x="846" y="578"/>
                        </a:lnTo>
                        <a:lnTo>
                          <a:pt x="834" y="618"/>
                        </a:lnTo>
                        <a:lnTo>
                          <a:pt x="832" y="622"/>
                        </a:lnTo>
                        <a:lnTo>
                          <a:pt x="832" y="622"/>
                        </a:lnTo>
                        <a:lnTo>
                          <a:pt x="914" y="682"/>
                        </a:lnTo>
                        <a:lnTo>
                          <a:pt x="914" y="682"/>
                        </a:lnTo>
                        <a:lnTo>
                          <a:pt x="870" y="754"/>
                        </a:lnTo>
                        <a:lnTo>
                          <a:pt x="870" y="754"/>
                        </a:lnTo>
                        <a:lnTo>
                          <a:pt x="778" y="712"/>
                        </a:lnTo>
                        <a:lnTo>
                          <a:pt x="776" y="718"/>
                        </a:lnTo>
                        <a:lnTo>
                          <a:pt x="776" y="718"/>
                        </a:lnTo>
                        <a:lnTo>
                          <a:pt x="748" y="748"/>
                        </a:lnTo>
                        <a:lnTo>
                          <a:pt x="718" y="776"/>
                        </a:lnTo>
                        <a:lnTo>
                          <a:pt x="714" y="778"/>
                        </a:lnTo>
                        <a:lnTo>
                          <a:pt x="714" y="778"/>
                        </a:lnTo>
                        <a:lnTo>
                          <a:pt x="756" y="870"/>
                        </a:lnTo>
                        <a:lnTo>
                          <a:pt x="756" y="870"/>
                        </a:lnTo>
                        <a:lnTo>
                          <a:pt x="682" y="914"/>
                        </a:lnTo>
                        <a:lnTo>
                          <a:pt x="682" y="914"/>
                        </a:lnTo>
                        <a:lnTo>
                          <a:pt x="622" y="832"/>
                        </a:lnTo>
                        <a:lnTo>
                          <a:pt x="618" y="834"/>
                        </a:lnTo>
                        <a:lnTo>
                          <a:pt x="618" y="834"/>
                        </a:lnTo>
                        <a:lnTo>
                          <a:pt x="598" y="840"/>
                        </a:lnTo>
                        <a:lnTo>
                          <a:pt x="578" y="846"/>
                        </a:lnTo>
                        <a:lnTo>
                          <a:pt x="556" y="852"/>
                        </a:lnTo>
                        <a:lnTo>
                          <a:pt x="536" y="856"/>
                        </a:lnTo>
                        <a:lnTo>
                          <a:pt x="530" y="856"/>
                        </a:lnTo>
                        <a:lnTo>
                          <a:pt x="530" y="856"/>
                        </a:lnTo>
                        <a:lnTo>
                          <a:pt x="520" y="956"/>
                        </a:lnTo>
                        <a:lnTo>
                          <a:pt x="520" y="956"/>
                        </a:lnTo>
                        <a:lnTo>
                          <a:pt x="436" y="956"/>
                        </a:lnTo>
                        <a:lnTo>
                          <a:pt x="436" y="956"/>
                        </a:lnTo>
                        <a:lnTo>
                          <a:pt x="426" y="856"/>
                        </a:lnTo>
                        <a:lnTo>
                          <a:pt x="420" y="856"/>
                        </a:lnTo>
                        <a:lnTo>
                          <a:pt x="420" y="856"/>
                        </a:lnTo>
                        <a:lnTo>
                          <a:pt x="380" y="846"/>
                        </a:lnTo>
                        <a:lnTo>
                          <a:pt x="340" y="834"/>
                        </a:lnTo>
                        <a:lnTo>
                          <a:pt x="334" y="832"/>
                        </a:lnTo>
                        <a:lnTo>
                          <a:pt x="334" y="832"/>
                        </a:lnTo>
                        <a:lnTo>
                          <a:pt x="274" y="914"/>
                        </a:lnTo>
                        <a:lnTo>
                          <a:pt x="274" y="914"/>
                        </a:lnTo>
                        <a:lnTo>
                          <a:pt x="202" y="872"/>
                        </a:lnTo>
                        <a:lnTo>
                          <a:pt x="202" y="872"/>
                        </a:lnTo>
                        <a:lnTo>
                          <a:pt x="244" y="780"/>
                        </a:lnTo>
                        <a:lnTo>
                          <a:pt x="240" y="776"/>
                        </a:lnTo>
                        <a:lnTo>
                          <a:pt x="240" y="776"/>
                        </a:lnTo>
                        <a:lnTo>
                          <a:pt x="208" y="748"/>
                        </a:lnTo>
                        <a:lnTo>
                          <a:pt x="182" y="718"/>
                        </a:lnTo>
                        <a:lnTo>
                          <a:pt x="178" y="714"/>
                        </a:lnTo>
                        <a:lnTo>
                          <a:pt x="178" y="714"/>
                        </a:lnTo>
                        <a:lnTo>
                          <a:pt x="86" y="756"/>
                        </a:lnTo>
                        <a:lnTo>
                          <a:pt x="86" y="756"/>
                        </a:lnTo>
                        <a:lnTo>
                          <a:pt x="44" y="682"/>
                        </a:lnTo>
                        <a:lnTo>
                          <a:pt x="44" y="682"/>
                        </a:lnTo>
                        <a:lnTo>
                          <a:pt x="126" y="624"/>
                        </a:lnTo>
                        <a:lnTo>
                          <a:pt x="124" y="618"/>
                        </a:lnTo>
                        <a:lnTo>
                          <a:pt x="124" y="618"/>
                        </a:lnTo>
                        <a:lnTo>
                          <a:pt x="110" y="578"/>
                        </a:lnTo>
                        <a:lnTo>
                          <a:pt x="104" y="556"/>
                        </a:lnTo>
                        <a:lnTo>
                          <a:pt x="102" y="536"/>
                        </a:lnTo>
                        <a:lnTo>
                          <a:pt x="100" y="530"/>
                        </a:lnTo>
                        <a:lnTo>
                          <a:pt x="100" y="530"/>
                        </a:lnTo>
                        <a:lnTo>
                          <a:pt x="0" y="520"/>
                        </a:lnTo>
                        <a:lnTo>
                          <a:pt x="0" y="520"/>
                        </a:lnTo>
                        <a:lnTo>
                          <a:pt x="0" y="436"/>
                        </a:lnTo>
                        <a:lnTo>
                          <a:pt x="0" y="436"/>
                        </a:lnTo>
                        <a:lnTo>
                          <a:pt x="100" y="426"/>
                        </a:lnTo>
                        <a:lnTo>
                          <a:pt x="102" y="420"/>
                        </a:lnTo>
                        <a:lnTo>
                          <a:pt x="102" y="420"/>
                        </a:lnTo>
                        <a:lnTo>
                          <a:pt x="110" y="380"/>
                        </a:lnTo>
                        <a:lnTo>
                          <a:pt x="122" y="340"/>
                        </a:lnTo>
                        <a:lnTo>
                          <a:pt x="124" y="334"/>
                        </a:lnTo>
                        <a:lnTo>
                          <a:pt x="124" y="334"/>
                        </a:lnTo>
                        <a:lnTo>
                          <a:pt x="42" y="276"/>
                        </a:lnTo>
                        <a:lnTo>
                          <a:pt x="42" y="276"/>
                        </a:lnTo>
                        <a:lnTo>
                          <a:pt x="86" y="202"/>
                        </a:lnTo>
                        <a:lnTo>
                          <a:pt x="86" y="202"/>
                        </a:lnTo>
                        <a:lnTo>
                          <a:pt x="178" y="244"/>
                        </a:lnTo>
                        <a:lnTo>
                          <a:pt x="180" y="240"/>
                        </a:lnTo>
                        <a:lnTo>
                          <a:pt x="180" y="240"/>
                        </a:lnTo>
                        <a:lnTo>
                          <a:pt x="208" y="210"/>
                        </a:lnTo>
                        <a:lnTo>
                          <a:pt x="238" y="182"/>
                        </a:lnTo>
                        <a:lnTo>
                          <a:pt x="242" y="178"/>
                        </a:lnTo>
                        <a:lnTo>
                          <a:pt x="242" y="178"/>
                        </a:lnTo>
                        <a:lnTo>
                          <a:pt x="200" y="86"/>
                        </a:lnTo>
                        <a:lnTo>
                          <a:pt x="200" y="86"/>
                        </a:lnTo>
                        <a:lnTo>
                          <a:pt x="274" y="44"/>
                        </a:lnTo>
                        <a:lnTo>
                          <a:pt x="274" y="44"/>
                        </a:lnTo>
                        <a:lnTo>
                          <a:pt x="334" y="126"/>
                        </a:lnTo>
                        <a:lnTo>
                          <a:pt x="338" y="124"/>
                        </a:lnTo>
                        <a:lnTo>
                          <a:pt x="338" y="124"/>
                        </a:lnTo>
                        <a:lnTo>
                          <a:pt x="378" y="110"/>
                        </a:lnTo>
                        <a:lnTo>
                          <a:pt x="400" y="106"/>
                        </a:lnTo>
                        <a:lnTo>
                          <a:pt x="420" y="102"/>
                        </a:lnTo>
                        <a:lnTo>
                          <a:pt x="426" y="100"/>
                        </a:lnTo>
                        <a:lnTo>
                          <a:pt x="426" y="100"/>
                        </a:lnTo>
                        <a:lnTo>
                          <a:pt x="436" y="0"/>
                        </a:lnTo>
                        <a:lnTo>
                          <a:pt x="436" y="0"/>
                        </a:lnTo>
                        <a:lnTo>
                          <a:pt x="520" y="0"/>
                        </a:lnTo>
                        <a:lnTo>
                          <a:pt x="520" y="0"/>
                        </a:lnTo>
                        <a:close/>
                      </a:path>
                    </a:pathLst>
                  </a:custGeom>
                  <a:ln>
                    <a:headEnd/>
                    <a:tailEnd/>
                  </a:ln>
                </p:spPr>
                <p:style>
                  <a:lnRef idx="0">
                    <a:schemeClr val="accent1"/>
                  </a:lnRef>
                  <a:fillRef idx="3">
                    <a:schemeClr val="accent1"/>
                  </a:fillRef>
                  <a:effectRef idx="3">
                    <a:schemeClr val="accent1"/>
                  </a:effectRef>
                  <a:fontRef idx="minor">
                    <a:schemeClr val="lt1"/>
                  </a:fontRef>
                </p:style>
                <p:txBody>
                  <a:bodyPr/>
                  <a:lstStyle/>
                  <a:p>
                    <a:pPr>
                      <a:defRPr/>
                    </a:pPr>
                    <a:endParaRPr lang="en-US"/>
                  </a:p>
                </p:txBody>
              </p:sp>
              <p:sp>
                <p:nvSpPr>
                  <p:cNvPr id="49" name="Oval 48"/>
                  <p:cNvSpPr/>
                  <p:nvPr/>
                </p:nvSpPr>
                <p:spPr>
                  <a:xfrm>
                    <a:off x="2525194" y="4544407"/>
                    <a:ext cx="2274934" cy="1906120"/>
                  </a:xfrm>
                  <a:prstGeom prst="ellipse">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500" b="1" dirty="0">
                        <a:solidFill>
                          <a:schemeClr val="tx1"/>
                        </a:solidFill>
                      </a:rPr>
                      <a:t>Business</a:t>
                    </a:r>
                  </a:p>
                  <a:p>
                    <a:pPr algn="ctr">
                      <a:defRPr/>
                    </a:pPr>
                    <a:r>
                      <a:rPr lang="en-US" sz="1500" b="1" dirty="0">
                        <a:solidFill>
                          <a:schemeClr val="tx1"/>
                        </a:solidFill>
                      </a:rPr>
                      <a:t>Intelligence</a:t>
                    </a:r>
                  </a:p>
                  <a:p>
                    <a:pPr algn="ctr">
                      <a:defRPr/>
                    </a:pPr>
                    <a:r>
                      <a:rPr lang="en-US" sz="1500" b="1" dirty="0">
                        <a:solidFill>
                          <a:schemeClr val="tx1"/>
                        </a:solidFill>
                      </a:rPr>
                      <a:t>Module</a:t>
                    </a:r>
                  </a:p>
                </p:txBody>
              </p:sp>
            </p:grpSp>
            <p:grpSp>
              <p:nvGrpSpPr>
                <p:cNvPr id="36" name="Group 53"/>
                <p:cNvGrpSpPr>
                  <a:grpSpLocks/>
                </p:cNvGrpSpPr>
                <p:nvPr/>
              </p:nvGrpSpPr>
              <p:grpSpPr bwMode="auto">
                <a:xfrm>
                  <a:off x="1371599" y="2931703"/>
                  <a:ext cx="2286000" cy="1958470"/>
                  <a:chOff x="1600200" y="1133384"/>
                  <a:chExt cx="2286000" cy="1958470"/>
                </a:xfrm>
              </p:grpSpPr>
              <p:sp>
                <p:nvSpPr>
                  <p:cNvPr id="46" name="Freeform 61"/>
                  <p:cNvSpPr>
                    <a:spLocks/>
                  </p:cNvSpPr>
                  <p:nvPr/>
                </p:nvSpPr>
                <p:spPr bwMode="auto">
                  <a:xfrm>
                    <a:off x="1640140" y="1133384"/>
                    <a:ext cx="2206121" cy="1958470"/>
                  </a:xfrm>
                  <a:custGeom>
                    <a:avLst/>
                    <a:gdLst/>
                    <a:ahLst/>
                    <a:cxnLst>
                      <a:cxn ang="0">
                        <a:pos x="530" y="100"/>
                      </a:cxn>
                      <a:cxn ang="0">
                        <a:pos x="576" y="110"/>
                      </a:cxn>
                      <a:cxn ang="0">
                        <a:pos x="622" y="126"/>
                      </a:cxn>
                      <a:cxn ang="0">
                        <a:pos x="754" y="86"/>
                      </a:cxn>
                      <a:cxn ang="0">
                        <a:pos x="716" y="182"/>
                      </a:cxn>
                      <a:cxn ang="0">
                        <a:pos x="774" y="240"/>
                      </a:cxn>
                      <a:cxn ang="0">
                        <a:pos x="870" y="202"/>
                      </a:cxn>
                      <a:cxn ang="0">
                        <a:pos x="912" y="274"/>
                      </a:cxn>
                      <a:cxn ang="0">
                        <a:pos x="832" y="338"/>
                      </a:cxn>
                      <a:cxn ang="0">
                        <a:pos x="856" y="420"/>
                      </a:cxn>
                      <a:cxn ang="0">
                        <a:pos x="956" y="436"/>
                      </a:cxn>
                      <a:cxn ang="0">
                        <a:pos x="956" y="520"/>
                      </a:cxn>
                      <a:cxn ang="0">
                        <a:pos x="856" y="536"/>
                      </a:cxn>
                      <a:cxn ang="0">
                        <a:pos x="832" y="622"/>
                      </a:cxn>
                      <a:cxn ang="0">
                        <a:pos x="914" y="682"/>
                      </a:cxn>
                      <a:cxn ang="0">
                        <a:pos x="778" y="712"/>
                      </a:cxn>
                      <a:cxn ang="0">
                        <a:pos x="748" y="748"/>
                      </a:cxn>
                      <a:cxn ang="0">
                        <a:pos x="714" y="778"/>
                      </a:cxn>
                      <a:cxn ang="0">
                        <a:pos x="682" y="914"/>
                      </a:cxn>
                      <a:cxn ang="0">
                        <a:pos x="618" y="834"/>
                      </a:cxn>
                      <a:cxn ang="0">
                        <a:pos x="578" y="846"/>
                      </a:cxn>
                      <a:cxn ang="0">
                        <a:pos x="530" y="856"/>
                      </a:cxn>
                      <a:cxn ang="0">
                        <a:pos x="520" y="956"/>
                      </a:cxn>
                      <a:cxn ang="0">
                        <a:pos x="426" y="856"/>
                      </a:cxn>
                      <a:cxn ang="0">
                        <a:pos x="380" y="846"/>
                      </a:cxn>
                      <a:cxn ang="0">
                        <a:pos x="334" y="832"/>
                      </a:cxn>
                      <a:cxn ang="0">
                        <a:pos x="202" y="872"/>
                      </a:cxn>
                      <a:cxn ang="0">
                        <a:pos x="240" y="776"/>
                      </a:cxn>
                      <a:cxn ang="0">
                        <a:pos x="182" y="718"/>
                      </a:cxn>
                      <a:cxn ang="0">
                        <a:pos x="86" y="756"/>
                      </a:cxn>
                      <a:cxn ang="0">
                        <a:pos x="44" y="682"/>
                      </a:cxn>
                      <a:cxn ang="0">
                        <a:pos x="124" y="618"/>
                      </a:cxn>
                      <a:cxn ang="0">
                        <a:pos x="102" y="536"/>
                      </a:cxn>
                      <a:cxn ang="0">
                        <a:pos x="0" y="520"/>
                      </a:cxn>
                      <a:cxn ang="0">
                        <a:pos x="0" y="436"/>
                      </a:cxn>
                      <a:cxn ang="0">
                        <a:pos x="102" y="420"/>
                      </a:cxn>
                      <a:cxn ang="0">
                        <a:pos x="124" y="334"/>
                      </a:cxn>
                      <a:cxn ang="0">
                        <a:pos x="42" y="276"/>
                      </a:cxn>
                      <a:cxn ang="0">
                        <a:pos x="178" y="244"/>
                      </a:cxn>
                      <a:cxn ang="0">
                        <a:pos x="208" y="210"/>
                      </a:cxn>
                      <a:cxn ang="0">
                        <a:pos x="242" y="178"/>
                      </a:cxn>
                      <a:cxn ang="0">
                        <a:pos x="274" y="44"/>
                      </a:cxn>
                      <a:cxn ang="0">
                        <a:pos x="338" y="124"/>
                      </a:cxn>
                      <a:cxn ang="0">
                        <a:pos x="400" y="106"/>
                      </a:cxn>
                      <a:cxn ang="0">
                        <a:pos x="426" y="100"/>
                      </a:cxn>
                      <a:cxn ang="0">
                        <a:pos x="520" y="0"/>
                      </a:cxn>
                    </a:cxnLst>
                    <a:rect l="0" t="0" r="r" b="b"/>
                    <a:pathLst>
                      <a:path w="956" h="956">
                        <a:moveTo>
                          <a:pt x="520" y="0"/>
                        </a:moveTo>
                        <a:lnTo>
                          <a:pt x="520" y="0"/>
                        </a:lnTo>
                        <a:lnTo>
                          <a:pt x="530" y="100"/>
                        </a:lnTo>
                        <a:lnTo>
                          <a:pt x="536" y="102"/>
                        </a:lnTo>
                        <a:lnTo>
                          <a:pt x="536" y="102"/>
                        </a:lnTo>
                        <a:lnTo>
                          <a:pt x="576" y="110"/>
                        </a:lnTo>
                        <a:lnTo>
                          <a:pt x="616" y="124"/>
                        </a:lnTo>
                        <a:lnTo>
                          <a:pt x="622" y="126"/>
                        </a:lnTo>
                        <a:lnTo>
                          <a:pt x="622" y="126"/>
                        </a:lnTo>
                        <a:lnTo>
                          <a:pt x="682" y="44"/>
                        </a:lnTo>
                        <a:lnTo>
                          <a:pt x="682" y="44"/>
                        </a:lnTo>
                        <a:lnTo>
                          <a:pt x="754" y="86"/>
                        </a:lnTo>
                        <a:lnTo>
                          <a:pt x="754" y="86"/>
                        </a:lnTo>
                        <a:lnTo>
                          <a:pt x="712" y="178"/>
                        </a:lnTo>
                        <a:lnTo>
                          <a:pt x="716" y="182"/>
                        </a:lnTo>
                        <a:lnTo>
                          <a:pt x="716" y="182"/>
                        </a:lnTo>
                        <a:lnTo>
                          <a:pt x="748" y="208"/>
                        </a:lnTo>
                        <a:lnTo>
                          <a:pt x="774" y="240"/>
                        </a:lnTo>
                        <a:lnTo>
                          <a:pt x="778" y="244"/>
                        </a:lnTo>
                        <a:lnTo>
                          <a:pt x="778" y="244"/>
                        </a:lnTo>
                        <a:lnTo>
                          <a:pt x="870" y="202"/>
                        </a:lnTo>
                        <a:lnTo>
                          <a:pt x="870" y="202"/>
                        </a:lnTo>
                        <a:lnTo>
                          <a:pt x="912" y="274"/>
                        </a:lnTo>
                        <a:lnTo>
                          <a:pt x="912" y="274"/>
                        </a:lnTo>
                        <a:lnTo>
                          <a:pt x="830" y="334"/>
                        </a:lnTo>
                        <a:lnTo>
                          <a:pt x="832" y="338"/>
                        </a:lnTo>
                        <a:lnTo>
                          <a:pt x="832" y="338"/>
                        </a:lnTo>
                        <a:lnTo>
                          <a:pt x="846" y="380"/>
                        </a:lnTo>
                        <a:lnTo>
                          <a:pt x="852" y="400"/>
                        </a:lnTo>
                        <a:lnTo>
                          <a:pt x="856" y="420"/>
                        </a:lnTo>
                        <a:lnTo>
                          <a:pt x="856" y="426"/>
                        </a:lnTo>
                        <a:lnTo>
                          <a:pt x="856" y="426"/>
                        </a:lnTo>
                        <a:lnTo>
                          <a:pt x="956" y="436"/>
                        </a:lnTo>
                        <a:lnTo>
                          <a:pt x="956" y="436"/>
                        </a:lnTo>
                        <a:lnTo>
                          <a:pt x="956" y="520"/>
                        </a:lnTo>
                        <a:lnTo>
                          <a:pt x="956" y="520"/>
                        </a:lnTo>
                        <a:lnTo>
                          <a:pt x="856" y="530"/>
                        </a:lnTo>
                        <a:lnTo>
                          <a:pt x="856" y="536"/>
                        </a:lnTo>
                        <a:lnTo>
                          <a:pt x="856" y="536"/>
                        </a:lnTo>
                        <a:lnTo>
                          <a:pt x="846" y="578"/>
                        </a:lnTo>
                        <a:lnTo>
                          <a:pt x="834" y="618"/>
                        </a:lnTo>
                        <a:lnTo>
                          <a:pt x="832" y="622"/>
                        </a:lnTo>
                        <a:lnTo>
                          <a:pt x="832" y="622"/>
                        </a:lnTo>
                        <a:lnTo>
                          <a:pt x="914" y="682"/>
                        </a:lnTo>
                        <a:lnTo>
                          <a:pt x="914" y="682"/>
                        </a:lnTo>
                        <a:lnTo>
                          <a:pt x="870" y="754"/>
                        </a:lnTo>
                        <a:lnTo>
                          <a:pt x="870" y="754"/>
                        </a:lnTo>
                        <a:lnTo>
                          <a:pt x="778" y="712"/>
                        </a:lnTo>
                        <a:lnTo>
                          <a:pt x="776" y="718"/>
                        </a:lnTo>
                        <a:lnTo>
                          <a:pt x="776" y="718"/>
                        </a:lnTo>
                        <a:lnTo>
                          <a:pt x="748" y="748"/>
                        </a:lnTo>
                        <a:lnTo>
                          <a:pt x="718" y="776"/>
                        </a:lnTo>
                        <a:lnTo>
                          <a:pt x="714" y="778"/>
                        </a:lnTo>
                        <a:lnTo>
                          <a:pt x="714" y="778"/>
                        </a:lnTo>
                        <a:lnTo>
                          <a:pt x="756" y="870"/>
                        </a:lnTo>
                        <a:lnTo>
                          <a:pt x="756" y="870"/>
                        </a:lnTo>
                        <a:lnTo>
                          <a:pt x="682" y="914"/>
                        </a:lnTo>
                        <a:lnTo>
                          <a:pt x="682" y="914"/>
                        </a:lnTo>
                        <a:lnTo>
                          <a:pt x="622" y="832"/>
                        </a:lnTo>
                        <a:lnTo>
                          <a:pt x="618" y="834"/>
                        </a:lnTo>
                        <a:lnTo>
                          <a:pt x="618" y="834"/>
                        </a:lnTo>
                        <a:lnTo>
                          <a:pt x="598" y="840"/>
                        </a:lnTo>
                        <a:lnTo>
                          <a:pt x="578" y="846"/>
                        </a:lnTo>
                        <a:lnTo>
                          <a:pt x="556" y="852"/>
                        </a:lnTo>
                        <a:lnTo>
                          <a:pt x="536" y="856"/>
                        </a:lnTo>
                        <a:lnTo>
                          <a:pt x="530" y="856"/>
                        </a:lnTo>
                        <a:lnTo>
                          <a:pt x="530" y="856"/>
                        </a:lnTo>
                        <a:lnTo>
                          <a:pt x="520" y="956"/>
                        </a:lnTo>
                        <a:lnTo>
                          <a:pt x="520" y="956"/>
                        </a:lnTo>
                        <a:lnTo>
                          <a:pt x="436" y="956"/>
                        </a:lnTo>
                        <a:lnTo>
                          <a:pt x="436" y="956"/>
                        </a:lnTo>
                        <a:lnTo>
                          <a:pt x="426" y="856"/>
                        </a:lnTo>
                        <a:lnTo>
                          <a:pt x="420" y="856"/>
                        </a:lnTo>
                        <a:lnTo>
                          <a:pt x="420" y="856"/>
                        </a:lnTo>
                        <a:lnTo>
                          <a:pt x="380" y="846"/>
                        </a:lnTo>
                        <a:lnTo>
                          <a:pt x="340" y="834"/>
                        </a:lnTo>
                        <a:lnTo>
                          <a:pt x="334" y="832"/>
                        </a:lnTo>
                        <a:lnTo>
                          <a:pt x="334" y="832"/>
                        </a:lnTo>
                        <a:lnTo>
                          <a:pt x="274" y="914"/>
                        </a:lnTo>
                        <a:lnTo>
                          <a:pt x="274" y="914"/>
                        </a:lnTo>
                        <a:lnTo>
                          <a:pt x="202" y="872"/>
                        </a:lnTo>
                        <a:lnTo>
                          <a:pt x="202" y="872"/>
                        </a:lnTo>
                        <a:lnTo>
                          <a:pt x="244" y="780"/>
                        </a:lnTo>
                        <a:lnTo>
                          <a:pt x="240" y="776"/>
                        </a:lnTo>
                        <a:lnTo>
                          <a:pt x="240" y="776"/>
                        </a:lnTo>
                        <a:lnTo>
                          <a:pt x="208" y="748"/>
                        </a:lnTo>
                        <a:lnTo>
                          <a:pt x="182" y="718"/>
                        </a:lnTo>
                        <a:lnTo>
                          <a:pt x="178" y="714"/>
                        </a:lnTo>
                        <a:lnTo>
                          <a:pt x="178" y="714"/>
                        </a:lnTo>
                        <a:lnTo>
                          <a:pt x="86" y="756"/>
                        </a:lnTo>
                        <a:lnTo>
                          <a:pt x="86" y="756"/>
                        </a:lnTo>
                        <a:lnTo>
                          <a:pt x="44" y="682"/>
                        </a:lnTo>
                        <a:lnTo>
                          <a:pt x="44" y="682"/>
                        </a:lnTo>
                        <a:lnTo>
                          <a:pt x="126" y="624"/>
                        </a:lnTo>
                        <a:lnTo>
                          <a:pt x="124" y="618"/>
                        </a:lnTo>
                        <a:lnTo>
                          <a:pt x="124" y="618"/>
                        </a:lnTo>
                        <a:lnTo>
                          <a:pt x="110" y="578"/>
                        </a:lnTo>
                        <a:lnTo>
                          <a:pt x="104" y="556"/>
                        </a:lnTo>
                        <a:lnTo>
                          <a:pt x="102" y="536"/>
                        </a:lnTo>
                        <a:lnTo>
                          <a:pt x="100" y="530"/>
                        </a:lnTo>
                        <a:lnTo>
                          <a:pt x="100" y="530"/>
                        </a:lnTo>
                        <a:lnTo>
                          <a:pt x="0" y="520"/>
                        </a:lnTo>
                        <a:lnTo>
                          <a:pt x="0" y="520"/>
                        </a:lnTo>
                        <a:lnTo>
                          <a:pt x="0" y="436"/>
                        </a:lnTo>
                        <a:lnTo>
                          <a:pt x="0" y="436"/>
                        </a:lnTo>
                        <a:lnTo>
                          <a:pt x="100" y="426"/>
                        </a:lnTo>
                        <a:lnTo>
                          <a:pt x="102" y="420"/>
                        </a:lnTo>
                        <a:lnTo>
                          <a:pt x="102" y="420"/>
                        </a:lnTo>
                        <a:lnTo>
                          <a:pt x="110" y="380"/>
                        </a:lnTo>
                        <a:lnTo>
                          <a:pt x="122" y="340"/>
                        </a:lnTo>
                        <a:lnTo>
                          <a:pt x="124" y="334"/>
                        </a:lnTo>
                        <a:lnTo>
                          <a:pt x="124" y="334"/>
                        </a:lnTo>
                        <a:lnTo>
                          <a:pt x="42" y="276"/>
                        </a:lnTo>
                        <a:lnTo>
                          <a:pt x="42" y="276"/>
                        </a:lnTo>
                        <a:lnTo>
                          <a:pt x="86" y="202"/>
                        </a:lnTo>
                        <a:lnTo>
                          <a:pt x="86" y="202"/>
                        </a:lnTo>
                        <a:lnTo>
                          <a:pt x="178" y="244"/>
                        </a:lnTo>
                        <a:lnTo>
                          <a:pt x="180" y="240"/>
                        </a:lnTo>
                        <a:lnTo>
                          <a:pt x="180" y="240"/>
                        </a:lnTo>
                        <a:lnTo>
                          <a:pt x="208" y="210"/>
                        </a:lnTo>
                        <a:lnTo>
                          <a:pt x="238" y="182"/>
                        </a:lnTo>
                        <a:lnTo>
                          <a:pt x="242" y="178"/>
                        </a:lnTo>
                        <a:lnTo>
                          <a:pt x="242" y="178"/>
                        </a:lnTo>
                        <a:lnTo>
                          <a:pt x="200" y="86"/>
                        </a:lnTo>
                        <a:lnTo>
                          <a:pt x="200" y="86"/>
                        </a:lnTo>
                        <a:lnTo>
                          <a:pt x="274" y="44"/>
                        </a:lnTo>
                        <a:lnTo>
                          <a:pt x="274" y="44"/>
                        </a:lnTo>
                        <a:lnTo>
                          <a:pt x="334" y="126"/>
                        </a:lnTo>
                        <a:lnTo>
                          <a:pt x="338" y="124"/>
                        </a:lnTo>
                        <a:lnTo>
                          <a:pt x="338" y="124"/>
                        </a:lnTo>
                        <a:lnTo>
                          <a:pt x="378" y="110"/>
                        </a:lnTo>
                        <a:lnTo>
                          <a:pt x="400" y="106"/>
                        </a:lnTo>
                        <a:lnTo>
                          <a:pt x="420" y="102"/>
                        </a:lnTo>
                        <a:lnTo>
                          <a:pt x="426" y="100"/>
                        </a:lnTo>
                        <a:lnTo>
                          <a:pt x="426" y="100"/>
                        </a:lnTo>
                        <a:lnTo>
                          <a:pt x="436" y="0"/>
                        </a:lnTo>
                        <a:lnTo>
                          <a:pt x="436" y="0"/>
                        </a:lnTo>
                        <a:lnTo>
                          <a:pt x="520" y="0"/>
                        </a:lnTo>
                        <a:lnTo>
                          <a:pt x="520" y="0"/>
                        </a:lnTo>
                        <a:close/>
                      </a:path>
                    </a:pathLst>
                  </a:custGeom>
                  <a:ln>
                    <a:headEnd/>
                    <a:tailEnd/>
                  </a:ln>
                </p:spPr>
                <p:style>
                  <a:lnRef idx="0">
                    <a:schemeClr val="accent1"/>
                  </a:lnRef>
                  <a:fillRef idx="3">
                    <a:schemeClr val="accent1"/>
                  </a:fillRef>
                  <a:effectRef idx="3">
                    <a:schemeClr val="accent1"/>
                  </a:effectRef>
                  <a:fontRef idx="minor">
                    <a:schemeClr val="lt1"/>
                  </a:fontRef>
                </p:style>
                <p:txBody>
                  <a:bodyPr/>
                  <a:lstStyle/>
                  <a:p>
                    <a:pPr>
                      <a:defRPr/>
                    </a:pPr>
                    <a:endParaRPr lang="en-US"/>
                  </a:p>
                </p:txBody>
              </p:sp>
              <p:sp>
                <p:nvSpPr>
                  <p:cNvPr id="47" name="Oval 46"/>
                  <p:cNvSpPr/>
                  <p:nvPr/>
                </p:nvSpPr>
                <p:spPr>
                  <a:xfrm>
                    <a:off x="1600200" y="1159543"/>
                    <a:ext cx="2286318" cy="1906120"/>
                  </a:xfrm>
                  <a:prstGeom prst="ellipse">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500" b="1" dirty="0">
                        <a:solidFill>
                          <a:schemeClr val="tx1"/>
                        </a:solidFill>
                      </a:rPr>
                      <a:t>Supply Chain Management Module</a:t>
                    </a:r>
                  </a:p>
                </p:txBody>
              </p:sp>
            </p:grpSp>
            <p:grpSp>
              <p:nvGrpSpPr>
                <p:cNvPr id="37" name="Group 56"/>
                <p:cNvGrpSpPr>
                  <a:grpSpLocks/>
                </p:cNvGrpSpPr>
                <p:nvPr/>
              </p:nvGrpSpPr>
              <p:grpSpPr bwMode="auto">
                <a:xfrm>
                  <a:off x="4632958" y="4419599"/>
                  <a:ext cx="2286000" cy="1958470"/>
                  <a:chOff x="1600200" y="1133384"/>
                  <a:chExt cx="2286000" cy="1958470"/>
                </a:xfrm>
              </p:grpSpPr>
              <p:sp>
                <p:nvSpPr>
                  <p:cNvPr id="44" name="Freeform 61"/>
                  <p:cNvSpPr>
                    <a:spLocks/>
                  </p:cNvSpPr>
                  <p:nvPr/>
                </p:nvSpPr>
                <p:spPr bwMode="auto">
                  <a:xfrm>
                    <a:off x="1640140" y="1133384"/>
                    <a:ext cx="2206121" cy="1958470"/>
                  </a:xfrm>
                  <a:custGeom>
                    <a:avLst/>
                    <a:gdLst/>
                    <a:ahLst/>
                    <a:cxnLst>
                      <a:cxn ang="0">
                        <a:pos x="530" y="100"/>
                      </a:cxn>
                      <a:cxn ang="0">
                        <a:pos x="576" y="110"/>
                      </a:cxn>
                      <a:cxn ang="0">
                        <a:pos x="622" y="126"/>
                      </a:cxn>
                      <a:cxn ang="0">
                        <a:pos x="754" y="86"/>
                      </a:cxn>
                      <a:cxn ang="0">
                        <a:pos x="716" y="182"/>
                      </a:cxn>
                      <a:cxn ang="0">
                        <a:pos x="774" y="240"/>
                      </a:cxn>
                      <a:cxn ang="0">
                        <a:pos x="870" y="202"/>
                      </a:cxn>
                      <a:cxn ang="0">
                        <a:pos x="912" y="274"/>
                      </a:cxn>
                      <a:cxn ang="0">
                        <a:pos x="832" y="338"/>
                      </a:cxn>
                      <a:cxn ang="0">
                        <a:pos x="856" y="420"/>
                      </a:cxn>
                      <a:cxn ang="0">
                        <a:pos x="956" y="436"/>
                      </a:cxn>
                      <a:cxn ang="0">
                        <a:pos x="956" y="520"/>
                      </a:cxn>
                      <a:cxn ang="0">
                        <a:pos x="856" y="536"/>
                      </a:cxn>
                      <a:cxn ang="0">
                        <a:pos x="832" y="622"/>
                      </a:cxn>
                      <a:cxn ang="0">
                        <a:pos x="914" y="682"/>
                      </a:cxn>
                      <a:cxn ang="0">
                        <a:pos x="778" y="712"/>
                      </a:cxn>
                      <a:cxn ang="0">
                        <a:pos x="748" y="748"/>
                      </a:cxn>
                      <a:cxn ang="0">
                        <a:pos x="714" y="778"/>
                      </a:cxn>
                      <a:cxn ang="0">
                        <a:pos x="682" y="914"/>
                      </a:cxn>
                      <a:cxn ang="0">
                        <a:pos x="618" y="834"/>
                      </a:cxn>
                      <a:cxn ang="0">
                        <a:pos x="578" y="846"/>
                      </a:cxn>
                      <a:cxn ang="0">
                        <a:pos x="530" y="856"/>
                      </a:cxn>
                      <a:cxn ang="0">
                        <a:pos x="520" y="956"/>
                      </a:cxn>
                      <a:cxn ang="0">
                        <a:pos x="426" y="856"/>
                      </a:cxn>
                      <a:cxn ang="0">
                        <a:pos x="380" y="846"/>
                      </a:cxn>
                      <a:cxn ang="0">
                        <a:pos x="334" y="832"/>
                      </a:cxn>
                      <a:cxn ang="0">
                        <a:pos x="202" y="872"/>
                      </a:cxn>
                      <a:cxn ang="0">
                        <a:pos x="240" y="776"/>
                      </a:cxn>
                      <a:cxn ang="0">
                        <a:pos x="182" y="718"/>
                      </a:cxn>
                      <a:cxn ang="0">
                        <a:pos x="86" y="756"/>
                      </a:cxn>
                      <a:cxn ang="0">
                        <a:pos x="44" y="682"/>
                      </a:cxn>
                      <a:cxn ang="0">
                        <a:pos x="124" y="618"/>
                      </a:cxn>
                      <a:cxn ang="0">
                        <a:pos x="102" y="536"/>
                      </a:cxn>
                      <a:cxn ang="0">
                        <a:pos x="0" y="520"/>
                      </a:cxn>
                      <a:cxn ang="0">
                        <a:pos x="0" y="436"/>
                      </a:cxn>
                      <a:cxn ang="0">
                        <a:pos x="102" y="420"/>
                      </a:cxn>
                      <a:cxn ang="0">
                        <a:pos x="124" y="334"/>
                      </a:cxn>
                      <a:cxn ang="0">
                        <a:pos x="42" y="276"/>
                      </a:cxn>
                      <a:cxn ang="0">
                        <a:pos x="178" y="244"/>
                      </a:cxn>
                      <a:cxn ang="0">
                        <a:pos x="208" y="210"/>
                      </a:cxn>
                      <a:cxn ang="0">
                        <a:pos x="242" y="178"/>
                      </a:cxn>
                      <a:cxn ang="0">
                        <a:pos x="274" y="44"/>
                      </a:cxn>
                      <a:cxn ang="0">
                        <a:pos x="338" y="124"/>
                      </a:cxn>
                      <a:cxn ang="0">
                        <a:pos x="400" y="106"/>
                      </a:cxn>
                      <a:cxn ang="0">
                        <a:pos x="426" y="100"/>
                      </a:cxn>
                      <a:cxn ang="0">
                        <a:pos x="520" y="0"/>
                      </a:cxn>
                    </a:cxnLst>
                    <a:rect l="0" t="0" r="r" b="b"/>
                    <a:pathLst>
                      <a:path w="956" h="956">
                        <a:moveTo>
                          <a:pt x="520" y="0"/>
                        </a:moveTo>
                        <a:lnTo>
                          <a:pt x="520" y="0"/>
                        </a:lnTo>
                        <a:lnTo>
                          <a:pt x="530" y="100"/>
                        </a:lnTo>
                        <a:lnTo>
                          <a:pt x="536" y="102"/>
                        </a:lnTo>
                        <a:lnTo>
                          <a:pt x="536" y="102"/>
                        </a:lnTo>
                        <a:lnTo>
                          <a:pt x="576" y="110"/>
                        </a:lnTo>
                        <a:lnTo>
                          <a:pt x="616" y="124"/>
                        </a:lnTo>
                        <a:lnTo>
                          <a:pt x="622" y="126"/>
                        </a:lnTo>
                        <a:lnTo>
                          <a:pt x="622" y="126"/>
                        </a:lnTo>
                        <a:lnTo>
                          <a:pt x="682" y="44"/>
                        </a:lnTo>
                        <a:lnTo>
                          <a:pt x="682" y="44"/>
                        </a:lnTo>
                        <a:lnTo>
                          <a:pt x="754" y="86"/>
                        </a:lnTo>
                        <a:lnTo>
                          <a:pt x="754" y="86"/>
                        </a:lnTo>
                        <a:lnTo>
                          <a:pt x="712" y="178"/>
                        </a:lnTo>
                        <a:lnTo>
                          <a:pt x="716" y="182"/>
                        </a:lnTo>
                        <a:lnTo>
                          <a:pt x="716" y="182"/>
                        </a:lnTo>
                        <a:lnTo>
                          <a:pt x="748" y="208"/>
                        </a:lnTo>
                        <a:lnTo>
                          <a:pt x="774" y="240"/>
                        </a:lnTo>
                        <a:lnTo>
                          <a:pt x="778" y="244"/>
                        </a:lnTo>
                        <a:lnTo>
                          <a:pt x="778" y="244"/>
                        </a:lnTo>
                        <a:lnTo>
                          <a:pt x="870" y="202"/>
                        </a:lnTo>
                        <a:lnTo>
                          <a:pt x="870" y="202"/>
                        </a:lnTo>
                        <a:lnTo>
                          <a:pt x="912" y="274"/>
                        </a:lnTo>
                        <a:lnTo>
                          <a:pt x="912" y="274"/>
                        </a:lnTo>
                        <a:lnTo>
                          <a:pt x="830" y="334"/>
                        </a:lnTo>
                        <a:lnTo>
                          <a:pt x="832" y="338"/>
                        </a:lnTo>
                        <a:lnTo>
                          <a:pt x="832" y="338"/>
                        </a:lnTo>
                        <a:lnTo>
                          <a:pt x="846" y="380"/>
                        </a:lnTo>
                        <a:lnTo>
                          <a:pt x="852" y="400"/>
                        </a:lnTo>
                        <a:lnTo>
                          <a:pt x="856" y="420"/>
                        </a:lnTo>
                        <a:lnTo>
                          <a:pt x="856" y="426"/>
                        </a:lnTo>
                        <a:lnTo>
                          <a:pt x="856" y="426"/>
                        </a:lnTo>
                        <a:lnTo>
                          <a:pt x="956" y="436"/>
                        </a:lnTo>
                        <a:lnTo>
                          <a:pt x="956" y="436"/>
                        </a:lnTo>
                        <a:lnTo>
                          <a:pt x="956" y="520"/>
                        </a:lnTo>
                        <a:lnTo>
                          <a:pt x="956" y="520"/>
                        </a:lnTo>
                        <a:lnTo>
                          <a:pt x="856" y="530"/>
                        </a:lnTo>
                        <a:lnTo>
                          <a:pt x="856" y="536"/>
                        </a:lnTo>
                        <a:lnTo>
                          <a:pt x="856" y="536"/>
                        </a:lnTo>
                        <a:lnTo>
                          <a:pt x="846" y="578"/>
                        </a:lnTo>
                        <a:lnTo>
                          <a:pt x="834" y="618"/>
                        </a:lnTo>
                        <a:lnTo>
                          <a:pt x="832" y="622"/>
                        </a:lnTo>
                        <a:lnTo>
                          <a:pt x="832" y="622"/>
                        </a:lnTo>
                        <a:lnTo>
                          <a:pt x="914" y="682"/>
                        </a:lnTo>
                        <a:lnTo>
                          <a:pt x="914" y="682"/>
                        </a:lnTo>
                        <a:lnTo>
                          <a:pt x="870" y="754"/>
                        </a:lnTo>
                        <a:lnTo>
                          <a:pt x="870" y="754"/>
                        </a:lnTo>
                        <a:lnTo>
                          <a:pt x="778" y="712"/>
                        </a:lnTo>
                        <a:lnTo>
                          <a:pt x="776" y="718"/>
                        </a:lnTo>
                        <a:lnTo>
                          <a:pt x="776" y="718"/>
                        </a:lnTo>
                        <a:lnTo>
                          <a:pt x="748" y="748"/>
                        </a:lnTo>
                        <a:lnTo>
                          <a:pt x="718" y="776"/>
                        </a:lnTo>
                        <a:lnTo>
                          <a:pt x="714" y="778"/>
                        </a:lnTo>
                        <a:lnTo>
                          <a:pt x="714" y="778"/>
                        </a:lnTo>
                        <a:lnTo>
                          <a:pt x="756" y="870"/>
                        </a:lnTo>
                        <a:lnTo>
                          <a:pt x="756" y="870"/>
                        </a:lnTo>
                        <a:lnTo>
                          <a:pt x="682" y="914"/>
                        </a:lnTo>
                        <a:lnTo>
                          <a:pt x="682" y="914"/>
                        </a:lnTo>
                        <a:lnTo>
                          <a:pt x="622" y="832"/>
                        </a:lnTo>
                        <a:lnTo>
                          <a:pt x="618" y="834"/>
                        </a:lnTo>
                        <a:lnTo>
                          <a:pt x="618" y="834"/>
                        </a:lnTo>
                        <a:lnTo>
                          <a:pt x="598" y="840"/>
                        </a:lnTo>
                        <a:lnTo>
                          <a:pt x="578" y="846"/>
                        </a:lnTo>
                        <a:lnTo>
                          <a:pt x="556" y="852"/>
                        </a:lnTo>
                        <a:lnTo>
                          <a:pt x="536" y="856"/>
                        </a:lnTo>
                        <a:lnTo>
                          <a:pt x="530" y="856"/>
                        </a:lnTo>
                        <a:lnTo>
                          <a:pt x="530" y="856"/>
                        </a:lnTo>
                        <a:lnTo>
                          <a:pt x="520" y="956"/>
                        </a:lnTo>
                        <a:lnTo>
                          <a:pt x="520" y="956"/>
                        </a:lnTo>
                        <a:lnTo>
                          <a:pt x="436" y="956"/>
                        </a:lnTo>
                        <a:lnTo>
                          <a:pt x="436" y="956"/>
                        </a:lnTo>
                        <a:lnTo>
                          <a:pt x="426" y="856"/>
                        </a:lnTo>
                        <a:lnTo>
                          <a:pt x="420" y="856"/>
                        </a:lnTo>
                        <a:lnTo>
                          <a:pt x="420" y="856"/>
                        </a:lnTo>
                        <a:lnTo>
                          <a:pt x="380" y="846"/>
                        </a:lnTo>
                        <a:lnTo>
                          <a:pt x="340" y="834"/>
                        </a:lnTo>
                        <a:lnTo>
                          <a:pt x="334" y="832"/>
                        </a:lnTo>
                        <a:lnTo>
                          <a:pt x="334" y="832"/>
                        </a:lnTo>
                        <a:lnTo>
                          <a:pt x="274" y="914"/>
                        </a:lnTo>
                        <a:lnTo>
                          <a:pt x="274" y="914"/>
                        </a:lnTo>
                        <a:lnTo>
                          <a:pt x="202" y="872"/>
                        </a:lnTo>
                        <a:lnTo>
                          <a:pt x="202" y="872"/>
                        </a:lnTo>
                        <a:lnTo>
                          <a:pt x="244" y="780"/>
                        </a:lnTo>
                        <a:lnTo>
                          <a:pt x="240" y="776"/>
                        </a:lnTo>
                        <a:lnTo>
                          <a:pt x="240" y="776"/>
                        </a:lnTo>
                        <a:lnTo>
                          <a:pt x="208" y="748"/>
                        </a:lnTo>
                        <a:lnTo>
                          <a:pt x="182" y="718"/>
                        </a:lnTo>
                        <a:lnTo>
                          <a:pt x="178" y="714"/>
                        </a:lnTo>
                        <a:lnTo>
                          <a:pt x="178" y="714"/>
                        </a:lnTo>
                        <a:lnTo>
                          <a:pt x="86" y="756"/>
                        </a:lnTo>
                        <a:lnTo>
                          <a:pt x="86" y="756"/>
                        </a:lnTo>
                        <a:lnTo>
                          <a:pt x="44" y="682"/>
                        </a:lnTo>
                        <a:lnTo>
                          <a:pt x="44" y="682"/>
                        </a:lnTo>
                        <a:lnTo>
                          <a:pt x="126" y="624"/>
                        </a:lnTo>
                        <a:lnTo>
                          <a:pt x="124" y="618"/>
                        </a:lnTo>
                        <a:lnTo>
                          <a:pt x="124" y="618"/>
                        </a:lnTo>
                        <a:lnTo>
                          <a:pt x="110" y="578"/>
                        </a:lnTo>
                        <a:lnTo>
                          <a:pt x="104" y="556"/>
                        </a:lnTo>
                        <a:lnTo>
                          <a:pt x="102" y="536"/>
                        </a:lnTo>
                        <a:lnTo>
                          <a:pt x="100" y="530"/>
                        </a:lnTo>
                        <a:lnTo>
                          <a:pt x="100" y="530"/>
                        </a:lnTo>
                        <a:lnTo>
                          <a:pt x="0" y="520"/>
                        </a:lnTo>
                        <a:lnTo>
                          <a:pt x="0" y="520"/>
                        </a:lnTo>
                        <a:lnTo>
                          <a:pt x="0" y="436"/>
                        </a:lnTo>
                        <a:lnTo>
                          <a:pt x="0" y="436"/>
                        </a:lnTo>
                        <a:lnTo>
                          <a:pt x="100" y="426"/>
                        </a:lnTo>
                        <a:lnTo>
                          <a:pt x="102" y="420"/>
                        </a:lnTo>
                        <a:lnTo>
                          <a:pt x="102" y="420"/>
                        </a:lnTo>
                        <a:lnTo>
                          <a:pt x="110" y="380"/>
                        </a:lnTo>
                        <a:lnTo>
                          <a:pt x="122" y="340"/>
                        </a:lnTo>
                        <a:lnTo>
                          <a:pt x="124" y="334"/>
                        </a:lnTo>
                        <a:lnTo>
                          <a:pt x="124" y="334"/>
                        </a:lnTo>
                        <a:lnTo>
                          <a:pt x="42" y="276"/>
                        </a:lnTo>
                        <a:lnTo>
                          <a:pt x="42" y="276"/>
                        </a:lnTo>
                        <a:lnTo>
                          <a:pt x="86" y="202"/>
                        </a:lnTo>
                        <a:lnTo>
                          <a:pt x="86" y="202"/>
                        </a:lnTo>
                        <a:lnTo>
                          <a:pt x="178" y="244"/>
                        </a:lnTo>
                        <a:lnTo>
                          <a:pt x="180" y="240"/>
                        </a:lnTo>
                        <a:lnTo>
                          <a:pt x="180" y="240"/>
                        </a:lnTo>
                        <a:lnTo>
                          <a:pt x="208" y="210"/>
                        </a:lnTo>
                        <a:lnTo>
                          <a:pt x="238" y="182"/>
                        </a:lnTo>
                        <a:lnTo>
                          <a:pt x="242" y="178"/>
                        </a:lnTo>
                        <a:lnTo>
                          <a:pt x="242" y="178"/>
                        </a:lnTo>
                        <a:lnTo>
                          <a:pt x="200" y="86"/>
                        </a:lnTo>
                        <a:lnTo>
                          <a:pt x="200" y="86"/>
                        </a:lnTo>
                        <a:lnTo>
                          <a:pt x="274" y="44"/>
                        </a:lnTo>
                        <a:lnTo>
                          <a:pt x="274" y="44"/>
                        </a:lnTo>
                        <a:lnTo>
                          <a:pt x="334" y="126"/>
                        </a:lnTo>
                        <a:lnTo>
                          <a:pt x="338" y="124"/>
                        </a:lnTo>
                        <a:lnTo>
                          <a:pt x="338" y="124"/>
                        </a:lnTo>
                        <a:lnTo>
                          <a:pt x="378" y="110"/>
                        </a:lnTo>
                        <a:lnTo>
                          <a:pt x="400" y="106"/>
                        </a:lnTo>
                        <a:lnTo>
                          <a:pt x="420" y="102"/>
                        </a:lnTo>
                        <a:lnTo>
                          <a:pt x="426" y="100"/>
                        </a:lnTo>
                        <a:lnTo>
                          <a:pt x="426" y="100"/>
                        </a:lnTo>
                        <a:lnTo>
                          <a:pt x="436" y="0"/>
                        </a:lnTo>
                        <a:lnTo>
                          <a:pt x="436" y="0"/>
                        </a:lnTo>
                        <a:lnTo>
                          <a:pt x="520" y="0"/>
                        </a:lnTo>
                        <a:lnTo>
                          <a:pt x="520" y="0"/>
                        </a:lnTo>
                        <a:close/>
                      </a:path>
                    </a:pathLst>
                  </a:custGeom>
                  <a:ln>
                    <a:headEnd/>
                    <a:tailEnd/>
                  </a:ln>
                </p:spPr>
                <p:style>
                  <a:lnRef idx="0">
                    <a:schemeClr val="accent1"/>
                  </a:lnRef>
                  <a:fillRef idx="3">
                    <a:schemeClr val="accent1"/>
                  </a:fillRef>
                  <a:effectRef idx="3">
                    <a:schemeClr val="accent1"/>
                  </a:effectRef>
                  <a:fontRef idx="minor">
                    <a:schemeClr val="lt1"/>
                  </a:fontRef>
                </p:style>
                <p:txBody>
                  <a:bodyPr/>
                  <a:lstStyle/>
                  <a:p>
                    <a:pPr>
                      <a:defRPr/>
                    </a:pPr>
                    <a:endParaRPr lang="en-US"/>
                  </a:p>
                </p:txBody>
              </p:sp>
              <p:sp>
                <p:nvSpPr>
                  <p:cNvPr id="45" name="Oval 44"/>
                  <p:cNvSpPr/>
                  <p:nvPr/>
                </p:nvSpPr>
                <p:spPr>
                  <a:xfrm>
                    <a:off x="1600402" y="1159858"/>
                    <a:ext cx="2274933" cy="1906120"/>
                  </a:xfrm>
                  <a:prstGeom prst="ellipse">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500" b="1" dirty="0">
                        <a:solidFill>
                          <a:schemeClr val="tx1"/>
                        </a:solidFill>
                      </a:rPr>
                      <a:t>E-Business Module</a:t>
                    </a:r>
                  </a:p>
                </p:txBody>
              </p:sp>
            </p:grpSp>
            <p:grpSp>
              <p:nvGrpSpPr>
                <p:cNvPr id="38" name="Group 59"/>
                <p:cNvGrpSpPr>
                  <a:grpSpLocks/>
                </p:cNvGrpSpPr>
                <p:nvPr/>
              </p:nvGrpSpPr>
              <p:grpSpPr bwMode="auto">
                <a:xfrm>
                  <a:off x="5897878" y="2971799"/>
                  <a:ext cx="2286000" cy="1958470"/>
                  <a:chOff x="1600200" y="1133384"/>
                  <a:chExt cx="2286000" cy="1958470"/>
                </a:xfrm>
              </p:grpSpPr>
              <p:sp>
                <p:nvSpPr>
                  <p:cNvPr id="42" name="Freeform 61"/>
                  <p:cNvSpPr>
                    <a:spLocks/>
                  </p:cNvSpPr>
                  <p:nvPr/>
                </p:nvSpPr>
                <p:spPr bwMode="auto">
                  <a:xfrm>
                    <a:off x="1640140" y="1133384"/>
                    <a:ext cx="2206121" cy="1958470"/>
                  </a:xfrm>
                  <a:custGeom>
                    <a:avLst/>
                    <a:gdLst/>
                    <a:ahLst/>
                    <a:cxnLst>
                      <a:cxn ang="0">
                        <a:pos x="530" y="100"/>
                      </a:cxn>
                      <a:cxn ang="0">
                        <a:pos x="576" y="110"/>
                      </a:cxn>
                      <a:cxn ang="0">
                        <a:pos x="622" y="126"/>
                      </a:cxn>
                      <a:cxn ang="0">
                        <a:pos x="754" y="86"/>
                      </a:cxn>
                      <a:cxn ang="0">
                        <a:pos x="716" y="182"/>
                      </a:cxn>
                      <a:cxn ang="0">
                        <a:pos x="774" y="240"/>
                      </a:cxn>
                      <a:cxn ang="0">
                        <a:pos x="870" y="202"/>
                      </a:cxn>
                      <a:cxn ang="0">
                        <a:pos x="912" y="274"/>
                      </a:cxn>
                      <a:cxn ang="0">
                        <a:pos x="832" y="338"/>
                      </a:cxn>
                      <a:cxn ang="0">
                        <a:pos x="856" y="420"/>
                      </a:cxn>
                      <a:cxn ang="0">
                        <a:pos x="956" y="436"/>
                      </a:cxn>
                      <a:cxn ang="0">
                        <a:pos x="956" y="520"/>
                      </a:cxn>
                      <a:cxn ang="0">
                        <a:pos x="856" y="536"/>
                      </a:cxn>
                      <a:cxn ang="0">
                        <a:pos x="832" y="622"/>
                      </a:cxn>
                      <a:cxn ang="0">
                        <a:pos x="914" y="682"/>
                      </a:cxn>
                      <a:cxn ang="0">
                        <a:pos x="778" y="712"/>
                      </a:cxn>
                      <a:cxn ang="0">
                        <a:pos x="748" y="748"/>
                      </a:cxn>
                      <a:cxn ang="0">
                        <a:pos x="714" y="778"/>
                      </a:cxn>
                      <a:cxn ang="0">
                        <a:pos x="682" y="914"/>
                      </a:cxn>
                      <a:cxn ang="0">
                        <a:pos x="618" y="834"/>
                      </a:cxn>
                      <a:cxn ang="0">
                        <a:pos x="578" y="846"/>
                      </a:cxn>
                      <a:cxn ang="0">
                        <a:pos x="530" y="856"/>
                      </a:cxn>
                      <a:cxn ang="0">
                        <a:pos x="520" y="956"/>
                      </a:cxn>
                      <a:cxn ang="0">
                        <a:pos x="426" y="856"/>
                      </a:cxn>
                      <a:cxn ang="0">
                        <a:pos x="380" y="846"/>
                      </a:cxn>
                      <a:cxn ang="0">
                        <a:pos x="334" y="832"/>
                      </a:cxn>
                      <a:cxn ang="0">
                        <a:pos x="202" y="872"/>
                      </a:cxn>
                      <a:cxn ang="0">
                        <a:pos x="240" y="776"/>
                      </a:cxn>
                      <a:cxn ang="0">
                        <a:pos x="182" y="718"/>
                      </a:cxn>
                      <a:cxn ang="0">
                        <a:pos x="86" y="756"/>
                      </a:cxn>
                      <a:cxn ang="0">
                        <a:pos x="44" y="682"/>
                      </a:cxn>
                      <a:cxn ang="0">
                        <a:pos x="124" y="618"/>
                      </a:cxn>
                      <a:cxn ang="0">
                        <a:pos x="102" y="536"/>
                      </a:cxn>
                      <a:cxn ang="0">
                        <a:pos x="0" y="520"/>
                      </a:cxn>
                      <a:cxn ang="0">
                        <a:pos x="0" y="436"/>
                      </a:cxn>
                      <a:cxn ang="0">
                        <a:pos x="102" y="420"/>
                      </a:cxn>
                      <a:cxn ang="0">
                        <a:pos x="124" y="334"/>
                      </a:cxn>
                      <a:cxn ang="0">
                        <a:pos x="42" y="276"/>
                      </a:cxn>
                      <a:cxn ang="0">
                        <a:pos x="178" y="244"/>
                      </a:cxn>
                      <a:cxn ang="0">
                        <a:pos x="208" y="210"/>
                      </a:cxn>
                      <a:cxn ang="0">
                        <a:pos x="242" y="178"/>
                      </a:cxn>
                      <a:cxn ang="0">
                        <a:pos x="274" y="44"/>
                      </a:cxn>
                      <a:cxn ang="0">
                        <a:pos x="338" y="124"/>
                      </a:cxn>
                      <a:cxn ang="0">
                        <a:pos x="400" y="106"/>
                      </a:cxn>
                      <a:cxn ang="0">
                        <a:pos x="426" y="100"/>
                      </a:cxn>
                      <a:cxn ang="0">
                        <a:pos x="520" y="0"/>
                      </a:cxn>
                    </a:cxnLst>
                    <a:rect l="0" t="0" r="r" b="b"/>
                    <a:pathLst>
                      <a:path w="956" h="956">
                        <a:moveTo>
                          <a:pt x="520" y="0"/>
                        </a:moveTo>
                        <a:lnTo>
                          <a:pt x="520" y="0"/>
                        </a:lnTo>
                        <a:lnTo>
                          <a:pt x="530" y="100"/>
                        </a:lnTo>
                        <a:lnTo>
                          <a:pt x="536" y="102"/>
                        </a:lnTo>
                        <a:lnTo>
                          <a:pt x="536" y="102"/>
                        </a:lnTo>
                        <a:lnTo>
                          <a:pt x="576" y="110"/>
                        </a:lnTo>
                        <a:lnTo>
                          <a:pt x="616" y="124"/>
                        </a:lnTo>
                        <a:lnTo>
                          <a:pt x="622" y="126"/>
                        </a:lnTo>
                        <a:lnTo>
                          <a:pt x="622" y="126"/>
                        </a:lnTo>
                        <a:lnTo>
                          <a:pt x="682" y="44"/>
                        </a:lnTo>
                        <a:lnTo>
                          <a:pt x="682" y="44"/>
                        </a:lnTo>
                        <a:lnTo>
                          <a:pt x="754" y="86"/>
                        </a:lnTo>
                        <a:lnTo>
                          <a:pt x="754" y="86"/>
                        </a:lnTo>
                        <a:lnTo>
                          <a:pt x="712" y="178"/>
                        </a:lnTo>
                        <a:lnTo>
                          <a:pt x="716" y="182"/>
                        </a:lnTo>
                        <a:lnTo>
                          <a:pt x="716" y="182"/>
                        </a:lnTo>
                        <a:lnTo>
                          <a:pt x="748" y="208"/>
                        </a:lnTo>
                        <a:lnTo>
                          <a:pt x="774" y="240"/>
                        </a:lnTo>
                        <a:lnTo>
                          <a:pt x="778" y="244"/>
                        </a:lnTo>
                        <a:lnTo>
                          <a:pt x="778" y="244"/>
                        </a:lnTo>
                        <a:lnTo>
                          <a:pt x="870" y="202"/>
                        </a:lnTo>
                        <a:lnTo>
                          <a:pt x="870" y="202"/>
                        </a:lnTo>
                        <a:lnTo>
                          <a:pt x="912" y="274"/>
                        </a:lnTo>
                        <a:lnTo>
                          <a:pt x="912" y="274"/>
                        </a:lnTo>
                        <a:lnTo>
                          <a:pt x="830" y="334"/>
                        </a:lnTo>
                        <a:lnTo>
                          <a:pt x="832" y="338"/>
                        </a:lnTo>
                        <a:lnTo>
                          <a:pt x="832" y="338"/>
                        </a:lnTo>
                        <a:lnTo>
                          <a:pt x="846" y="380"/>
                        </a:lnTo>
                        <a:lnTo>
                          <a:pt x="852" y="400"/>
                        </a:lnTo>
                        <a:lnTo>
                          <a:pt x="856" y="420"/>
                        </a:lnTo>
                        <a:lnTo>
                          <a:pt x="856" y="426"/>
                        </a:lnTo>
                        <a:lnTo>
                          <a:pt x="856" y="426"/>
                        </a:lnTo>
                        <a:lnTo>
                          <a:pt x="956" y="436"/>
                        </a:lnTo>
                        <a:lnTo>
                          <a:pt x="956" y="436"/>
                        </a:lnTo>
                        <a:lnTo>
                          <a:pt x="956" y="520"/>
                        </a:lnTo>
                        <a:lnTo>
                          <a:pt x="956" y="520"/>
                        </a:lnTo>
                        <a:lnTo>
                          <a:pt x="856" y="530"/>
                        </a:lnTo>
                        <a:lnTo>
                          <a:pt x="856" y="536"/>
                        </a:lnTo>
                        <a:lnTo>
                          <a:pt x="856" y="536"/>
                        </a:lnTo>
                        <a:lnTo>
                          <a:pt x="846" y="578"/>
                        </a:lnTo>
                        <a:lnTo>
                          <a:pt x="834" y="618"/>
                        </a:lnTo>
                        <a:lnTo>
                          <a:pt x="832" y="622"/>
                        </a:lnTo>
                        <a:lnTo>
                          <a:pt x="832" y="622"/>
                        </a:lnTo>
                        <a:lnTo>
                          <a:pt x="914" y="682"/>
                        </a:lnTo>
                        <a:lnTo>
                          <a:pt x="914" y="682"/>
                        </a:lnTo>
                        <a:lnTo>
                          <a:pt x="870" y="754"/>
                        </a:lnTo>
                        <a:lnTo>
                          <a:pt x="870" y="754"/>
                        </a:lnTo>
                        <a:lnTo>
                          <a:pt x="778" y="712"/>
                        </a:lnTo>
                        <a:lnTo>
                          <a:pt x="776" y="718"/>
                        </a:lnTo>
                        <a:lnTo>
                          <a:pt x="776" y="718"/>
                        </a:lnTo>
                        <a:lnTo>
                          <a:pt x="748" y="748"/>
                        </a:lnTo>
                        <a:lnTo>
                          <a:pt x="718" y="776"/>
                        </a:lnTo>
                        <a:lnTo>
                          <a:pt x="714" y="778"/>
                        </a:lnTo>
                        <a:lnTo>
                          <a:pt x="714" y="778"/>
                        </a:lnTo>
                        <a:lnTo>
                          <a:pt x="756" y="870"/>
                        </a:lnTo>
                        <a:lnTo>
                          <a:pt x="756" y="870"/>
                        </a:lnTo>
                        <a:lnTo>
                          <a:pt x="682" y="914"/>
                        </a:lnTo>
                        <a:lnTo>
                          <a:pt x="682" y="914"/>
                        </a:lnTo>
                        <a:lnTo>
                          <a:pt x="622" y="832"/>
                        </a:lnTo>
                        <a:lnTo>
                          <a:pt x="618" y="834"/>
                        </a:lnTo>
                        <a:lnTo>
                          <a:pt x="618" y="834"/>
                        </a:lnTo>
                        <a:lnTo>
                          <a:pt x="598" y="840"/>
                        </a:lnTo>
                        <a:lnTo>
                          <a:pt x="578" y="846"/>
                        </a:lnTo>
                        <a:lnTo>
                          <a:pt x="556" y="852"/>
                        </a:lnTo>
                        <a:lnTo>
                          <a:pt x="536" y="856"/>
                        </a:lnTo>
                        <a:lnTo>
                          <a:pt x="530" y="856"/>
                        </a:lnTo>
                        <a:lnTo>
                          <a:pt x="530" y="856"/>
                        </a:lnTo>
                        <a:lnTo>
                          <a:pt x="520" y="956"/>
                        </a:lnTo>
                        <a:lnTo>
                          <a:pt x="520" y="956"/>
                        </a:lnTo>
                        <a:lnTo>
                          <a:pt x="436" y="956"/>
                        </a:lnTo>
                        <a:lnTo>
                          <a:pt x="436" y="956"/>
                        </a:lnTo>
                        <a:lnTo>
                          <a:pt x="426" y="856"/>
                        </a:lnTo>
                        <a:lnTo>
                          <a:pt x="420" y="856"/>
                        </a:lnTo>
                        <a:lnTo>
                          <a:pt x="420" y="856"/>
                        </a:lnTo>
                        <a:lnTo>
                          <a:pt x="380" y="846"/>
                        </a:lnTo>
                        <a:lnTo>
                          <a:pt x="340" y="834"/>
                        </a:lnTo>
                        <a:lnTo>
                          <a:pt x="334" y="832"/>
                        </a:lnTo>
                        <a:lnTo>
                          <a:pt x="334" y="832"/>
                        </a:lnTo>
                        <a:lnTo>
                          <a:pt x="274" y="914"/>
                        </a:lnTo>
                        <a:lnTo>
                          <a:pt x="274" y="914"/>
                        </a:lnTo>
                        <a:lnTo>
                          <a:pt x="202" y="872"/>
                        </a:lnTo>
                        <a:lnTo>
                          <a:pt x="202" y="872"/>
                        </a:lnTo>
                        <a:lnTo>
                          <a:pt x="244" y="780"/>
                        </a:lnTo>
                        <a:lnTo>
                          <a:pt x="240" y="776"/>
                        </a:lnTo>
                        <a:lnTo>
                          <a:pt x="240" y="776"/>
                        </a:lnTo>
                        <a:lnTo>
                          <a:pt x="208" y="748"/>
                        </a:lnTo>
                        <a:lnTo>
                          <a:pt x="182" y="718"/>
                        </a:lnTo>
                        <a:lnTo>
                          <a:pt x="178" y="714"/>
                        </a:lnTo>
                        <a:lnTo>
                          <a:pt x="178" y="714"/>
                        </a:lnTo>
                        <a:lnTo>
                          <a:pt x="86" y="756"/>
                        </a:lnTo>
                        <a:lnTo>
                          <a:pt x="86" y="756"/>
                        </a:lnTo>
                        <a:lnTo>
                          <a:pt x="44" y="682"/>
                        </a:lnTo>
                        <a:lnTo>
                          <a:pt x="44" y="682"/>
                        </a:lnTo>
                        <a:lnTo>
                          <a:pt x="126" y="624"/>
                        </a:lnTo>
                        <a:lnTo>
                          <a:pt x="124" y="618"/>
                        </a:lnTo>
                        <a:lnTo>
                          <a:pt x="124" y="618"/>
                        </a:lnTo>
                        <a:lnTo>
                          <a:pt x="110" y="578"/>
                        </a:lnTo>
                        <a:lnTo>
                          <a:pt x="104" y="556"/>
                        </a:lnTo>
                        <a:lnTo>
                          <a:pt x="102" y="536"/>
                        </a:lnTo>
                        <a:lnTo>
                          <a:pt x="100" y="530"/>
                        </a:lnTo>
                        <a:lnTo>
                          <a:pt x="100" y="530"/>
                        </a:lnTo>
                        <a:lnTo>
                          <a:pt x="0" y="520"/>
                        </a:lnTo>
                        <a:lnTo>
                          <a:pt x="0" y="520"/>
                        </a:lnTo>
                        <a:lnTo>
                          <a:pt x="0" y="436"/>
                        </a:lnTo>
                        <a:lnTo>
                          <a:pt x="0" y="436"/>
                        </a:lnTo>
                        <a:lnTo>
                          <a:pt x="100" y="426"/>
                        </a:lnTo>
                        <a:lnTo>
                          <a:pt x="102" y="420"/>
                        </a:lnTo>
                        <a:lnTo>
                          <a:pt x="102" y="420"/>
                        </a:lnTo>
                        <a:lnTo>
                          <a:pt x="110" y="380"/>
                        </a:lnTo>
                        <a:lnTo>
                          <a:pt x="122" y="340"/>
                        </a:lnTo>
                        <a:lnTo>
                          <a:pt x="124" y="334"/>
                        </a:lnTo>
                        <a:lnTo>
                          <a:pt x="124" y="334"/>
                        </a:lnTo>
                        <a:lnTo>
                          <a:pt x="42" y="276"/>
                        </a:lnTo>
                        <a:lnTo>
                          <a:pt x="42" y="276"/>
                        </a:lnTo>
                        <a:lnTo>
                          <a:pt x="86" y="202"/>
                        </a:lnTo>
                        <a:lnTo>
                          <a:pt x="86" y="202"/>
                        </a:lnTo>
                        <a:lnTo>
                          <a:pt x="178" y="244"/>
                        </a:lnTo>
                        <a:lnTo>
                          <a:pt x="180" y="240"/>
                        </a:lnTo>
                        <a:lnTo>
                          <a:pt x="180" y="240"/>
                        </a:lnTo>
                        <a:lnTo>
                          <a:pt x="208" y="210"/>
                        </a:lnTo>
                        <a:lnTo>
                          <a:pt x="238" y="182"/>
                        </a:lnTo>
                        <a:lnTo>
                          <a:pt x="242" y="178"/>
                        </a:lnTo>
                        <a:lnTo>
                          <a:pt x="242" y="178"/>
                        </a:lnTo>
                        <a:lnTo>
                          <a:pt x="200" y="86"/>
                        </a:lnTo>
                        <a:lnTo>
                          <a:pt x="200" y="86"/>
                        </a:lnTo>
                        <a:lnTo>
                          <a:pt x="274" y="44"/>
                        </a:lnTo>
                        <a:lnTo>
                          <a:pt x="274" y="44"/>
                        </a:lnTo>
                        <a:lnTo>
                          <a:pt x="334" y="126"/>
                        </a:lnTo>
                        <a:lnTo>
                          <a:pt x="338" y="124"/>
                        </a:lnTo>
                        <a:lnTo>
                          <a:pt x="338" y="124"/>
                        </a:lnTo>
                        <a:lnTo>
                          <a:pt x="378" y="110"/>
                        </a:lnTo>
                        <a:lnTo>
                          <a:pt x="400" y="106"/>
                        </a:lnTo>
                        <a:lnTo>
                          <a:pt x="420" y="102"/>
                        </a:lnTo>
                        <a:lnTo>
                          <a:pt x="426" y="100"/>
                        </a:lnTo>
                        <a:lnTo>
                          <a:pt x="426" y="100"/>
                        </a:lnTo>
                        <a:lnTo>
                          <a:pt x="436" y="0"/>
                        </a:lnTo>
                        <a:lnTo>
                          <a:pt x="436" y="0"/>
                        </a:lnTo>
                        <a:lnTo>
                          <a:pt x="520" y="0"/>
                        </a:lnTo>
                        <a:lnTo>
                          <a:pt x="520" y="0"/>
                        </a:lnTo>
                        <a:close/>
                      </a:path>
                    </a:pathLst>
                  </a:custGeom>
                  <a:ln>
                    <a:headEnd/>
                    <a:tailEnd/>
                  </a:ln>
                </p:spPr>
                <p:style>
                  <a:lnRef idx="0">
                    <a:schemeClr val="accent1"/>
                  </a:lnRef>
                  <a:fillRef idx="3">
                    <a:schemeClr val="accent1"/>
                  </a:fillRef>
                  <a:effectRef idx="3">
                    <a:schemeClr val="accent1"/>
                  </a:effectRef>
                  <a:fontRef idx="minor">
                    <a:schemeClr val="lt1"/>
                  </a:fontRef>
                </p:style>
                <p:txBody>
                  <a:bodyPr/>
                  <a:lstStyle/>
                  <a:p>
                    <a:pPr>
                      <a:defRPr/>
                    </a:pPr>
                    <a:endParaRPr lang="en-US"/>
                  </a:p>
                </p:txBody>
              </p:sp>
              <p:sp>
                <p:nvSpPr>
                  <p:cNvPr id="43" name="Oval 42"/>
                  <p:cNvSpPr/>
                  <p:nvPr/>
                </p:nvSpPr>
                <p:spPr>
                  <a:xfrm>
                    <a:off x="1589636" y="1159159"/>
                    <a:ext cx="2295804" cy="1906120"/>
                  </a:xfrm>
                  <a:prstGeom prst="ellipse">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500" b="1" dirty="0">
                        <a:solidFill>
                          <a:schemeClr val="tx1"/>
                        </a:solidFill>
                      </a:rPr>
                      <a:t>Customer Relationship Management Module</a:t>
                    </a:r>
                  </a:p>
                </p:txBody>
              </p:sp>
            </p:grpSp>
            <p:grpSp>
              <p:nvGrpSpPr>
                <p:cNvPr id="39" name="Group 62"/>
                <p:cNvGrpSpPr>
                  <a:grpSpLocks/>
                </p:cNvGrpSpPr>
                <p:nvPr/>
              </p:nvGrpSpPr>
              <p:grpSpPr bwMode="auto">
                <a:xfrm>
                  <a:off x="5654040" y="1143000"/>
                  <a:ext cx="2286000" cy="1958470"/>
                  <a:chOff x="1600200" y="1133384"/>
                  <a:chExt cx="2286000" cy="1958470"/>
                </a:xfrm>
              </p:grpSpPr>
              <p:sp>
                <p:nvSpPr>
                  <p:cNvPr id="40" name="Freeform 61"/>
                  <p:cNvSpPr>
                    <a:spLocks/>
                  </p:cNvSpPr>
                  <p:nvPr/>
                </p:nvSpPr>
                <p:spPr bwMode="auto">
                  <a:xfrm>
                    <a:off x="1640140" y="1133384"/>
                    <a:ext cx="2206121" cy="1958470"/>
                  </a:xfrm>
                  <a:custGeom>
                    <a:avLst/>
                    <a:gdLst/>
                    <a:ahLst/>
                    <a:cxnLst>
                      <a:cxn ang="0">
                        <a:pos x="530" y="100"/>
                      </a:cxn>
                      <a:cxn ang="0">
                        <a:pos x="576" y="110"/>
                      </a:cxn>
                      <a:cxn ang="0">
                        <a:pos x="622" y="126"/>
                      </a:cxn>
                      <a:cxn ang="0">
                        <a:pos x="754" y="86"/>
                      </a:cxn>
                      <a:cxn ang="0">
                        <a:pos x="716" y="182"/>
                      </a:cxn>
                      <a:cxn ang="0">
                        <a:pos x="774" y="240"/>
                      </a:cxn>
                      <a:cxn ang="0">
                        <a:pos x="870" y="202"/>
                      </a:cxn>
                      <a:cxn ang="0">
                        <a:pos x="912" y="274"/>
                      </a:cxn>
                      <a:cxn ang="0">
                        <a:pos x="832" y="338"/>
                      </a:cxn>
                      <a:cxn ang="0">
                        <a:pos x="856" y="420"/>
                      </a:cxn>
                      <a:cxn ang="0">
                        <a:pos x="956" y="436"/>
                      </a:cxn>
                      <a:cxn ang="0">
                        <a:pos x="956" y="520"/>
                      </a:cxn>
                      <a:cxn ang="0">
                        <a:pos x="856" y="536"/>
                      </a:cxn>
                      <a:cxn ang="0">
                        <a:pos x="832" y="622"/>
                      </a:cxn>
                      <a:cxn ang="0">
                        <a:pos x="914" y="682"/>
                      </a:cxn>
                      <a:cxn ang="0">
                        <a:pos x="778" y="712"/>
                      </a:cxn>
                      <a:cxn ang="0">
                        <a:pos x="748" y="748"/>
                      </a:cxn>
                      <a:cxn ang="0">
                        <a:pos x="714" y="778"/>
                      </a:cxn>
                      <a:cxn ang="0">
                        <a:pos x="682" y="914"/>
                      </a:cxn>
                      <a:cxn ang="0">
                        <a:pos x="618" y="834"/>
                      </a:cxn>
                      <a:cxn ang="0">
                        <a:pos x="578" y="846"/>
                      </a:cxn>
                      <a:cxn ang="0">
                        <a:pos x="530" y="856"/>
                      </a:cxn>
                      <a:cxn ang="0">
                        <a:pos x="520" y="956"/>
                      </a:cxn>
                      <a:cxn ang="0">
                        <a:pos x="426" y="856"/>
                      </a:cxn>
                      <a:cxn ang="0">
                        <a:pos x="380" y="846"/>
                      </a:cxn>
                      <a:cxn ang="0">
                        <a:pos x="334" y="832"/>
                      </a:cxn>
                      <a:cxn ang="0">
                        <a:pos x="202" y="872"/>
                      </a:cxn>
                      <a:cxn ang="0">
                        <a:pos x="240" y="776"/>
                      </a:cxn>
                      <a:cxn ang="0">
                        <a:pos x="182" y="718"/>
                      </a:cxn>
                      <a:cxn ang="0">
                        <a:pos x="86" y="756"/>
                      </a:cxn>
                      <a:cxn ang="0">
                        <a:pos x="44" y="682"/>
                      </a:cxn>
                      <a:cxn ang="0">
                        <a:pos x="124" y="618"/>
                      </a:cxn>
                      <a:cxn ang="0">
                        <a:pos x="102" y="536"/>
                      </a:cxn>
                      <a:cxn ang="0">
                        <a:pos x="0" y="520"/>
                      </a:cxn>
                      <a:cxn ang="0">
                        <a:pos x="0" y="436"/>
                      </a:cxn>
                      <a:cxn ang="0">
                        <a:pos x="102" y="420"/>
                      </a:cxn>
                      <a:cxn ang="0">
                        <a:pos x="124" y="334"/>
                      </a:cxn>
                      <a:cxn ang="0">
                        <a:pos x="42" y="276"/>
                      </a:cxn>
                      <a:cxn ang="0">
                        <a:pos x="178" y="244"/>
                      </a:cxn>
                      <a:cxn ang="0">
                        <a:pos x="208" y="210"/>
                      </a:cxn>
                      <a:cxn ang="0">
                        <a:pos x="242" y="178"/>
                      </a:cxn>
                      <a:cxn ang="0">
                        <a:pos x="274" y="44"/>
                      </a:cxn>
                      <a:cxn ang="0">
                        <a:pos x="338" y="124"/>
                      </a:cxn>
                      <a:cxn ang="0">
                        <a:pos x="400" y="106"/>
                      </a:cxn>
                      <a:cxn ang="0">
                        <a:pos x="426" y="100"/>
                      </a:cxn>
                      <a:cxn ang="0">
                        <a:pos x="520" y="0"/>
                      </a:cxn>
                    </a:cxnLst>
                    <a:rect l="0" t="0" r="r" b="b"/>
                    <a:pathLst>
                      <a:path w="956" h="956">
                        <a:moveTo>
                          <a:pt x="520" y="0"/>
                        </a:moveTo>
                        <a:lnTo>
                          <a:pt x="520" y="0"/>
                        </a:lnTo>
                        <a:lnTo>
                          <a:pt x="530" y="100"/>
                        </a:lnTo>
                        <a:lnTo>
                          <a:pt x="536" y="102"/>
                        </a:lnTo>
                        <a:lnTo>
                          <a:pt x="536" y="102"/>
                        </a:lnTo>
                        <a:lnTo>
                          <a:pt x="576" y="110"/>
                        </a:lnTo>
                        <a:lnTo>
                          <a:pt x="616" y="124"/>
                        </a:lnTo>
                        <a:lnTo>
                          <a:pt x="622" y="126"/>
                        </a:lnTo>
                        <a:lnTo>
                          <a:pt x="622" y="126"/>
                        </a:lnTo>
                        <a:lnTo>
                          <a:pt x="682" y="44"/>
                        </a:lnTo>
                        <a:lnTo>
                          <a:pt x="682" y="44"/>
                        </a:lnTo>
                        <a:lnTo>
                          <a:pt x="754" y="86"/>
                        </a:lnTo>
                        <a:lnTo>
                          <a:pt x="754" y="86"/>
                        </a:lnTo>
                        <a:lnTo>
                          <a:pt x="712" y="178"/>
                        </a:lnTo>
                        <a:lnTo>
                          <a:pt x="716" y="182"/>
                        </a:lnTo>
                        <a:lnTo>
                          <a:pt x="716" y="182"/>
                        </a:lnTo>
                        <a:lnTo>
                          <a:pt x="748" y="208"/>
                        </a:lnTo>
                        <a:lnTo>
                          <a:pt x="774" y="240"/>
                        </a:lnTo>
                        <a:lnTo>
                          <a:pt x="778" y="244"/>
                        </a:lnTo>
                        <a:lnTo>
                          <a:pt x="778" y="244"/>
                        </a:lnTo>
                        <a:lnTo>
                          <a:pt x="870" y="202"/>
                        </a:lnTo>
                        <a:lnTo>
                          <a:pt x="870" y="202"/>
                        </a:lnTo>
                        <a:lnTo>
                          <a:pt x="912" y="274"/>
                        </a:lnTo>
                        <a:lnTo>
                          <a:pt x="912" y="274"/>
                        </a:lnTo>
                        <a:lnTo>
                          <a:pt x="830" y="334"/>
                        </a:lnTo>
                        <a:lnTo>
                          <a:pt x="832" y="338"/>
                        </a:lnTo>
                        <a:lnTo>
                          <a:pt x="832" y="338"/>
                        </a:lnTo>
                        <a:lnTo>
                          <a:pt x="846" y="380"/>
                        </a:lnTo>
                        <a:lnTo>
                          <a:pt x="852" y="400"/>
                        </a:lnTo>
                        <a:lnTo>
                          <a:pt x="856" y="420"/>
                        </a:lnTo>
                        <a:lnTo>
                          <a:pt x="856" y="426"/>
                        </a:lnTo>
                        <a:lnTo>
                          <a:pt x="856" y="426"/>
                        </a:lnTo>
                        <a:lnTo>
                          <a:pt x="956" y="436"/>
                        </a:lnTo>
                        <a:lnTo>
                          <a:pt x="956" y="436"/>
                        </a:lnTo>
                        <a:lnTo>
                          <a:pt x="956" y="520"/>
                        </a:lnTo>
                        <a:lnTo>
                          <a:pt x="956" y="520"/>
                        </a:lnTo>
                        <a:lnTo>
                          <a:pt x="856" y="530"/>
                        </a:lnTo>
                        <a:lnTo>
                          <a:pt x="856" y="536"/>
                        </a:lnTo>
                        <a:lnTo>
                          <a:pt x="856" y="536"/>
                        </a:lnTo>
                        <a:lnTo>
                          <a:pt x="846" y="578"/>
                        </a:lnTo>
                        <a:lnTo>
                          <a:pt x="834" y="618"/>
                        </a:lnTo>
                        <a:lnTo>
                          <a:pt x="832" y="622"/>
                        </a:lnTo>
                        <a:lnTo>
                          <a:pt x="832" y="622"/>
                        </a:lnTo>
                        <a:lnTo>
                          <a:pt x="914" y="682"/>
                        </a:lnTo>
                        <a:lnTo>
                          <a:pt x="914" y="682"/>
                        </a:lnTo>
                        <a:lnTo>
                          <a:pt x="870" y="754"/>
                        </a:lnTo>
                        <a:lnTo>
                          <a:pt x="870" y="754"/>
                        </a:lnTo>
                        <a:lnTo>
                          <a:pt x="778" y="712"/>
                        </a:lnTo>
                        <a:lnTo>
                          <a:pt x="776" y="718"/>
                        </a:lnTo>
                        <a:lnTo>
                          <a:pt x="776" y="718"/>
                        </a:lnTo>
                        <a:lnTo>
                          <a:pt x="748" y="748"/>
                        </a:lnTo>
                        <a:lnTo>
                          <a:pt x="718" y="776"/>
                        </a:lnTo>
                        <a:lnTo>
                          <a:pt x="714" y="778"/>
                        </a:lnTo>
                        <a:lnTo>
                          <a:pt x="714" y="778"/>
                        </a:lnTo>
                        <a:lnTo>
                          <a:pt x="756" y="870"/>
                        </a:lnTo>
                        <a:lnTo>
                          <a:pt x="756" y="870"/>
                        </a:lnTo>
                        <a:lnTo>
                          <a:pt x="682" y="914"/>
                        </a:lnTo>
                        <a:lnTo>
                          <a:pt x="682" y="914"/>
                        </a:lnTo>
                        <a:lnTo>
                          <a:pt x="622" y="832"/>
                        </a:lnTo>
                        <a:lnTo>
                          <a:pt x="618" y="834"/>
                        </a:lnTo>
                        <a:lnTo>
                          <a:pt x="618" y="834"/>
                        </a:lnTo>
                        <a:lnTo>
                          <a:pt x="598" y="840"/>
                        </a:lnTo>
                        <a:lnTo>
                          <a:pt x="578" y="846"/>
                        </a:lnTo>
                        <a:lnTo>
                          <a:pt x="556" y="852"/>
                        </a:lnTo>
                        <a:lnTo>
                          <a:pt x="536" y="856"/>
                        </a:lnTo>
                        <a:lnTo>
                          <a:pt x="530" y="856"/>
                        </a:lnTo>
                        <a:lnTo>
                          <a:pt x="530" y="856"/>
                        </a:lnTo>
                        <a:lnTo>
                          <a:pt x="520" y="956"/>
                        </a:lnTo>
                        <a:lnTo>
                          <a:pt x="520" y="956"/>
                        </a:lnTo>
                        <a:lnTo>
                          <a:pt x="436" y="956"/>
                        </a:lnTo>
                        <a:lnTo>
                          <a:pt x="436" y="956"/>
                        </a:lnTo>
                        <a:lnTo>
                          <a:pt x="426" y="856"/>
                        </a:lnTo>
                        <a:lnTo>
                          <a:pt x="420" y="856"/>
                        </a:lnTo>
                        <a:lnTo>
                          <a:pt x="420" y="856"/>
                        </a:lnTo>
                        <a:lnTo>
                          <a:pt x="380" y="846"/>
                        </a:lnTo>
                        <a:lnTo>
                          <a:pt x="340" y="834"/>
                        </a:lnTo>
                        <a:lnTo>
                          <a:pt x="334" y="832"/>
                        </a:lnTo>
                        <a:lnTo>
                          <a:pt x="334" y="832"/>
                        </a:lnTo>
                        <a:lnTo>
                          <a:pt x="274" y="914"/>
                        </a:lnTo>
                        <a:lnTo>
                          <a:pt x="274" y="914"/>
                        </a:lnTo>
                        <a:lnTo>
                          <a:pt x="202" y="872"/>
                        </a:lnTo>
                        <a:lnTo>
                          <a:pt x="202" y="872"/>
                        </a:lnTo>
                        <a:lnTo>
                          <a:pt x="244" y="780"/>
                        </a:lnTo>
                        <a:lnTo>
                          <a:pt x="240" y="776"/>
                        </a:lnTo>
                        <a:lnTo>
                          <a:pt x="240" y="776"/>
                        </a:lnTo>
                        <a:lnTo>
                          <a:pt x="208" y="748"/>
                        </a:lnTo>
                        <a:lnTo>
                          <a:pt x="182" y="718"/>
                        </a:lnTo>
                        <a:lnTo>
                          <a:pt x="178" y="714"/>
                        </a:lnTo>
                        <a:lnTo>
                          <a:pt x="178" y="714"/>
                        </a:lnTo>
                        <a:lnTo>
                          <a:pt x="86" y="756"/>
                        </a:lnTo>
                        <a:lnTo>
                          <a:pt x="86" y="756"/>
                        </a:lnTo>
                        <a:lnTo>
                          <a:pt x="44" y="682"/>
                        </a:lnTo>
                        <a:lnTo>
                          <a:pt x="44" y="682"/>
                        </a:lnTo>
                        <a:lnTo>
                          <a:pt x="126" y="624"/>
                        </a:lnTo>
                        <a:lnTo>
                          <a:pt x="124" y="618"/>
                        </a:lnTo>
                        <a:lnTo>
                          <a:pt x="124" y="618"/>
                        </a:lnTo>
                        <a:lnTo>
                          <a:pt x="110" y="578"/>
                        </a:lnTo>
                        <a:lnTo>
                          <a:pt x="104" y="556"/>
                        </a:lnTo>
                        <a:lnTo>
                          <a:pt x="102" y="536"/>
                        </a:lnTo>
                        <a:lnTo>
                          <a:pt x="100" y="530"/>
                        </a:lnTo>
                        <a:lnTo>
                          <a:pt x="100" y="530"/>
                        </a:lnTo>
                        <a:lnTo>
                          <a:pt x="0" y="520"/>
                        </a:lnTo>
                        <a:lnTo>
                          <a:pt x="0" y="520"/>
                        </a:lnTo>
                        <a:lnTo>
                          <a:pt x="0" y="436"/>
                        </a:lnTo>
                        <a:lnTo>
                          <a:pt x="0" y="436"/>
                        </a:lnTo>
                        <a:lnTo>
                          <a:pt x="100" y="426"/>
                        </a:lnTo>
                        <a:lnTo>
                          <a:pt x="102" y="420"/>
                        </a:lnTo>
                        <a:lnTo>
                          <a:pt x="102" y="420"/>
                        </a:lnTo>
                        <a:lnTo>
                          <a:pt x="110" y="380"/>
                        </a:lnTo>
                        <a:lnTo>
                          <a:pt x="122" y="340"/>
                        </a:lnTo>
                        <a:lnTo>
                          <a:pt x="124" y="334"/>
                        </a:lnTo>
                        <a:lnTo>
                          <a:pt x="124" y="334"/>
                        </a:lnTo>
                        <a:lnTo>
                          <a:pt x="42" y="276"/>
                        </a:lnTo>
                        <a:lnTo>
                          <a:pt x="42" y="276"/>
                        </a:lnTo>
                        <a:lnTo>
                          <a:pt x="86" y="202"/>
                        </a:lnTo>
                        <a:lnTo>
                          <a:pt x="86" y="202"/>
                        </a:lnTo>
                        <a:lnTo>
                          <a:pt x="178" y="244"/>
                        </a:lnTo>
                        <a:lnTo>
                          <a:pt x="180" y="240"/>
                        </a:lnTo>
                        <a:lnTo>
                          <a:pt x="180" y="240"/>
                        </a:lnTo>
                        <a:lnTo>
                          <a:pt x="208" y="210"/>
                        </a:lnTo>
                        <a:lnTo>
                          <a:pt x="238" y="182"/>
                        </a:lnTo>
                        <a:lnTo>
                          <a:pt x="242" y="178"/>
                        </a:lnTo>
                        <a:lnTo>
                          <a:pt x="242" y="178"/>
                        </a:lnTo>
                        <a:lnTo>
                          <a:pt x="200" y="86"/>
                        </a:lnTo>
                        <a:lnTo>
                          <a:pt x="200" y="86"/>
                        </a:lnTo>
                        <a:lnTo>
                          <a:pt x="274" y="44"/>
                        </a:lnTo>
                        <a:lnTo>
                          <a:pt x="274" y="44"/>
                        </a:lnTo>
                        <a:lnTo>
                          <a:pt x="334" y="126"/>
                        </a:lnTo>
                        <a:lnTo>
                          <a:pt x="338" y="124"/>
                        </a:lnTo>
                        <a:lnTo>
                          <a:pt x="338" y="124"/>
                        </a:lnTo>
                        <a:lnTo>
                          <a:pt x="378" y="110"/>
                        </a:lnTo>
                        <a:lnTo>
                          <a:pt x="400" y="106"/>
                        </a:lnTo>
                        <a:lnTo>
                          <a:pt x="420" y="102"/>
                        </a:lnTo>
                        <a:lnTo>
                          <a:pt x="426" y="100"/>
                        </a:lnTo>
                        <a:lnTo>
                          <a:pt x="426" y="100"/>
                        </a:lnTo>
                        <a:lnTo>
                          <a:pt x="436" y="0"/>
                        </a:lnTo>
                        <a:lnTo>
                          <a:pt x="436" y="0"/>
                        </a:lnTo>
                        <a:lnTo>
                          <a:pt x="520" y="0"/>
                        </a:lnTo>
                        <a:lnTo>
                          <a:pt x="520" y="0"/>
                        </a:lnTo>
                        <a:close/>
                      </a:path>
                    </a:pathLst>
                  </a:custGeom>
                  <a:solidFill>
                    <a:schemeClr val="tx2">
                      <a:lumMod val="75000"/>
                    </a:schemeClr>
                  </a:solidFill>
                  <a:ln>
                    <a:headEnd/>
                    <a:tailEnd/>
                  </a:ln>
                </p:spPr>
                <p:style>
                  <a:lnRef idx="0">
                    <a:schemeClr val="accent2"/>
                  </a:lnRef>
                  <a:fillRef idx="3">
                    <a:schemeClr val="accent2"/>
                  </a:fillRef>
                  <a:effectRef idx="3">
                    <a:schemeClr val="accent2"/>
                  </a:effectRef>
                  <a:fontRef idx="minor">
                    <a:schemeClr val="lt1"/>
                  </a:fontRef>
                </p:style>
                <p:txBody>
                  <a:bodyPr/>
                  <a:lstStyle/>
                  <a:p>
                    <a:pPr>
                      <a:defRPr/>
                    </a:pPr>
                    <a:endParaRPr lang="en-US"/>
                  </a:p>
                </p:txBody>
              </p:sp>
              <p:sp>
                <p:nvSpPr>
                  <p:cNvPr id="41" name="Oval 40"/>
                  <p:cNvSpPr/>
                  <p:nvPr/>
                </p:nvSpPr>
                <p:spPr>
                  <a:xfrm>
                    <a:off x="1600098" y="1159368"/>
                    <a:ext cx="2274933" cy="1906120"/>
                  </a:xfrm>
                  <a:prstGeom prst="ellipse">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500" b="1" dirty="0"/>
                      <a:t>Human Resources Module</a:t>
                    </a:r>
                  </a:p>
                </p:txBody>
              </p:sp>
            </p:grpSp>
          </p:grpSp>
          <p:sp>
            <p:nvSpPr>
              <p:cNvPr id="17" name="Rectangle 16"/>
              <p:cNvSpPr/>
              <p:nvPr/>
            </p:nvSpPr>
            <p:spPr>
              <a:xfrm>
                <a:off x="3200400" y="228600"/>
                <a:ext cx="2590800"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solidFill>
                      <a:schemeClr val="tx2">
                        <a:lumMod val="75000"/>
                      </a:schemeClr>
                    </a:solidFill>
                  </a:rPr>
                  <a:t>Core ERP Modules</a:t>
                </a:r>
              </a:p>
            </p:txBody>
          </p:sp>
          <p:cxnSp>
            <p:nvCxnSpPr>
              <p:cNvPr id="18" name="Shape 76"/>
              <p:cNvCxnSpPr>
                <a:stCxn id="17" idx="3"/>
                <a:endCxn id="41" idx="0"/>
              </p:cNvCxnSpPr>
              <p:nvPr/>
            </p:nvCxnSpPr>
            <p:spPr>
              <a:xfrm>
                <a:off x="5791200" y="381000"/>
                <a:ext cx="423863" cy="1182688"/>
              </a:xfrm>
              <a:prstGeom prst="bentConnector2">
                <a:avLst/>
              </a:prstGeom>
              <a:ln w="28575">
                <a:solidFill>
                  <a:schemeClr val="tx2">
                    <a:lumMod val="75000"/>
                  </a:schemeClr>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19" name="Shape 78"/>
              <p:cNvCxnSpPr>
                <a:stCxn id="17" idx="1"/>
                <a:endCxn id="51" idx="0"/>
              </p:cNvCxnSpPr>
              <p:nvPr/>
            </p:nvCxnSpPr>
            <p:spPr>
              <a:xfrm rot="10800000" flipV="1">
                <a:off x="2824163" y="381000"/>
                <a:ext cx="376237" cy="1174750"/>
              </a:xfrm>
              <a:prstGeom prst="bentConnector2">
                <a:avLst/>
              </a:prstGeom>
              <a:ln w="28575">
                <a:solidFill>
                  <a:schemeClr val="tx2">
                    <a:lumMod val="75000"/>
                  </a:schemeClr>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7" idx="2"/>
                <a:endCxn id="53" idx="0"/>
              </p:cNvCxnSpPr>
              <p:nvPr/>
            </p:nvCxnSpPr>
            <p:spPr>
              <a:xfrm rot="16200000" flipH="1">
                <a:off x="4352132" y="677068"/>
                <a:ext cx="304800" cy="17463"/>
              </a:xfrm>
              <a:prstGeom prst="straightConnector1">
                <a:avLst/>
              </a:prstGeom>
              <a:ln w="28575">
                <a:solidFill>
                  <a:schemeClr val="tx2">
                    <a:lumMod val="75000"/>
                  </a:schemeClr>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2819400" y="6308725"/>
                <a:ext cx="3581400" cy="3206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solidFill>
                      <a:schemeClr val="tx1"/>
                    </a:solidFill>
                  </a:rPr>
                  <a:t>Extended ERP Modules</a:t>
                </a:r>
              </a:p>
            </p:txBody>
          </p:sp>
          <p:cxnSp>
            <p:nvCxnSpPr>
              <p:cNvPr id="22" name="Shape 99"/>
              <p:cNvCxnSpPr>
                <a:stCxn id="21" idx="3"/>
              </p:cNvCxnSpPr>
              <p:nvPr/>
            </p:nvCxnSpPr>
            <p:spPr>
              <a:xfrm flipV="1">
                <a:off x="6400800" y="4648200"/>
                <a:ext cx="457200" cy="1820863"/>
              </a:xfrm>
              <a:prstGeom prst="bentConnector2">
                <a:avLst/>
              </a:prstGeom>
              <a:ln w="28575">
                <a:solidFill>
                  <a:schemeClr val="tx2">
                    <a:lumMod val="75000"/>
                  </a:schemeClr>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23" name="Shape 101"/>
              <p:cNvCxnSpPr>
                <a:stCxn id="21" idx="1"/>
              </p:cNvCxnSpPr>
              <p:nvPr/>
            </p:nvCxnSpPr>
            <p:spPr>
              <a:xfrm rot="10800000">
                <a:off x="2133600" y="4572000"/>
                <a:ext cx="685800" cy="1897063"/>
              </a:xfrm>
              <a:prstGeom prst="bentConnector2">
                <a:avLst/>
              </a:prstGeom>
              <a:ln w="28575">
                <a:solidFill>
                  <a:schemeClr val="tx2">
                    <a:lumMod val="75000"/>
                  </a:schemeClr>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16200000" flipV="1">
                <a:off x="3886200" y="6096000"/>
                <a:ext cx="304800" cy="152400"/>
              </a:xfrm>
              <a:prstGeom prst="straightConnector1">
                <a:avLst/>
              </a:prstGeom>
              <a:ln w="28575">
                <a:solidFill>
                  <a:schemeClr val="tx2">
                    <a:lumMod val="75000"/>
                  </a:schemeClr>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rot="5400000" flipH="1" flipV="1">
                <a:off x="4876800" y="5943600"/>
                <a:ext cx="381000" cy="381000"/>
              </a:xfrm>
              <a:prstGeom prst="straightConnector1">
                <a:avLst/>
              </a:prstGeom>
              <a:ln w="28575">
                <a:solidFill>
                  <a:schemeClr val="tx2">
                    <a:lumMod val="75000"/>
                  </a:schemeClr>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304800" y="2819400"/>
                <a:ext cx="17526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solidFill>
                      <a:schemeClr val="tx2">
                        <a:lumMod val="75000"/>
                      </a:schemeClr>
                    </a:solidFill>
                  </a:rPr>
                  <a:t>Suppliers</a:t>
                </a:r>
              </a:p>
            </p:txBody>
          </p:sp>
          <p:sp>
            <p:nvSpPr>
              <p:cNvPr id="27" name="Rectangle 26"/>
              <p:cNvSpPr/>
              <p:nvPr/>
            </p:nvSpPr>
            <p:spPr>
              <a:xfrm>
                <a:off x="7010400" y="2895600"/>
                <a:ext cx="1828800"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000" b="1" dirty="0">
                    <a:solidFill>
                      <a:schemeClr val="tx2">
                        <a:lumMod val="75000"/>
                      </a:schemeClr>
                    </a:solidFill>
                  </a:rPr>
                  <a:t>Customers</a:t>
                </a:r>
              </a:p>
            </p:txBody>
          </p:sp>
          <p:cxnSp>
            <p:nvCxnSpPr>
              <p:cNvPr id="28" name="Straight Arrow Connector 27"/>
              <p:cNvCxnSpPr>
                <a:stCxn id="27" idx="2"/>
                <a:endCxn id="43" idx="6"/>
              </p:cNvCxnSpPr>
              <p:nvPr/>
            </p:nvCxnSpPr>
            <p:spPr>
              <a:xfrm rot="5400000">
                <a:off x="7300913" y="3275012"/>
                <a:ext cx="698500" cy="549275"/>
              </a:xfrm>
              <a:prstGeom prst="straightConnector1">
                <a:avLst/>
              </a:prstGeom>
              <a:ln w="28575">
                <a:solidFill>
                  <a:schemeClr val="tx2">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26" idx="2"/>
                <a:endCxn id="47" idx="2"/>
              </p:cNvCxnSpPr>
              <p:nvPr/>
            </p:nvCxnSpPr>
            <p:spPr>
              <a:xfrm rot="16200000" flipH="1">
                <a:off x="1096168" y="3285332"/>
                <a:ext cx="665163" cy="495300"/>
              </a:xfrm>
              <a:prstGeom prst="straightConnector1">
                <a:avLst/>
              </a:prstGeom>
              <a:ln w="28575">
                <a:solidFill>
                  <a:schemeClr val="tx2">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grpSp>
            <p:nvGrpSpPr>
              <p:cNvPr id="30" name="Group 134"/>
              <p:cNvGrpSpPr>
                <a:grpSpLocks/>
              </p:cNvGrpSpPr>
              <p:nvPr/>
            </p:nvGrpSpPr>
            <p:grpSpPr bwMode="auto">
              <a:xfrm>
                <a:off x="3810000" y="2819400"/>
                <a:ext cx="1295400" cy="1447800"/>
                <a:chOff x="3810000" y="2819400"/>
                <a:chExt cx="1295400" cy="1447800"/>
              </a:xfrm>
            </p:grpSpPr>
            <p:sp>
              <p:nvSpPr>
                <p:cNvPr id="31" name="Flowchart: Magnetic Disk 30"/>
                <p:cNvSpPr/>
                <p:nvPr/>
              </p:nvSpPr>
              <p:spPr>
                <a:xfrm>
                  <a:off x="3810000" y="2819400"/>
                  <a:ext cx="1295400" cy="1447800"/>
                </a:xfrm>
                <a:prstGeom prst="flowChartMagneticDisk">
                  <a:avLst/>
                </a:prstGeom>
              </p:spPr>
              <p:style>
                <a:lnRef idx="1">
                  <a:schemeClr val="dk1"/>
                </a:lnRef>
                <a:fillRef idx="2">
                  <a:schemeClr val="dk1"/>
                </a:fillRef>
                <a:effectRef idx="1">
                  <a:schemeClr val="dk1"/>
                </a:effectRef>
                <a:fontRef idx="minor">
                  <a:schemeClr val="dk1"/>
                </a:fontRef>
              </p:style>
              <p:txBody>
                <a:bodyPr anchor="ctr"/>
                <a:lstStyle/>
                <a:p>
                  <a:pPr algn="ctr">
                    <a:defRPr/>
                  </a:pPr>
                  <a:endParaRPr lang="en-US" b="1" dirty="0"/>
                </a:p>
              </p:txBody>
            </p:sp>
            <p:sp>
              <p:nvSpPr>
                <p:cNvPr id="32" name="Rectangle 31"/>
                <p:cNvSpPr/>
                <p:nvPr/>
              </p:nvSpPr>
              <p:spPr>
                <a:xfrm>
                  <a:off x="3810000" y="3200400"/>
                  <a:ext cx="1295400" cy="106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chemeClr val="tx1"/>
                      </a:solidFill>
                    </a:rPr>
                    <a:t>ERP</a:t>
                  </a:r>
                  <a:r>
                    <a:rPr lang="en-US" b="1" dirty="0">
                      <a:solidFill>
                        <a:schemeClr val="tx1"/>
                      </a:solidFill>
                    </a:rPr>
                    <a:t> </a:t>
                  </a:r>
                  <a:r>
                    <a:rPr lang="en-US" sz="1600" b="1" dirty="0">
                      <a:solidFill>
                        <a:schemeClr val="tx1"/>
                      </a:solidFill>
                    </a:rPr>
                    <a:t>Platform &amp; Database</a:t>
                  </a:r>
                </a:p>
              </p:txBody>
            </p:sp>
          </p:grpSp>
        </p:grpSp>
        <p:cxnSp>
          <p:nvCxnSpPr>
            <p:cNvPr id="9" name="Straight Arrow Connector 8"/>
            <p:cNvCxnSpPr/>
            <p:nvPr/>
          </p:nvCxnSpPr>
          <p:spPr>
            <a:xfrm rot="16200000" flipH="1">
              <a:off x="4419600" y="2667000"/>
              <a:ext cx="381000" cy="76200"/>
            </a:xfrm>
            <a:prstGeom prst="straightConnector1">
              <a:avLst/>
            </a:prstGeom>
            <a:ln w="28575">
              <a:solidFill>
                <a:schemeClr val="tx2">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657600" y="2895600"/>
              <a:ext cx="457200" cy="304800"/>
            </a:xfrm>
            <a:prstGeom prst="straightConnector1">
              <a:avLst/>
            </a:prstGeom>
            <a:ln w="28575">
              <a:solidFill>
                <a:schemeClr val="tx2">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10800000" flipV="1">
              <a:off x="3657600" y="3581400"/>
              <a:ext cx="457200" cy="152400"/>
            </a:xfrm>
            <a:prstGeom prst="straightConnector1">
              <a:avLst/>
            </a:prstGeom>
            <a:ln w="28575">
              <a:solidFill>
                <a:schemeClr val="tx2">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5400000">
              <a:off x="4152900" y="4381500"/>
              <a:ext cx="304800" cy="228600"/>
            </a:xfrm>
            <a:prstGeom prst="straightConnector1">
              <a:avLst/>
            </a:prstGeom>
            <a:ln w="28575">
              <a:solidFill>
                <a:schemeClr val="tx2">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5410200" y="2895600"/>
              <a:ext cx="609600" cy="381000"/>
            </a:xfrm>
            <a:prstGeom prst="straightConnector1">
              <a:avLst/>
            </a:prstGeom>
            <a:ln w="28575">
              <a:solidFill>
                <a:schemeClr val="tx2">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410200" y="3657600"/>
              <a:ext cx="609600" cy="152400"/>
            </a:xfrm>
            <a:prstGeom prst="straightConnector1">
              <a:avLst/>
            </a:prstGeom>
            <a:ln w="28575">
              <a:solidFill>
                <a:schemeClr val="tx2">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16200000" flipH="1">
              <a:off x="5257800" y="4343400"/>
              <a:ext cx="304800" cy="152400"/>
            </a:xfrm>
            <a:prstGeom prst="straightConnector1">
              <a:avLst/>
            </a:prstGeom>
            <a:ln w="28575">
              <a:solidFill>
                <a:schemeClr val="tx2">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grpSp>
      <p:sp>
        <p:nvSpPr>
          <p:cNvPr id="54" name="Rectangle 53"/>
          <p:cNvSpPr/>
          <p:nvPr/>
        </p:nvSpPr>
        <p:spPr>
          <a:xfrm>
            <a:off x="207579" y="228600"/>
            <a:ext cx="2057400" cy="1219200"/>
          </a:xfrm>
          <a:prstGeom prst="rect">
            <a:avLst/>
          </a:prstGeom>
          <a:gradFill>
            <a:gsLst>
              <a:gs pos="0">
                <a:schemeClr val="tx2">
                  <a:lumMod val="75000"/>
                </a:schemeClr>
              </a:gs>
              <a:gs pos="80000">
                <a:schemeClr val="tx2">
                  <a:lumMod val="75000"/>
                </a:schemeClr>
              </a:gs>
              <a:gs pos="100000">
                <a:schemeClr val="tx2">
                  <a:lumMod val="40000"/>
                  <a:lumOff val="60000"/>
                </a:schemeClr>
              </a:gs>
            </a:gsLst>
          </a:gradFill>
        </p:spPr>
        <p:style>
          <a:lnRef idx="0">
            <a:schemeClr val="accent4"/>
          </a:lnRef>
          <a:fillRef idx="3">
            <a:schemeClr val="accent4"/>
          </a:fillRef>
          <a:effectRef idx="3">
            <a:schemeClr val="accent4"/>
          </a:effectRef>
          <a:fontRef idx="minor">
            <a:schemeClr val="lt1"/>
          </a:fontRef>
        </p:style>
        <p:txBody>
          <a:bodyPr anchor="ctr"/>
          <a:lstStyle/>
          <a:p>
            <a:pPr algn="ctr">
              <a:defRPr/>
            </a:pPr>
            <a:r>
              <a:rPr lang="en-US" sz="2800" b="1" dirty="0">
                <a:solidFill>
                  <a:schemeClr val="accent1">
                    <a:lumMod val="20000"/>
                    <a:lumOff val="80000"/>
                  </a:schemeClr>
                </a:solidFill>
                <a:latin typeface="Times New Roman" pitchFamily="18" charset="0"/>
                <a:cs typeface="Times New Roman" pitchFamily="18" charset="0"/>
              </a:rPr>
              <a:t>ERP  II</a:t>
            </a:r>
          </a:p>
          <a:p>
            <a:pPr algn="ctr">
              <a:defRPr/>
            </a:pPr>
            <a:r>
              <a:rPr lang="en-US" sz="2800" b="1" dirty="0">
                <a:solidFill>
                  <a:schemeClr val="accent1">
                    <a:lumMod val="20000"/>
                    <a:lumOff val="80000"/>
                  </a:schemeClr>
                </a:solidFill>
                <a:latin typeface="Times New Roman" pitchFamily="18" charset="0"/>
                <a:cs typeface="Times New Roman" pitchFamily="18" charset="0"/>
              </a:rPr>
              <a:t>SYSTEM</a:t>
            </a:r>
          </a:p>
        </p:txBody>
      </p:sp>
    </p:spTree>
    <p:extLst>
      <p:ext uri="{BB962C8B-B14F-4D97-AF65-F5344CB8AC3E}">
        <p14:creationId xmlns:p14="http://schemas.microsoft.com/office/powerpoint/2010/main" val="2605660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ERP Systems: Benefits</a:t>
            </a:r>
            <a:endParaRPr lang="en-US" dirty="0"/>
          </a:p>
        </p:txBody>
      </p:sp>
      <p:sp>
        <p:nvSpPr>
          <p:cNvPr id="6" name="Content Placeholder 5"/>
          <p:cNvSpPr>
            <a:spLocks noGrp="1"/>
          </p:cNvSpPr>
          <p:nvPr>
            <p:ph sz="quarter" idx="15"/>
          </p:nvPr>
        </p:nvSpPr>
        <p:spPr/>
        <p:txBody>
          <a:bodyPr>
            <a:normAutofit/>
          </a:bodyPr>
          <a:lstStyle/>
          <a:p>
            <a:r>
              <a:rPr lang="en-US" dirty="0"/>
              <a:t>Organizational Flexibility and </a:t>
            </a:r>
            <a:r>
              <a:rPr lang="en-US" dirty="0" smtClean="0"/>
              <a:t>Agility</a:t>
            </a:r>
          </a:p>
          <a:p>
            <a:r>
              <a:rPr lang="en-US" dirty="0" smtClean="0"/>
              <a:t>Decision Support</a:t>
            </a:r>
            <a:endParaRPr lang="en-US" dirty="0"/>
          </a:p>
          <a:p>
            <a:r>
              <a:rPr lang="en-US" dirty="0"/>
              <a:t>Quality and </a:t>
            </a:r>
            <a:r>
              <a:rPr lang="en-US" dirty="0" smtClean="0"/>
              <a:t>Efficiency</a:t>
            </a:r>
            <a:endParaRPr lang="en-US" dirty="0"/>
          </a:p>
        </p:txBody>
      </p:sp>
    </p:spTree>
    <p:extLst>
      <p:ext uri="{BB962C8B-B14F-4D97-AF65-F5344CB8AC3E}">
        <p14:creationId xmlns:p14="http://schemas.microsoft.com/office/powerpoint/2010/main" val="34531524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ERP Systems: Limitations</a:t>
            </a:r>
            <a:endParaRPr lang="en-US" dirty="0"/>
          </a:p>
        </p:txBody>
      </p:sp>
      <p:sp>
        <p:nvSpPr>
          <p:cNvPr id="6" name="Content Placeholder 5"/>
          <p:cNvSpPr>
            <a:spLocks noGrp="1"/>
          </p:cNvSpPr>
          <p:nvPr>
            <p:ph sz="quarter" idx="15"/>
          </p:nvPr>
        </p:nvSpPr>
        <p:spPr/>
        <p:txBody>
          <a:bodyPr>
            <a:normAutofit/>
          </a:bodyPr>
          <a:lstStyle/>
          <a:p>
            <a:r>
              <a:rPr lang="en-US" dirty="0"/>
              <a:t>Business Processes Predefined by Best </a:t>
            </a:r>
            <a:r>
              <a:rPr lang="en-US" dirty="0" smtClean="0"/>
              <a:t>Practices</a:t>
            </a:r>
            <a:endParaRPr lang="en-US" dirty="0"/>
          </a:p>
          <a:p>
            <a:r>
              <a:rPr lang="en-US" dirty="0"/>
              <a:t>Difficult to </a:t>
            </a:r>
            <a:r>
              <a:rPr lang="en-US" dirty="0" smtClean="0"/>
              <a:t>Implement</a:t>
            </a:r>
            <a:endParaRPr lang="en-US" dirty="0"/>
          </a:p>
          <a:p>
            <a:r>
              <a:rPr lang="en-US" dirty="0"/>
              <a:t>Potential for </a:t>
            </a:r>
            <a:r>
              <a:rPr lang="en-US" dirty="0" smtClean="0"/>
              <a:t>Failure</a:t>
            </a:r>
            <a:endParaRPr lang="en-US" dirty="0"/>
          </a:p>
        </p:txBody>
      </p:sp>
    </p:spTree>
    <p:extLst>
      <p:ext uri="{BB962C8B-B14F-4D97-AF65-F5344CB8AC3E}">
        <p14:creationId xmlns:p14="http://schemas.microsoft.com/office/powerpoint/2010/main" val="31120066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a:t>Major Causes of ERP Implementation </a:t>
            </a:r>
            <a:r>
              <a:rPr lang="en-US" dirty="0" smtClean="0"/>
              <a:t>Failure</a:t>
            </a:r>
            <a:endParaRPr lang="en-US" dirty="0"/>
          </a:p>
        </p:txBody>
      </p:sp>
      <p:sp>
        <p:nvSpPr>
          <p:cNvPr id="5" name="Content Placeholder 4"/>
          <p:cNvSpPr>
            <a:spLocks noGrp="1"/>
          </p:cNvSpPr>
          <p:nvPr>
            <p:ph sz="quarter" idx="15"/>
          </p:nvPr>
        </p:nvSpPr>
        <p:spPr/>
        <p:txBody>
          <a:bodyPr>
            <a:normAutofit/>
          </a:bodyPr>
          <a:lstStyle/>
          <a:p>
            <a:r>
              <a:rPr lang="en-US" dirty="0"/>
              <a:t>Failure to involve affected employees in </a:t>
            </a:r>
            <a:r>
              <a:rPr lang="en-US" dirty="0" smtClean="0"/>
              <a:t>planning and development</a:t>
            </a:r>
            <a:endParaRPr lang="en-US" dirty="0"/>
          </a:p>
          <a:p>
            <a:r>
              <a:rPr lang="en-US" dirty="0" smtClean="0"/>
              <a:t>Attempting too </a:t>
            </a:r>
            <a:r>
              <a:rPr lang="en-US" dirty="0"/>
              <a:t>much too </a:t>
            </a:r>
            <a:r>
              <a:rPr lang="en-US" dirty="0" smtClean="0"/>
              <a:t>fast</a:t>
            </a:r>
          </a:p>
          <a:p>
            <a:r>
              <a:rPr lang="en-US" dirty="0" smtClean="0"/>
              <a:t>Insufficient training</a:t>
            </a:r>
          </a:p>
          <a:p>
            <a:r>
              <a:rPr lang="en-US" dirty="0" smtClean="0"/>
              <a:t>Failure </a:t>
            </a:r>
            <a:r>
              <a:rPr lang="en-US" dirty="0"/>
              <a:t>to perform proper data conversion and </a:t>
            </a:r>
            <a:r>
              <a:rPr lang="en-US" dirty="0" smtClean="0"/>
              <a:t>testing</a:t>
            </a:r>
            <a:endParaRPr lang="en-US" dirty="0"/>
          </a:p>
        </p:txBody>
      </p:sp>
    </p:spTree>
    <p:extLst>
      <p:ext uri="{BB962C8B-B14F-4D97-AF65-F5344CB8AC3E}">
        <p14:creationId xmlns:p14="http://schemas.microsoft.com/office/powerpoint/2010/main" val="31867413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a:t>Implementing ERP </a:t>
            </a:r>
            <a:r>
              <a:rPr lang="en-US" dirty="0" smtClean="0"/>
              <a:t>Systems</a:t>
            </a:r>
            <a:endParaRPr lang="en-US" dirty="0"/>
          </a:p>
        </p:txBody>
      </p:sp>
      <p:sp>
        <p:nvSpPr>
          <p:cNvPr id="5" name="Content Placeholder 4"/>
          <p:cNvSpPr>
            <a:spLocks noGrp="1"/>
          </p:cNvSpPr>
          <p:nvPr>
            <p:ph sz="quarter" idx="15"/>
          </p:nvPr>
        </p:nvSpPr>
        <p:spPr/>
        <p:txBody>
          <a:bodyPr/>
          <a:lstStyle/>
          <a:p>
            <a:r>
              <a:rPr lang="en-US" dirty="0" smtClean="0"/>
              <a:t>On-Premise ERP Implementation</a:t>
            </a:r>
          </a:p>
          <a:p>
            <a:r>
              <a:rPr lang="en-US" dirty="0" smtClean="0"/>
              <a:t>Software-as-a-Service (SaaS) </a:t>
            </a:r>
            <a:r>
              <a:rPr lang="en-US" dirty="0"/>
              <a:t>ERP </a:t>
            </a:r>
            <a:r>
              <a:rPr lang="en-US" dirty="0" smtClean="0"/>
              <a:t>Implementation</a:t>
            </a:r>
            <a:endParaRPr lang="en-US" dirty="0"/>
          </a:p>
        </p:txBody>
      </p:sp>
    </p:spTree>
    <p:extLst>
      <p:ext uri="{BB962C8B-B14F-4D97-AF65-F5344CB8AC3E}">
        <p14:creationId xmlns:p14="http://schemas.microsoft.com/office/powerpoint/2010/main" val="10026758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a:t>On-Premise ERP </a:t>
            </a:r>
            <a:r>
              <a:rPr lang="en-US" dirty="0" smtClean="0"/>
              <a:t>Implementation</a:t>
            </a:r>
            <a:endParaRPr lang="en-US" dirty="0"/>
          </a:p>
        </p:txBody>
      </p:sp>
      <p:sp>
        <p:nvSpPr>
          <p:cNvPr id="5" name="Content Placeholder 4"/>
          <p:cNvSpPr>
            <a:spLocks noGrp="1"/>
          </p:cNvSpPr>
          <p:nvPr>
            <p:ph sz="quarter" idx="15"/>
          </p:nvPr>
        </p:nvSpPr>
        <p:spPr/>
        <p:txBody>
          <a:bodyPr>
            <a:normAutofit/>
          </a:bodyPr>
          <a:lstStyle/>
          <a:p>
            <a:r>
              <a:rPr lang="en-US" dirty="0"/>
              <a:t>Vanilla </a:t>
            </a:r>
            <a:r>
              <a:rPr lang="en-US" dirty="0" smtClean="0"/>
              <a:t>Approach</a:t>
            </a:r>
            <a:endParaRPr lang="en-US" dirty="0"/>
          </a:p>
          <a:p>
            <a:r>
              <a:rPr lang="en-US" dirty="0"/>
              <a:t>Custom </a:t>
            </a:r>
            <a:r>
              <a:rPr lang="en-US" dirty="0" smtClean="0"/>
              <a:t>Approach</a:t>
            </a:r>
            <a:endParaRPr lang="en-US" dirty="0"/>
          </a:p>
          <a:p>
            <a:r>
              <a:rPr lang="en-US" dirty="0"/>
              <a:t>Best of Breed </a:t>
            </a:r>
            <a:r>
              <a:rPr lang="en-US" dirty="0" smtClean="0"/>
              <a:t>Approach</a:t>
            </a:r>
            <a:endParaRPr lang="en-US" dirty="0"/>
          </a:p>
        </p:txBody>
      </p:sp>
    </p:spTree>
    <p:extLst>
      <p:ext uri="{BB962C8B-B14F-4D97-AF65-F5344CB8AC3E}">
        <p14:creationId xmlns:p14="http://schemas.microsoft.com/office/powerpoint/2010/main" val="27896053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5"/>
          </p:nvPr>
        </p:nvSpPr>
        <p:spPr/>
        <p:txBody>
          <a:bodyPr/>
          <a:lstStyle/>
          <a:p>
            <a:r>
              <a:rPr lang="en-US" dirty="0" smtClean="0"/>
              <a:t>’S ABOUT BUSINESS 11.1</a:t>
            </a:r>
            <a:endParaRPr lang="en-US" dirty="0"/>
          </a:p>
        </p:txBody>
      </p:sp>
      <p:sp>
        <p:nvSpPr>
          <p:cNvPr id="4" name="Subtitle 3"/>
          <p:cNvSpPr>
            <a:spLocks noGrp="1"/>
          </p:cNvSpPr>
          <p:nvPr>
            <p:ph sz="quarter" idx="16"/>
          </p:nvPr>
        </p:nvSpPr>
        <p:spPr/>
        <p:txBody>
          <a:bodyPr>
            <a:normAutofit/>
          </a:bodyPr>
          <a:lstStyle/>
          <a:p>
            <a:r>
              <a:rPr lang="en-US" dirty="0" smtClean="0"/>
              <a:t>GEA Group Uses SAP for Financial Reporting</a:t>
            </a:r>
          </a:p>
          <a:p>
            <a:pPr lvl="1"/>
            <a:r>
              <a:rPr lang="en-US" dirty="0"/>
              <a:t>Discuss the reasons why </a:t>
            </a:r>
            <a:r>
              <a:rPr lang="en-US" dirty="0" smtClean="0"/>
              <a:t>financial </a:t>
            </a:r>
            <a:r>
              <a:rPr lang="en-US" dirty="0"/>
              <a:t>reports must be timely.</a:t>
            </a:r>
          </a:p>
          <a:p>
            <a:pPr lvl="1"/>
            <a:r>
              <a:rPr lang="en-US" dirty="0"/>
              <a:t>Explain how SAP enabled the GEA Group to produce their </a:t>
            </a:r>
            <a:r>
              <a:rPr lang="en-US" dirty="0" smtClean="0"/>
              <a:t>financial </a:t>
            </a:r>
            <a:r>
              <a:rPr lang="en-US" dirty="0"/>
              <a:t>reports in an </a:t>
            </a:r>
            <a:r>
              <a:rPr lang="en-US" dirty="0" smtClean="0"/>
              <a:t>efficient</a:t>
            </a:r>
            <a:r>
              <a:rPr lang="en-US" dirty="0"/>
              <a:t>, timely manner.</a:t>
            </a:r>
          </a:p>
          <a:p>
            <a:pPr lvl="1"/>
            <a:r>
              <a:rPr lang="en-US" dirty="0"/>
              <a:t>What are the advantages of the SAP solution to the GEA Group?</a:t>
            </a:r>
          </a:p>
        </p:txBody>
      </p:sp>
    </p:spTree>
    <p:extLst>
      <p:ext uri="{BB962C8B-B14F-4D97-AF65-F5344CB8AC3E}">
        <p14:creationId xmlns:p14="http://schemas.microsoft.com/office/powerpoint/2010/main" val="2405362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ERP Support for Business Processes</a:t>
            </a:r>
            <a:endParaRPr lang="en-US" dirty="0"/>
          </a:p>
        </p:txBody>
      </p:sp>
      <p:sp>
        <p:nvSpPr>
          <p:cNvPr id="5" name="Text Placeholder 4"/>
          <p:cNvSpPr>
            <a:spLocks noGrp="1"/>
          </p:cNvSpPr>
          <p:nvPr>
            <p:ph type="body" sz="quarter" idx="14"/>
          </p:nvPr>
        </p:nvSpPr>
        <p:spPr/>
        <p:txBody>
          <a:bodyPr/>
          <a:lstStyle/>
          <a:p>
            <a:r>
              <a:rPr lang="en-US" dirty="0" smtClean="0"/>
              <a:t>11.4</a:t>
            </a:r>
            <a:endParaRPr lang="en-US" dirty="0"/>
          </a:p>
        </p:txBody>
      </p:sp>
      <p:sp>
        <p:nvSpPr>
          <p:cNvPr id="6" name="Content Placeholder 5"/>
          <p:cNvSpPr>
            <a:spLocks noGrp="1"/>
          </p:cNvSpPr>
          <p:nvPr>
            <p:ph sz="quarter" idx="15"/>
          </p:nvPr>
        </p:nvSpPr>
        <p:spPr/>
        <p:txBody>
          <a:bodyPr>
            <a:normAutofit/>
          </a:bodyPr>
          <a:lstStyle/>
          <a:p>
            <a:r>
              <a:rPr lang="en-US" dirty="0" smtClean="0"/>
              <a:t>The Procurement, Fulfillment, and Production Processes</a:t>
            </a:r>
          </a:p>
          <a:p>
            <a:r>
              <a:rPr lang="en-US" dirty="0" smtClean="0"/>
              <a:t>Interorganizational Processes: ERP with SCM and CRM</a:t>
            </a:r>
          </a:p>
          <a:p>
            <a:endParaRPr lang="en-US" dirty="0" smtClean="0"/>
          </a:p>
          <a:p>
            <a:endParaRPr lang="en-US" dirty="0"/>
          </a:p>
        </p:txBody>
      </p:sp>
    </p:spTree>
    <p:extLst>
      <p:ext uri="{BB962C8B-B14F-4D97-AF65-F5344CB8AC3E}">
        <p14:creationId xmlns:p14="http://schemas.microsoft.com/office/powerpoint/2010/main" val="22030086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92500"/>
          </a:bodyPr>
          <a:lstStyle/>
          <a:p>
            <a:r>
              <a:rPr lang="en-US" dirty="0"/>
              <a:t>The Procurement, Fulfillment, and Production </a:t>
            </a:r>
            <a:r>
              <a:rPr lang="en-US" dirty="0" smtClean="0"/>
              <a:t>Processes</a:t>
            </a:r>
            <a:endParaRPr lang="en-US" dirty="0"/>
          </a:p>
        </p:txBody>
      </p:sp>
      <p:sp>
        <p:nvSpPr>
          <p:cNvPr id="6" name="Content Placeholder 5"/>
          <p:cNvSpPr>
            <a:spLocks noGrp="1"/>
          </p:cNvSpPr>
          <p:nvPr>
            <p:ph sz="quarter" idx="15"/>
          </p:nvPr>
        </p:nvSpPr>
        <p:spPr/>
        <p:txBody>
          <a:bodyPr>
            <a:normAutofit/>
          </a:bodyPr>
          <a:lstStyle/>
          <a:p>
            <a:r>
              <a:rPr lang="en-US" dirty="0"/>
              <a:t>Procurement </a:t>
            </a:r>
            <a:r>
              <a:rPr lang="en-US" dirty="0" smtClean="0"/>
              <a:t>Process</a:t>
            </a:r>
          </a:p>
          <a:p>
            <a:r>
              <a:rPr lang="en-US" dirty="0" smtClean="0"/>
              <a:t>Order </a:t>
            </a:r>
            <a:r>
              <a:rPr lang="en-US" dirty="0"/>
              <a:t>Fulfillment </a:t>
            </a:r>
            <a:r>
              <a:rPr lang="en-US" dirty="0" smtClean="0"/>
              <a:t>Process</a:t>
            </a:r>
          </a:p>
          <a:p>
            <a:r>
              <a:rPr lang="en-US" dirty="0" smtClean="0"/>
              <a:t>Production Process</a:t>
            </a:r>
            <a:endParaRPr lang="en-US" dirty="0"/>
          </a:p>
        </p:txBody>
      </p:sp>
    </p:spTree>
    <p:extLst>
      <p:ext uri="{BB962C8B-B14F-4D97-AF65-F5344CB8AC3E}">
        <p14:creationId xmlns:p14="http://schemas.microsoft.com/office/powerpoint/2010/main" val="19888550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85000" lnSpcReduction="10000"/>
          </a:bodyPr>
          <a:lstStyle/>
          <a:p>
            <a:r>
              <a:rPr lang="en-US" dirty="0" smtClean="0"/>
              <a:t>Figure 11.4: Departments &amp; Documents Flow in Procurement</a:t>
            </a:r>
            <a:endParaRPr lang="en-US" dirty="0"/>
          </a:p>
        </p:txBody>
      </p:sp>
      <p:pic>
        <p:nvPicPr>
          <p:cNvPr id="5122"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457200" y="2568559"/>
            <a:ext cx="8153400" cy="26352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068626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a:t>Figure </a:t>
            </a:r>
            <a:r>
              <a:rPr lang="en-US" dirty="0" smtClean="0"/>
              <a:t>11.5: </a:t>
            </a:r>
            <a:r>
              <a:rPr lang="en-US" dirty="0"/>
              <a:t>Departments &amp; Documents Flow in </a:t>
            </a:r>
            <a:r>
              <a:rPr lang="en-US" dirty="0" smtClean="0"/>
              <a:t>Fulfillment</a:t>
            </a:r>
            <a:endParaRPr lang="en-US" dirty="0"/>
          </a:p>
        </p:txBody>
      </p:sp>
      <p:pic>
        <p:nvPicPr>
          <p:cNvPr id="6146"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457200" y="2568992"/>
            <a:ext cx="8153400" cy="26344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291437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a:t>Figure </a:t>
            </a:r>
            <a:r>
              <a:rPr lang="en-US" dirty="0" smtClean="0"/>
              <a:t>11.6: </a:t>
            </a:r>
            <a:r>
              <a:rPr lang="en-US" dirty="0"/>
              <a:t>Departments &amp; Documents Flow in </a:t>
            </a:r>
            <a:r>
              <a:rPr lang="en-US" dirty="0" smtClean="0"/>
              <a:t>Production</a:t>
            </a:r>
            <a:endParaRPr lang="en-US" dirty="0"/>
          </a:p>
        </p:txBody>
      </p:sp>
      <p:pic>
        <p:nvPicPr>
          <p:cNvPr id="7170"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457200" y="2551494"/>
            <a:ext cx="8153400" cy="26694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943594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smtClean="0"/>
              <a:t>Figure 11.7: Integrated Processes with ERP Systems</a:t>
            </a:r>
            <a:endParaRPr lang="en-US" dirty="0"/>
          </a:p>
        </p:txBody>
      </p:sp>
      <p:pic>
        <p:nvPicPr>
          <p:cNvPr id="8194"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1086265" y="1524000"/>
            <a:ext cx="6895269" cy="472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986611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92500"/>
          </a:bodyPr>
          <a:lstStyle/>
          <a:p>
            <a:r>
              <a:rPr lang="en-US" dirty="0" smtClean="0"/>
              <a:t>Interorganizational </a:t>
            </a:r>
            <a:r>
              <a:rPr lang="en-US" dirty="0"/>
              <a:t>Processes: ERP with SCM and </a:t>
            </a:r>
            <a:r>
              <a:rPr lang="en-US" dirty="0" smtClean="0"/>
              <a:t>CRM</a:t>
            </a:r>
            <a:endParaRPr lang="en-US" dirty="0"/>
          </a:p>
        </p:txBody>
      </p:sp>
      <p:sp>
        <p:nvSpPr>
          <p:cNvPr id="6" name="Content Placeholder 5"/>
          <p:cNvSpPr>
            <a:spLocks noGrp="1"/>
          </p:cNvSpPr>
          <p:nvPr>
            <p:ph sz="quarter" idx="15"/>
          </p:nvPr>
        </p:nvSpPr>
        <p:spPr/>
        <p:txBody>
          <a:bodyPr/>
          <a:lstStyle/>
          <a:p>
            <a:r>
              <a:rPr lang="en-US" dirty="0" smtClean="0"/>
              <a:t>Enterprise Resource Planning (ERP) Supply Chain Management (SCM) Systems</a:t>
            </a:r>
          </a:p>
          <a:p>
            <a:r>
              <a:rPr lang="en-US" dirty="0"/>
              <a:t>Enterprise Resource Planning (ERP)</a:t>
            </a:r>
            <a:r>
              <a:rPr lang="en-US" dirty="0" smtClean="0"/>
              <a:t> Customer Relationship Management (CRM) Systems</a:t>
            </a:r>
            <a:endParaRPr lang="en-US" dirty="0"/>
          </a:p>
        </p:txBody>
      </p:sp>
    </p:spTree>
    <p:extLst>
      <p:ext uri="{BB962C8B-B14F-4D97-AF65-F5344CB8AC3E}">
        <p14:creationId xmlns:p14="http://schemas.microsoft.com/office/powerpoint/2010/main" val="927020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eorgia Custom">
      <a:majorFont>
        <a:latin typeface="Georgia"/>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25419</TotalTime>
  <Words>2179</Words>
  <Application>Microsoft Office PowerPoint</Application>
  <PresentationFormat>On-screen Show (4:3)</PresentationFormat>
  <Paragraphs>211</Paragraphs>
  <Slides>33</Slides>
  <Notes>18</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dc:title>
  <dc:creator>John Kenneth Corley</dc:creator>
  <cp:lastModifiedBy>John Kenneth Corley</cp:lastModifiedBy>
  <cp:revision>750</cp:revision>
  <dcterms:created xsi:type="dcterms:W3CDTF">2013-08-07T23:49:12Z</dcterms:created>
  <dcterms:modified xsi:type="dcterms:W3CDTF">2014-10-27T16:47:51Z</dcterms:modified>
</cp:coreProperties>
</file>